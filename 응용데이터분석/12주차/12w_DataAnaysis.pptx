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55"/>
  </p:notesMasterIdLst>
  <p:sldIdLst>
    <p:sldId id="778" r:id="rId2"/>
    <p:sldId id="342" r:id="rId3"/>
    <p:sldId id="564" r:id="rId4"/>
    <p:sldId id="676" r:id="rId5"/>
    <p:sldId id="677" r:id="rId6"/>
    <p:sldId id="678" r:id="rId7"/>
    <p:sldId id="682" r:id="rId8"/>
    <p:sldId id="691" r:id="rId9"/>
    <p:sldId id="694" r:id="rId10"/>
    <p:sldId id="696" r:id="rId11"/>
    <p:sldId id="706" r:id="rId12"/>
    <p:sldId id="707" r:id="rId13"/>
    <p:sldId id="708" r:id="rId14"/>
    <p:sldId id="709" r:id="rId15"/>
    <p:sldId id="710" r:id="rId16"/>
    <p:sldId id="711" r:id="rId17"/>
    <p:sldId id="715" r:id="rId18"/>
    <p:sldId id="718" r:id="rId19"/>
    <p:sldId id="719" r:id="rId20"/>
    <p:sldId id="721" r:id="rId21"/>
    <p:sldId id="722" r:id="rId22"/>
    <p:sldId id="727" r:id="rId23"/>
    <p:sldId id="728" r:id="rId24"/>
    <p:sldId id="729" r:id="rId25"/>
    <p:sldId id="730" r:id="rId26"/>
    <p:sldId id="731" r:id="rId27"/>
    <p:sldId id="732" r:id="rId28"/>
    <p:sldId id="733" r:id="rId29"/>
    <p:sldId id="734" r:id="rId30"/>
    <p:sldId id="735" r:id="rId31"/>
    <p:sldId id="736" r:id="rId32"/>
    <p:sldId id="737" r:id="rId33"/>
    <p:sldId id="738" r:id="rId34"/>
    <p:sldId id="739" r:id="rId35"/>
    <p:sldId id="740" r:id="rId36"/>
    <p:sldId id="744" r:id="rId37"/>
    <p:sldId id="758" r:id="rId38"/>
    <p:sldId id="750" r:id="rId39"/>
    <p:sldId id="751" r:id="rId40"/>
    <p:sldId id="752" r:id="rId41"/>
    <p:sldId id="753" r:id="rId42"/>
    <p:sldId id="754" r:id="rId43"/>
    <p:sldId id="760" r:id="rId44"/>
    <p:sldId id="762" r:id="rId45"/>
    <p:sldId id="763" r:id="rId46"/>
    <p:sldId id="764" r:id="rId47"/>
    <p:sldId id="765" r:id="rId48"/>
    <p:sldId id="766" r:id="rId49"/>
    <p:sldId id="768" r:id="rId50"/>
    <p:sldId id="773" r:id="rId51"/>
    <p:sldId id="776" r:id="rId52"/>
    <p:sldId id="777" r:id="rId53"/>
    <p:sldId id="562" r:id="rId54"/>
  </p:sldIdLst>
  <p:sldSz cx="9144000" cy="5143500" type="screen16x9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6C344CAC-CB5F-4B14-9438-4A8CD69F5703}">
          <p14:sldIdLst>
            <p14:sldId id="778"/>
            <p14:sldId id="342"/>
            <p14:sldId id="564"/>
            <p14:sldId id="676"/>
            <p14:sldId id="677"/>
            <p14:sldId id="678"/>
            <p14:sldId id="682"/>
            <p14:sldId id="691"/>
            <p14:sldId id="694"/>
            <p14:sldId id="696"/>
            <p14:sldId id="706"/>
            <p14:sldId id="707"/>
            <p14:sldId id="708"/>
            <p14:sldId id="709"/>
            <p14:sldId id="710"/>
            <p14:sldId id="711"/>
            <p14:sldId id="715"/>
            <p14:sldId id="718"/>
            <p14:sldId id="719"/>
            <p14:sldId id="721"/>
            <p14:sldId id="722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4"/>
            <p14:sldId id="758"/>
            <p14:sldId id="750"/>
            <p14:sldId id="751"/>
            <p14:sldId id="752"/>
            <p14:sldId id="753"/>
            <p14:sldId id="754"/>
            <p14:sldId id="760"/>
            <p14:sldId id="762"/>
            <p14:sldId id="763"/>
            <p14:sldId id="764"/>
            <p14:sldId id="765"/>
            <p14:sldId id="766"/>
            <p14:sldId id="768"/>
            <p14:sldId id="773"/>
            <p14:sldId id="776"/>
            <p14:sldId id="777"/>
            <p14:sldId id="5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03">
          <p15:clr>
            <a:srgbClr val="A4A3A4"/>
          </p15:clr>
        </p15:guide>
        <p15:guide id="2" orient="horz" pos="849">
          <p15:clr>
            <a:srgbClr val="A4A3A4"/>
          </p15:clr>
        </p15:guide>
        <p15:guide id="3" orient="horz" pos="100" userDrawn="1">
          <p15:clr>
            <a:srgbClr val="A4A3A4"/>
          </p15:clr>
        </p15:guide>
        <p15:guide id="4" pos="317" userDrawn="1">
          <p15:clr>
            <a:srgbClr val="A4A3A4"/>
          </p15:clr>
        </p15:guide>
        <p15:guide id="5" pos="55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230D"/>
    <a:srgbClr val="FF42A1"/>
    <a:srgbClr val="FDAE00"/>
    <a:srgbClr val="3B3A3A"/>
    <a:srgbClr val="ED7D31"/>
    <a:srgbClr val="1F4E79"/>
    <a:srgbClr val="92D050"/>
    <a:srgbClr val="D8EAD2"/>
    <a:srgbClr val="C9DBF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75" autoAdjust="0"/>
    <p:restoredTop sz="94660"/>
  </p:normalViewPr>
  <p:slideViewPr>
    <p:cSldViewPr snapToObjects="1" showGuides="1">
      <p:cViewPr varScale="1">
        <p:scale>
          <a:sx n="130" d="100"/>
          <a:sy n="130" d="100"/>
        </p:scale>
        <p:origin x="1296" y="336"/>
      </p:cViewPr>
      <p:guideLst>
        <p:guide orient="horz" pos="3003"/>
        <p:guide orient="horz" pos="849"/>
        <p:guide orient="horz" pos="100"/>
        <p:guide pos="317"/>
        <p:guide pos="55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Objects="1">
      <p:cViewPr varScale="1">
        <p:scale>
          <a:sx n="73" d="100"/>
          <a:sy n="73" d="100"/>
        </p:scale>
        <p:origin x="1944" y="8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C3237-6702-4B75-92E1-739BCADBF775}" type="datetimeFigureOut">
              <a:rPr lang="ko-KR" altLang="en-US" smtClean="0"/>
              <a:t>2025-05-24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CEDBC-F3CD-4B11-8320-3E65CC274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00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4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09613" y="744538"/>
            <a:ext cx="5378450" cy="3722687"/>
          </a:xfrm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lnSpc>
                <a:spcPct val="120000"/>
              </a:lnSpc>
              <a:spcBef>
                <a:spcPct val="50000"/>
              </a:spcBef>
              <a:buFont typeface="나눔고딕" pitchFamily="50" charset="-127"/>
              <a:buChar char="■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50000"/>
              </a:spcBef>
              <a:buFont typeface="맑은 고딕" panose="020B0503020000020004" pitchFamily="50" charset="-127"/>
              <a:buChar char="–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3463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67BEC-D4F8-4A90-A95C-232121C69934}" type="slidenum"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3463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8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09613" y="744538"/>
            <a:ext cx="5378450" cy="3722687"/>
          </a:xfrm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lnSpc>
                <a:spcPct val="120000"/>
              </a:lnSpc>
              <a:spcBef>
                <a:spcPct val="50000"/>
              </a:spcBef>
              <a:buFont typeface="나눔고딕" pitchFamily="50" charset="-127"/>
              <a:buChar char="■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50000"/>
              </a:spcBef>
              <a:buFont typeface="맑은 고딕" panose="020B0503020000020004" pitchFamily="50" charset="-127"/>
              <a:buChar char="–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3463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67BEC-D4F8-4A90-A95C-232121C69934}" type="slidenum"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3463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156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https://brunch.co.kr/@seoungbumkim/7</a:t>
            </a:r>
          </a:p>
        </p:txBody>
      </p:sp>
    </p:spTree>
    <p:extLst>
      <p:ext uri="{BB962C8B-B14F-4D97-AF65-F5344CB8AC3E}">
        <p14:creationId xmlns:p14="http://schemas.microsoft.com/office/powerpoint/2010/main" val="166114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09613" y="744538"/>
            <a:ext cx="5378450" cy="3722687"/>
          </a:xfrm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lnSpc>
                <a:spcPct val="120000"/>
              </a:lnSpc>
              <a:spcBef>
                <a:spcPct val="50000"/>
              </a:spcBef>
              <a:buFont typeface="나눔고딕" pitchFamily="50" charset="-127"/>
              <a:buChar char="■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50000"/>
              </a:spcBef>
              <a:buFont typeface="맑은 고딕" panose="020B0503020000020004" pitchFamily="50" charset="-127"/>
              <a:buChar char="–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3463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67BEC-D4F8-4A90-A95C-232121C69934}" type="slidenum"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3463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81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09613" y="744538"/>
            <a:ext cx="5378450" cy="3722687"/>
          </a:xfrm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lnSpc>
                <a:spcPct val="120000"/>
              </a:lnSpc>
              <a:spcBef>
                <a:spcPct val="50000"/>
              </a:spcBef>
              <a:buFont typeface="나눔고딕" pitchFamily="50" charset="-127"/>
              <a:buChar char="■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50000"/>
              </a:spcBef>
              <a:buFont typeface="맑은 고딕" panose="020B0503020000020004" pitchFamily="50" charset="-127"/>
              <a:buChar char="–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3463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67BEC-D4F8-4A90-A95C-232121C69934}" type="slidenum"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3463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539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09613" y="744538"/>
            <a:ext cx="5378450" cy="3722687"/>
          </a:xfrm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lnSpc>
                <a:spcPct val="120000"/>
              </a:lnSpc>
              <a:spcBef>
                <a:spcPct val="50000"/>
              </a:spcBef>
              <a:buFont typeface="나눔고딕" pitchFamily="50" charset="-127"/>
              <a:buChar char="■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50000"/>
              </a:spcBef>
              <a:buFont typeface="맑은 고딕" panose="020B0503020000020004" pitchFamily="50" charset="-127"/>
              <a:buChar char="–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3463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67BEC-D4F8-4A90-A95C-232121C69934}" type="slidenum"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3463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847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lnSpc>
                <a:spcPct val="120000"/>
              </a:lnSpc>
              <a:spcBef>
                <a:spcPct val="50000"/>
              </a:spcBef>
              <a:buFont typeface="나눔고딕" pitchFamily="50" charset="-127"/>
              <a:buChar char="■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lnSpc>
                <a:spcPct val="120000"/>
              </a:lnSpc>
              <a:spcBef>
                <a:spcPct val="50000"/>
              </a:spcBef>
              <a:buFont typeface="맑은 고딕" panose="020B0503020000020004" pitchFamily="50" charset="-127"/>
              <a:buChar char="–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913463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67BEC-D4F8-4A90-A95C-232121C69934}" type="slidenum"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3463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328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3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32400"/>
          </a:xfrm>
          <a:prstGeom prst="rect">
            <a:avLst/>
          </a:prstGeom>
          <a:gradFill>
            <a:gsLst>
              <a:gs pos="30000">
                <a:srgbClr val="021861"/>
              </a:gs>
              <a:gs pos="0">
                <a:srgbClr val="3259A8"/>
              </a:gs>
              <a:gs pos="10000">
                <a:srgbClr val="D551AC"/>
              </a:gs>
              <a:gs pos="20000">
                <a:srgbClr val="09AFE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9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58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 txBox="1">
            <a:spLocks/>
          </p:cNvSpPr>
          <p:nvPr userDrawn="1"/>
        </p:nvSpPr>
        <p:spPr>
          <a:xfrm>
            <a:off x="3691770" y="4801232"/>
            <a:ext cx="1760464" cy="244841"/>
          </a:xfrm>
          <a:prstGeom prst="rect">
            <a:avLst/>
          </a:prstGeom>
        </p:spPr>
        <p:txBody>
          <a:bodyPr lIns="121898" tIns="60948" rIns="121898" bIns="60948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defTabSz="914286">
              <a:defRPr/>
            </a:pPr>
            <a:fld id="{4E2E905B-828D-4F20-A1BB-9606BA51BD13}" type="slidenum">
              <a:rPr lang="ko-KR" altLang="en-US" sz="900" b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pPr algn="ctr" defTabSz="914286">
                <a:defRPr/>
              </a:pPr>
              <a:t>‹#›</a:t>
            </a:fld>
            <a:r>
              <a:rPr lang="ko-KR" altLang="en-US" sz="6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675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 75</a:t>
            </a:r>
            <a:endParaRPr lang="ko-KR" altLang="en-US" sz="675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79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5755" y="557927"/>
            <a:ext cx="8492490" cy="3994785"/>
          </a:xfrm>
        </p:spPr>
        <p:txBody>
          <a:bodyPr>
            <a:normAutofit/>
          </a:bodyPr>
          <a:lstStyle>
            <a:lvl1pPr>
              <a:defRPr sz="1200" b="1"/>
            </a:lvl1pPr>
            <a:lvl2pPr>
              <a:defRPr sz="1050" b="1"/>
            </a:lvl2pPr>
            <a:lvl3pPr>
              <a:defRPr sz="900" b="1"/>
            </a:lvl3pPr>
            <a:lvl4pPr>
              <a:defRPr sz="825" b="1"/>
            </a:lvl4pPr>
            <a:lvl5pPr>
              <a:defRPr sz="825" b="1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15"/>
          <p:cNvSpPr>
            <a:spLocks noChangeArrowheads="1"/>
          </p:cNvSpPr>
          <p:nvPr userDrawn="1"/>
        </p:nvSpPr>
        <p:spPr bwMode="auto">
          <a:xfrm>
            <a:off x="4358806" y="4925916"/>
            <a:ext cx="415499" cy="20774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68"/>
            <a:fld id="{D937E0E5-A56D-4372-A39D-FA63A08071CF}" type="slidenum">
              <a:rPr lang="en-US" altLang="ko-KR" sz="750" b="0" i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F7F7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나눔스퀘어 Bold" panose="020B0502040204020203" pitchFamily="34" charset="0"/>
              </a:rPr>
              <a:pPr algn="ctr" defTabSz="912768"/>
              <a:t>‹#›</a:t>
            </a:fld>
            <a:r>
              <a:rPr lang="en-US" altLang="ko-KR" sz="750" b="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F7F7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나눔스퀘어 Bold" panose="020B0502040204020203" pitchFamily="34" charset="0"/>
              </a:rPr>
              <a:t>/</a:t>
            </a:r>
            <a:r>
              <a:rPr lang="en-US" altLang="ko-KR" sz="525" b="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F7F7F"/>
                </a:solidFill>
                <a:latin typeface="나눔스퀘어 Bold" panose="020B0600000101010101" pitchFamily="50" charset="-127"/>
                <a:ea typeface="나눔스퀘어" panose="020B0600000101010101" pitchFamily="50" charset="-127"/>
                <a:cs typeface="나눔스퀘어 Bold" panose="020B0502040204020203" pitchFamily="34" charset="0"/>
              </a:rPr>
              <a:t>10</a:t>
            </a:r>
            <a:endParaRPr lang="en-US" altLang="ko-KR" sz="525" b="0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7F7F7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나눔스퀘어 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5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2477" y="0"/>
            <a:ext cx="3767436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8" tIns="350937" rIns="68568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indent="0" algn="ctr" defTabSz="685693" latinLnBrk="0">
              <a:lnSpc>
                <a:spcPct val="90000"/>
              </a:lnSpc>
              <a:spcBef>
                <a:spcPts val="750"/>
              </a:spcBef>
              <a:buFontTx/>
              <a:buNone/>
            </a:pP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779916" y="303498"/>
            <a:ext cx="5364088" cy="1026114"/>
          </a:xfrm>
          <a:prstGeom prst="rect">
            <a:avLst/>
          </a:prstGeom>
          <a:solidFill>
            <a:srgbClr val="164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 defTabSz="685590" latinLnBrk="0"/>
            <a:endParaRPr lang="ko-KR" altLang="en-US" sz="1350" dirty="0">
              <a:solidFill>
                <a:prstClr val="white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231393" y="549978"/>
            <a:ext cx="4475002" cy="533158"/>
          </a:xfrm>
          <a:prstGeom prst="rect">
            <a:avLst/>
          </a:prstGeom>
        </p:spPr>
        <p:txBody>
          <a:bodyPr lIns="91424" tIns="45712" rIns="91424" bIns="45712" anchor="ctr">
            <a:noAutofit/>
          </a:bodyPr>
          <a:lstStyle>
            <a:lvl1pPr algn="l">
              <a:defRPr sz="2100" b="1" baseline="0">
                <a:solidFill>
                  <a:schemeClr val="bg1"/>
                </a:solidFill>
                <a:latin typeface="맑은 고딕" pitchFamily="50" charset="-127"/>
                <a:ea typeface="삼성긴고딕OTF Medium"/>
                <a:cs typeface="Arial" pitchFamily="34" charset="0"/>
              </a:defRPr>
            </a:lvl1pPr>
          </a:lstStyle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015372" y="549977"/>
            <a:ext cx="152772" cy="54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/>
          <a:p>
            <a:pPr algn="ctr" defTabSz="685590" latinLnBrk="0"/>
            <a:endParaRPr lang="ko-KR" altLang="en-US" sz="1350" dirty="0">
              <a:solidFill>
                <a:prstClr val="white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30"/>
          <a:stretch/>
        </p:blipFill>
        <p:spPr>
          <a:xfrm>
            <a:off x="89358" y="3003799"/>
            <a:ext cx="3613671" cy="201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2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: 글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40150" y="681553"/>
            <a:ext cx="8111181" cy="4077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257129" indent="-257129">
              <a:spcBef>
                <a:spcPts val="450"/>
              </a:spcBef>
              <a:buFont typeface="Arial" pitchFamily="34" charset="0"/>
              <a:buChar char="•"/>
              <a:defRPr kumimoji="0" lang="ko-KR" altLang="en-US" sz="15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defRPr>
            </a:lvl1pPr>
            <a:lvl2pPr marL="332125" indent="-196418">
              <a:spcBef>
                <a:spcPts val="450"/>
              </a:spcBef>
              <a:buClr>
                <a:srgbClr val="164191"/>
              </a:buClr>
              <a:buSzPct val="80000"/>
              <a:buFont typeface="Wingdings" pitchFamily="2" charset="2"/>
              <a:buChar char="l"/>
              <a:defRPr sz="1500">
                <a:solidFill>
                  <a:schemeClr val="tx1"/>
                </a:solidFill>
                <a:latin typeface="+mn-ea"/>
                <a:ea typeface="+mn-ea"/>
              </a:defRPr>
            </a:lvl2pPr>
            <a:lvl3pPr marL="536874" indent="-136898">
              <a:spcBef>
                <a:spcPts val="450"/>
              </a:spcBef>
              <a:buClr>
                <a:srgbClr val="164191"/>
              </a:buClr>
              <a:buFont typeface="Wingdings" pitchFamily="2" charset="2"/>
              <a:buChar char="§"/>
              <a:defRPr sz="1350">
                <a:solidFill>
                  <a:schemeClr val="tx1"/>
                </a:solidFill>
                <a:latin typeface="+mn-ea"/>
                <a:ea typeface="+mn-ea"/>
              </a:defRPr>
            </a:lvl3pPr>
            <a:lvl4pPr marL="739379" indent="-201216">
              <a:buClr>
                <a:srgbClr val="164191"/>
              </a:buClr>
              <a:buFont typeface="맑은 고딕" panose="020B0503020000020004" pitchFamily="50" charset="-127"/>
              <a:buChar char="–"/>
              <a:defRPr sz="1275">
                <a:solidFill>
                  <a:schemeClr val="tx1"/>
                </a:solidFill>
                <a:latin typeface="+mn-ea"/>
                <a:ea typeface="+mn-ea"/>
              </a:defRPr>
            </a:lvl4pPr>
            <a:lvl5pPr marL="160900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112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135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1576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180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마스터 텍스트 스타일을 편집합니다</a:t>
            </a:r>
            <a:endParaRPr lang="en-US" altLang="ko-KR" dirty="0"/>
          </a:p>
          <a:p>
            <a:pPr lvl="1"/>
            <a:r>
              <a:rPr lang="en-US" altLang="ko-KR" dirty="0"/>
              <a:t>2nd</a:t>
            </a:r>
          </a:p>
          <a:p>
            <a:pPr lvl="2"/>
            <a:r>
              <a:rPr lang="en-US" altLang="ko-KR" dirty="0"/>
              <a:t>3rd</a:t>
            </a:r>
          </a:p>
          <a:p>
            <a:pPr lvl="3"/>
            <a:r>
              <a:rPr lang="en-US" altLang="ko-KR" dirty="0"/>
              <a:t>4th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6480" y="140778"/>
            <a:ext cx="7582979" cy="35244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 defTabSz="804506" rtl="0" eaLnBrk="1" latinLnBrk="1" hangingPunct="1">
              <a:spcBef>
                <a:spcPct val="0"/>
              </a:spcBef>
              <a:buNone/>
              <a:defRPr kumimoji="0" lang="ko-KR" altLang="en-US" sz="1950" b="1" i="0" u="none" strike="noStrike" kern="1200" cap="none" spc="0" normalizeH="0" baseline="0" dirty="0">
                <a:ln>
                  <a:noFill/>
                </a:ln>
                <a:solidFill>
                  <a:srgbClr val="16419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804506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5873087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그림용(자유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536480" y="140778"/>
            <a:ext cx="7582979" cy="35244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algn="l" defTabSz="804506" rtl="0" eaLnBrk="1" latinLnBrk="1" hangingPunct="1">
              <a:spcBef>
                <a:spcPct val="0"/>
              </a:spcBef>
              <a:buNone/>
              <a:defRPr kumimoji="0" lang="ko-KR" altLang="en-US" sz="1950" b="1" i="0" u="none" strike="noStrike" kern="1200" cap="none" spc="0" normalizeH="0" baseline="0" dirty="0">
                <a:ln>
                  <a:noFill/>
                </a:ln>
                <a:solidFill>
                  <a:srgbClr val="164191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</a:lstStyle>
          <a:p>
            <a:pPr marL="0" marR="0" lvl="0" indent="0" algn="l" defTabSz="804506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7019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14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70" r:id="rId5"/>
    <p:sldLayoutId id="2147483671" r:id="rId6"/>
    <p:sldLayoutId id="2147483672" r:id="rId7"/>
    <p:sldLayoutId id="2147483673" r:id="rId8"/>
  </p:sldLayoutIdLst>
  <p:hf hdr="0" ftr="0" dt="0"/>
  <p:txStyles>
    <p:titleStyle>
      <a:lvl1pPr algn="l" defTabSz="685783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8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hyperlink" Target="https://ko.wikipedia.org/wiki/%EC%A0%95%EB%B0%80%EB%8F%84%EC%99%80_%EC%9E%AC%ED%98%84%EC%9C%A8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1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63.w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2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30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wmf"/><Relationship Id="rId4" Type="http://schemas.openxmlformats.org/officeDocument/2006/relationships/oleObject" Target="../embeddings/oleObject32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3"/>
          <p:cNvSpPr txBox="1"/>
          <p:nvPr/>
        </p:nvSpPr>
        <p:spPr>
          <a:xfrm>
            <a:off x="2303996" y="501104"/>
            <a:ext cx="1736373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중간시험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리포트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208" y="402770"/>
            <a:ext cx="579006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9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E8E18-66E1-B6E2-125F-A4384594FF54}"/>
              </a:ext>
            </a:extLst>
          </p:cNvPr>
          <p:cNvSpPr txBox="1"/>
          <p:nvPr/>
        </p:nvSpPr>
        <p:spPr>
          <a:xfrm>
            <a:off x="971463" y="957716"/>
            <a:ext cx="713657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10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786D3-D35A-87E8-689C-F2CA1E6C6E79}"/>
              </a:ext>
            </a:extLst>
          </p:cNvPr>
          <p:cNvSpPr txBox="1"/>
          <p:nvPr/>
        </p:nvSpPr>
        <p:spPr>
          <a:xfrm>
            <a:off x="984294" y="1512662"/>
            <a:ext cx="700834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11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27FB2-3753-8416-4BBC-F5104C30D4CA}"/>
              </a:ext>
            </a:extLst>
          </p:cNvPr>
          <p:cNvSpPr txBox="1"/>
          <p:nvPr/>
        </p:nvSpPr>
        <p:spPr>
          <a:xfrm>
            <a:off x="977883" y="2622554"/>
            <a:ext cx="713657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13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4D3C2-56DD-F791-B815-5C45D3BE763F}"/>
              </a:ext>
            </a:extLst>
          </p:cNvPr>
          <p:cNvSpPr txBox="1"/>
          <p:nvPr/>
        </p:nvSpPr>
        <p:spPr>
          <a:xfrm>
            <a:off x="2303996" y="1617239"/>
            <a:ext cx="4029116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Machine Learning Overview &amp; Regression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4D53E-D68B-DDB0-9803-3920CD2354AA}"/>
              </a:ext>
            </a:extLst>
          </p:cNvPr>
          <p:cNvSpPr txBox="1"/>
          <p:nvPr/>
        </p:nvSpPr>
        <p:spPr>
          <a:xfrm>
            <a:off x="977883" y="2067608"/>
            <a:ext cx="713657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12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6F813-1395-17FC-2FB5-AC854D0C5491}"/>
              </a:ext>
            </a:extLst>
          </p:cNvPr>
          <p:cNvSpPr txBox="1"/>
          <p:nvPr/>
        </p:nvSpPr>
        <p:spPr>
          <a:xfrm>
            <a:off x="2303996" y="3831890"/>
            <a:ext cx="1311834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Mini-Project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C60DAB-C1BF-E398-BD2B-57CB9F28BDE1}"/>
              </a:ext>
            </a:extLst>
          </p:cNvPr>
          <p:cNvSpPr txBox="1"/>
          <p:nvPr/>
        </p:nvSpPr>
        <p:spPr>
          <a:xfrm>
            <a:off x="977883" y="3732446"/>
            <a:ext cx="713657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15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5CE3F-C958-CC78-AC28-7A199CF09F50}"/>
              </a:ext>
            </a:extLst>
          </p:cNvPr>
          <p:cNvSpPr txBox="1"/>
          <p:nvPr/>
        </p:nvSpPr>
        <p:spPr>
          <a:xfrm>
            <a:off x="2303996" y="960685"/>
            <a:ext cx="4526880" cy="530017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분석</a:t>
            </a:r>
            <a:br>
              <a:rPr kumimoji="0" lang="en-US" altLang="ko-KR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Cleaning &amp; preparation, EDA, Statistic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35BFD-964B-ED01-49B1-FF8F65ADEBA7}"/>
              </a:ext>
            </a:extLst>
          </p:cNvPr>
          <p:cNvSpPr txBox="1"/>
          <p:nvPr/>
        </p:nvSpPr>
        <p:spPr>
          <a:xfrm>
            <a:off x="2303996" y="2163212"/>
            <a:ext cx="3777701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ML Supervised Learning: Classification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174E0-E3BC-C9C4-139D-FBC8689A6C4C}"/>
              </a:ext>
            </a:extLst>
          </p:cNvPr>
          <p:cNvSpPr txBox="1"/>
          <p:nvPr/>
        </p:nvSpPr>
        <p:spPr>
          <a:xfrm>
            <a:off x="2303996" y="2709185"/>
            <a:ext cx="5730351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ML Unsupervised Learning: Time Series &amp; Recommendation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8D4E4-CD65-DB4C-8913-86314BE07664}"/>
              </a:ext>
            </a:extLst>
          </p:cNvPr>
          <p:cNvSpPr txBox="1"/>
          <p:nvPr/>
        </p:nvSpPr>
        <p:spPr>
          <a:xfrm>
            <a:off x="977883" y="3177500"/>
            <a:ext cx="713657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14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F5130-38AF-8582-E425-BBB7E1A85066}"/>
              </a:ext>
            </a:extLst>
          </p:cNvPr>
          <p:cNvSpPr txBox="1"/>
          <p:nvPr/>
        </p:nvSpPr>
        <p:spPr>
          <a:xfrm>
            <a:off x="2303996" y="3255158"/>
            <a:ext cx="4953920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Hyper-parameter Optimization, Feature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3A37D-91D2-3E67-6FAC-3A033C98A387}"/>
              </a:ext>
            </a:extLst>
          </p:cNvPr>
          <p:cNvSpPr txBox="1"/>
          <p:nvPr/>
        </p:nvSpPr>
        <p:spPr>
          <a:xfrm>
            <a:off x="2303996" y="4395602"/>
            <a:ext cx="954107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기말시험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F5FB8-E96C-9E92-8A20-ADEEFFB5C77B}"/>
              </a:ext>
            </a:extLst>
          </p:cNvPr>
          <p:cNvSpPr txBox="1"/>
          <p:nvPr/>
        </p:nvSpPr>
        <p:spPr>
          <a:xfrm>
            <a:off x="971600" y="4287392"/>
            <a:ext cx="713657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16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88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371630" y="879562"/>
            <a:ext cx="8065901" cy="183242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600" dirty="0"/>
              <a:t>GCP instance : e2-medium / ubuntu / 50GB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https://docs.docker.com/engine/install/ubuntu/</a:t>
            </a:r>
          </a:p>
          <a:p>
            <a:pPr marL="0" indent="0">
              <a:buNone/>
            </a:pPr>
            <a:r>
              <a:rPr lang="en-US" altLang="ko-KR" sz="1600" dirty="0"/>
              <a:t>Installation</a:t>
            </a:r>
            <a:r>
              <a:rPr lang="ko-KR" altLang="en-US" sz="1600" dirty="0"/>
              <a:t> </a:t>
            </a:r>
            <a:r>
              <a:rPr lang="en-US" altLang="ko-KR" sz="1600" dirty="0"/>
              <a:t>methods</a:t>
            </a:r>
            <a:r>
              <a:rPr lang="ko-KR" altLang="en-US" sz="1600" dirty="0"/>
              <a:t> 내용 중 </a:t>
            </a:r>
            <a:r>
              <a:rPr lang="en-US" altLang="ko-KR" sz="1600" dirty="0"/>
              <a:t>2</a:t>
            </a:r>
            <a:r>
              <a:rPr lang="ko-KR" altLang="en-US" sz="1600" dirty="0"/>
              <a:t>번 </a:t>
            </a:r>
            <a:r>
              <a:rPr lang="en-US" altLang="ko-KR" sz="1600" dirty="0"/>
              <a:t>Install docker packages </a:t>
            </a:r>
            <a:r>
              <a:rPr lang="ko-KR" altLang="en-US" sz="1600" dirty="0"/>
              <a:t>까지만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설치 후 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docker --version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CC51D8-CA8B-99C5-0F33-E6E6508F7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2213070"/>
            <a:ext cx="3477853" cy="27481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30198F-27AD-C764-1CC8-99068E57A00A}"/>
              </a:ext>
            </a:extLst>
          </p:cNvPr>
          <p:cNvSpPr txBox="1"/>
          <p:nvPr/>
        </p:nvSpPr>
        <p:spPr>
          <a:xfrm>
            <a:off x="389153" y="354826"/>
            <a:ext cx="8361361" cy="389915"/>
          </a:xfrm>
          <a:prstGeom prst="rect">
            <a:avLst/>
          </a:prstGeom>
          <a:noFill/>
          <a:ln>
            <a:solidFill>
              <a:sysClr val="window" lastClr="FFFFFF">
                <a:alpha val="0"/>
              </a:sys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defTabSz="685766">
              <a:lnSpc>
                <a:spcPct val="110000"/>
              </a:lnSpc>
              <a:defRPr sz="2200" b="0" kern="0" spc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defRPr>
            </a:lvl1pPr>
          </a:lstStyle>
          <a:p>
            <a:pPr defTabSz="685749" latinLnBrk="0">
              <a:defRPr/>
            </a:pPr>
            <a:r>
              <a:rPr lang="ko-KR" altLang="en-US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실습환경 </a:t>
            </a:r>
            <a:r>
              <a:rPr lang="en-US" altLang="ko-KR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on </a:t>
            </a:r>
            <a:r>
              <a:rPr lang="en-US" altLang="ko-KR" sz="2400" spc="-75" dirty="0" err="1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gcp</a:t>
            </a:r>
            <a:r>
              <a:rPr lang="en-US" altLang="ko-KR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) docker </a:t>
            </a:r>
            <a:r>
              <a:rPr lang="ko-KR" altLang="en-US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설치</a:t>
            </a:r>
            <a:endParaRPr lang="en-US" altLang="ko-KR" sz="2325" dirty="0"/>
          </a:p>
        </p:txBody>
      </p:sp>
    </p:spTree>
    <p:extLst>
      <p:ext uri="{BB962C8B-B14F-4D97-AF65-F5344CB8AC3E}">
        <p14:creationId xmlns:p14="http://schemas.microsoft.com/office/powerpoint/2010/main" val="212127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389153" y="950251"/>
            <a:ext cx="7964272" cy="306165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200" dirty="0" err="1"/>
              <a:t>sudo</a:t>
            </a:r>
            <a:r>
              <a:rPr lang="en-US" altLang="ko-KR" sz="1200" dirty="0"/>
              <a:t> docker pull </a:t>
            </a:r>
            <a:r>
              <a:rPr lang="en-US" altLang="ko-KR" sz="1200" dirty="0" err="1"/>
              <a:t>brightics</a:t>
            </a:r>
            <a:r>
              <a:rPr lang="en-US" altLang="ko-KR" sz="1200" dirty="0"/>
              <a:t>/studio</a:t>
            </a:r>
          </a:p>
          <a:p>
            <a:pPr marL="0" indent="0">
              <a:buNone/>
            </a:pPr>
            <a:r>
              <a:rPr lang="en-US" altLang="ko-KR" sz="1200" dirty="0" err="1"/>
              <a:t>mkdir</a:t>
            </a:r>
            <a:r>
              <a:rPr lang="en-US" altLang="ko-KR" sz="1200" dirty="0"/>
              <a:t> </a:t>
            </a:r>
            <a:r>
              <a:rPr lang="en-US" altLang="ko-KR" sz="1200" dirty="0" err="1"/>
              <a:t>userdata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 err="1"/>
              <a:t>sudo</a:t>
            </a:r>
            <a:r>
              <a:rPr lang="en-US" altLang="ko-KR" sz="1200" dirty="0"/>
              <a:t> docker run -d -p 3000:3000 --privileged=true -v "`</a:t>
            </a:r>
            <a:r>
              <a:rPr lang="en-US" altLang="ko-KR" sz="1200" dirty="0" err="1"/>
              <a:t>pwd</a:t>
            </a:r>
            <a:r>
              <a:rPr lang="en-US" altLang="ko-KR" sz="1200" dirty="0"/>
              <a:t>`/</a:t>
            </a:r>
            <a:r>
              <a:rPr lang="en-US" altLang="ko-KR" sz="1200" dirty="0" err="1"/>
              <a:t>userdata</a:t>
            </a:r>
            <a:r>
              <a:rPr lang="en-US" altLang="ko-KR" sz="1200" dirty="0"/>
              <a:t>:/</a:t>
            </a:r>
            <a:r>
              <a:rPr lang="en-US" altLang="ko-KR" sz="1200" dirty="0" err="1"/>
              <a:t>brightics</a:t>
            </a:r>
            <a:r>
              <a:rPr lang="en-US" altLang="ko-KR" sz="1200" dirty="0"/>
              <a:t>-studio/</a:t>
            </a:r>
            <a:r>
              <a:rPr lang="en-US" altLang="ko-KR" sz="1200" dirty="0" err="1"/>
              <a:t>userdata</a:t>
            </a:r>
            <a:r>
              <a:rPr lang="en-US" altLang="ko-KR" sz="1200" dirty="0"/>
              <a:t>" </a:t>
            </a:r>
            <a:r>
              <a:rPr lang="en-US" altLang="ko-KR" sz="1200" dirty="0" err="1"/>
              <a:t>brightics</a:t>
            </a:r>
            <a:r>
              <a:rPr lang="en-US" altLang="ko-KR" sz="1200" dirty="0"/>
              <a:t>/</a:t>
            </a:r>
            <a:r>
              <a:rPr lang="en-US" altLang="ko-KR" sz="1200" dirty="0" err="1"/>
              <a:t>studio:latest</a:t>
            </a:r>
            <a:endParaRPr lang="en-US" altLang="ko-KR" sz="12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실행 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Local pc </a:t>
            </a:r>
            <a:r>
              <a:rPr lang="ko-KR" altLang="en-US" sz="1400" dirty="0" err="1"/>
              <a:t>브라우져</a:t>
            </a:r>
            <a:r>
              <a:rPr lang="ko-KR" altLang="en-US" sz="1400" dirty="0"/>
              <a:t> 에서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ip:3000 </a:t>
            </a:r>
            <a:r>
              <a:rPr lang="ko-KR" altLang="en-US" sz="1400" dirty="0"/>
              <a:t>으로</a:t>
            </a:r>
            <a:r>
              <a:rPr lang="en-US" altLang="ko-KR" sz="1400" dirty="0"/>
              <a:t> </a:t>
            </a:r>
            <a:r>
              <a:rPr lang="ko-KR" altLang="en-US" sz="1400" dirty="0"/>
              <a:t>접근해보세요</a:t>
            </a:r>
            <a:r>
              <a:rPr lang="en-US" altLang="ko-KR" sz="1400" dirty="0"/>
              <a:t>~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200" dirty="0"/>
              <a:t>※ GCP</a:t>
            </a:r>
            <a:r>
              <a:rPr lang="ko-KR" altLang="en-US" sz="1200" dirty="0"/>
              <a:t> 방화벽에 </a:t>
            </a:r>
            <a:r>
              <a:rPr lang="en-US" altLang="ko-KR" sz="1200" dirty="0"/>
              <a:t>3000 </a:t>
            </a:r>
            <a:r>
              <a:rPr lang="ko-KR" altLang="en-US" sz="1200" dirty="0"/>
              <a:t>포트 해제</a:t>
            </a:r>
            <a:endParaRPr lang="en-US" altLang="ko-KR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23B2318-C5A8-B112-F7A3-C4E36B78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797" y="1815666"/>
            <a:ext cx="4729576" cy="3061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106567-1AC0-7163-BC77-69DB5106D1EF}"/>
              </a:ext>
            </a:extLst>
          </p:cNvPr>
          <p:cNvSpPr txBox="1"/>
          <p:nvPr/>
        </p:nvSpPr>
        <p:spPr>
          <a:xfrm>
            <a:off x="389153" y="354826"/>
            <a:ext cx="8361361" cy="389915"/>
          </a:xfrm>
          <a:prstGeom prst="rect">
            <a:avLst/>
          </a:prstGeom>
          <a:noFill/>
          <a:ln>
            <a:solidFill>
              <a:sysClr val="window" lastClr="FFFFFF">
                <a:alpha val="0"/>
              </a:sys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defTabSz="685766">
              <a:lnSpc>
                <a:spcPct val="110000"/>
              </a:lnSpc>
              <a:defRPr sz="2200" b="0" kern="0" spc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defRPr>
            </a:lvl1pPr>
          </a:lstStyle>
          <a:p>
            <a:pPr defTabSz="685749" latinLnBrk="0">
              <a:defRPr/>
            </a:pPr>
            <a:r>
              <a:rPr lang="en-US" altLang="ko-KR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Brightics Studio </a:t>
            </a:r>
            <a:r>
              <a:rPr lang="ko-KR" altLang="en-US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를 </a:t>
            </a:r>
            <a:r>
              <a:rPr lang="en-US" altLang="ko-KR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docker </a:t>
            </a:r>
            <a:r>
              <a:rPr lang="ko-KR" altLang="en-US" sz="2400" spc="-75" dirty="0">
                <a:gradFill flip="none" rotWithShape="1">
                  <a:gsLst>
                    <a:gs pos="100000">
                      <a:srgbClr val="039BE7"/>
                    </a:gs>
                    <a:gs pos="11000">
                      <a:srgbClr val="0053A1"/>
                    </a:gs>
                  </a:gsLst>
                  <a:lin ang="10800000" scaled="1"/>
                  <a:tileRect/>
                </a:gradFill>
              </a:rPr>
              <a:t>로 설치</a:t>
            </a:r>
            <a:endParaRPr lang="en-US" altLang="ko-KR" sz="2325" dirty="0"/>
          </a:p>
        </p:txBody>
      </p:sp>
    </p:spTree>
    <p:extLst>
      <p:ext uri="{BB962C8B-B14F-4D97-AF65-F5344CB8AC3E}">
        <p14:creationId xmlns:p14="http://schemas.microsoft.com/office/powerpoint/2010/main" val="74839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>
                <a:latin typeface="+mn-ea"/>
              </a:rPr>
              <a:t>Logistic Regression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181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로지스틱 회귀분석이란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종속변수와 독립 변수간의 관계를 구체적인 </a:t>
            </a:r>
            <a:endParaRPr lang="en-US" altLang="ko-KR" dirty="0"/>
          </a:p>
          <a:p>
            <a:pPr marL="135707" lvl="1" indent="0">
              <a:buNone/>
            </a:pPr>
            <a:r>
              <a:rPr lang="ko-KR" altLang="en-US" dirty="0"/>
              <a:t>함수로</a:t>
            </a:r>
            <a:r>
              <a:rPr lang="en-US" altLang="ko-KR" dirty="0"/>
              <a:t> </a:t>
            </a:r>
            <a:r>
              <a:rPr lang="ko-KR" altLang="en-US" dirty="0"/>
              <a:t>나타내어 향후 예측 모델에 사용한다는 </a:t>
            </a:r>
            <a:endParaRPr lang="en-US" altLang="ko-KR" dirty="0"/>
          </a:p>
          <a:p>
            <a:pPr marL="135707" lvl="1" indent="0">
              <a:buNone/>
            </a:pPr>
            <a:r>
              <a:rPr lang="ko-KR" altLang="en-US" dirty="0"/>
              <a:t>점에서 일반적인 회귀 분석의 목표와 동일하나</a:t>
            </a:r>
            <a:r>
              <a:rPr lang="en-US" altLang="ko-KR" dirty="0"/>
              <a:t>, </a:t>
            </a:r>
            <a:r>
              <a:rPr lang="ko-KR" altLang="en-US" dirty="0"/>
              <a:t>종속 변수가 범주형 데이터를 대상으로 하며</a:t>
            </a:r>
            <a:r>
              <a:rPr lang="en-US" altLang="ko-KR" dirty="0"/>
              <a:t>, </a:t>
            </a:r>
            <a:r>
              <a:rPr lang="ko-KR" altLang="en-US" dirty="0"/>
              <a:t>따라서 결과가 특정 분류로 나뉘어진다</a:t>
            </a:r>
            <a:r>
              <a:rPr lang="en-US" altLang="ko-KR" dirty="0"/>
              <a:t>.</a:t>
            </a:r>
          </a:p>
          <a:p>
            <a:pPr marL="135707" lvl="1" indent="0">
              <a:buNone/>
            </a:pPr>
            <a:endParaRPr lang="ko-KR" altLang="en-US" dirty="0"/>
          </a:p>
          <a:p>
            <a:pPr marL="135707" lvl="1" indent="0">
              <a:buNone/>
            </a:pPr>
            <a:r>
              <a:rPr lang="en-US" altLang="ko-KR" dirty="0"/>
              <a:t>Ex) GPA(</a:t>
            </a:r>
            <a:r>
              <a:rPr lang="ko-KR" altLang="en-US" dirty="0"/>
              <a:t>평점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Admission(</a:t>
            </a:r>
            <a:r>
              <a:rPr lang="ko-KR" altLang="en-US" dirty="0" err="1"/>
              <a:t>합격여부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… GPA </a:t>
            </a:r>
            <a:r>
              <a:rPr lang="ko-KR" altLang="en-US" dirty="0"/>
              <a:t>높을수록 승산이 높다</a:t>
            </a:r>
            <a:r>
              <a:rPr lang="en-US" altLang="ko-KR" dirty="0"/>
              <a:t>!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회귀분석 개요</a:t>
            </a:r>
            <a:r>
              <a:rPr lang="en-US" altLang="ko-KR" dirty="0"/>
              <a:t>(1/2)</a:t>
            </a:r>
            <a:r>
              <a:rPr lang="ko-KR" altLang="en-US" dirty="0"/>
              <a:t> </a:t>
            </a:r>
          </a:p>
        </p:txBody>
      </p:sp>
      <p:graphicFrame>
        <p:nvGraphicFramePr>
          <p:cNvPr id="112" name="개체 111"/>
          <p:cNvGraphicFramePr>
            <a:graphicFrameLocks noChangeAspect="1"/>
          </p:cNvGraphicFramePr>
          <p:nvPr/>
        </p:nvGraphicFramePr>
        <p:xfrm>
          <a:off x="5584282" y="424673"/>
          <a:ext cx="2578894" cy="912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2654280" imgH="939600" progId="Equation.3">
                  <p:embed/>
                </p:oleObj>
              </mc:Choice>
              <mc:Fallback>
                <p:oleObj name="수식" r:id="rId2" imgW="2654280" imgH="939600" progId="Equation.3">
                  <p:embed/>
                  <p:pic>
                    <p:nvPicPr>
                      <p:cNvPr id="112" name="개체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282" y="424673"/>
                        <a:ext cx="2578894" cy="912019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직사각형 46"/>
          <p:cNvSpPr/>
          <p:nvPr/>
        </p:nvSpPr>
        <p:spPr>
          <a:xfrm>
            <a:off x="1630544" y="2516604"/>
            <a:ext cx="1728192" cy="1134126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358736" y="2516604"/>
            <a:ext cx="1728192" cy="1134126"/>
          </a:xfrm>
          <a:prstGeom prst="rect">
            <a:avLst/>
          </a:prstGeom>
          <a:noFill/>
          <a:ln w="25400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077315" y="2516604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27447" y="2516604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27183" y="2516604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577052" y="2516604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26920" y="2516604"/>
            <a:ext cx="338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76788" y="2516604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077315" y="2701972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3.5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27183" y="2701972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3.5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77315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77579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327447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27447" y="2701972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3.5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327447" y="3072707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3.9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577579" y="3072707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3.9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077315" y="3072707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3.9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577579" y="3258075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4.1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327447" y="3258075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4.1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327447" y="3443444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827710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077841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827183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577052" y="2701972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3.5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577579" y="2701972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3.5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826656" y="2516604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3.3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600875" y="3373731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합격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30545" y="3374194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불합격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77052" y="2887340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3.7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326920" y="2701972"/>
            <a:ext cx="338554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3.5</a:t>
            </a:r>
            <a:endParaRPr lang="ko-KR" altLang="en-US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675351" y="2524878"/>
            <a:ext cx="2046073" cy="830997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  <a:prstDash val="dash"/>
          </a:ln>
        </p:spPr>
        <p:txBody>
          <a:bodyPr wrap="none" rtlCol="0">
            <a:spAutoFit/>
          </a:bodyPr>
          <a:lstStyle/>
          <a:p>
            <a:pPr marL="214313" indent="-214313" defTabSz="685221" latinLnBrk="0">
              <a:buFont typeface="Arial" pitchFamily="34" charset="0"/>
              <a:buChar char="•"/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Admission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GPA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간의 </a:t>
            </a:r>
            <a:br>
              <a:rPr lang="en-US" altLang="ko-KR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양의 </a:t>
            </a:r>
            <a:r>
              <a:rPr lang="ko-KR" altLang="en-US" sz="1200" kern="0" dirty="0"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상관관계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존재</a:t>
            </a:r>
            <a:endParaRPr lang="en-US" altLang="ko-KR" sz="12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14313" indent="-214313" defTabSz="685221" latinLnBrk="0">
              <a:buFont typeface="Arial" pitchFamily="34" charset="0"/>
              <a:buChar char="•"/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GPA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ko-KR" altLang="en-US" sz="1200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합격 여부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  <a:br>
              <a:rPr lang="en-US" altLang="ko-KR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 GPA </a:t>
            </a:r>
            <a:r>
              <a:rPr lang="ko-KR" altLang="en-US" sz="12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합격  확률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64961" y="4058660"/>
            <a:ext cx="2727303" cy="323165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 defTabSz="685221" latinLnBrk="0">
              <a:defRPr/>
            </a:pPr>
            <a:r>
              <a:rPr lang="en-US" altLang="ko-KR" sz="15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and Range Mismatch!!</a:t>
            </a:r>
            <a:endParaRPr lang="ko-KR" altLang="en-US" sz="15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5" name="Picture 4" descr="?에 대한 이미지 검색결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608" y="3659725"/>
            <a:ext cx="293163" cy="29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9" name="개체 118"/>
          <p:cNvGraphicFramePr>
            <a:graphicFrameLocks noChangeAspect="1"/>
          </p:cNvGraphicFramePr>
          <p:nvPr/>
        </p:nvGraphicFramePr>
        <p:xfrm>
          <a:off x="5675351" y="3336967"/>
          <a:ext cx="2063353" cy="28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5" imgW="1650960" imgH="228600" progId="Equation.3">
                  <p:embed/>
                </p:oleObj>
              </mc:Choice>
              <mc:Fallback>
                <p:oleObj name="수식" r:id="rId5" imgW="1650960" imgH="228600" progId="Equation.3">
                  <p:embed/>
                  <p:pic>
                    <p:nvPicPr>
                      <p:cNvPr id="119" name="개체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51" y="3336967"/>
                        <a:ext cx="2063353" cy="28694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0" name="그룹 119"/>
          <p:cNvGrpSpPr/>
          <p:nvPr/>
        </p:nvGrpSpPr>
        <p:grpSpPr>
          <a:xfrm>
            <a:off x="431540" y="666981"/>
            <a:ext cx="205980" cy="205980"/>
            <a:chOff x="416625" y="944724"/>
            <a:chExt cx="274640" cy="274640"/>
          </a:xfrm>
        </p:grpSpPr>
        <p:sp>
          <p:nvSpPr>
            <p:cNvPr id="121" name="타원 120"/>
            <p:cNvSpPr/>
            <p:nvPr/>
          </p:nvSpPr>
          <p:spPr>
            <a:xfrm>
              <a:off x="416625" y="944724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2" name="L 도형 121"/>
            <p:cNvSpPr/>
            <p:nvPr/>
          </p:nvSpPr>
          <p:spPr>
            <a:xfrm rot="13500000">
              <a:off x="481783" y="1022319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6" name="TextBox 45"/>
            <p:cNvSpPr txBox="1"/>
            <p:nvPr/>
          </p:nvSpPr>
          <p:spPr>
            <a:xfrm>
              <a:off x="8164366" y="363541"/>
              <a:ext cx="1333869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1. Logistic Regression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7" name="내용 개체 틀 11"/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■□□□□□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067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로지스틱 회귀분석</a:t>
            </a:r>
          </a:p>
          <a:p>
            <a:pPr lvl="1"/>
            <a:r>
              <a:rPr lang="ko-KR" altLang="en-US" dirty="0"/>
              <a:t>종속 변수</a:t>
            </a:r>
            <a:r>
              <a:rPr lang="en-US" altLang="ko-KR" dirty="0"/>
              <a:t>(Y)</a:t>
            </a:r>
            <a:r>
              <a:rPr lang="ko-KR" altLang="en-US" dirty="0"/>
              <a:t>가 </a:t>
            </a:r>
            <a:r>
              <a:rPr lang="en-US" altLang="ko-KR" dirty="0"/>
              <a:t>0 or 1</a:t>
            </a:r>
            <a:r>
              <a:rPr lang="ko-KR" altLang="en-US" dirty="0"/>
              <a:t>의 이분적인 결과를 가짐 </a:t>
            </a:r>
            <a:r>
              <a:rPr lang="en-US" altLang="ko-KR" dirty="0"/>
              <a:t>( 0/1,  Y/N, Pass/Fail etc.)</a:t>
            </a:r>
          </a:p>
          <a:p>
            <a:pPr lvl="1"/>
            <a:r>
              <a:rPr lang="ko-KR" altLang="en-US" dirty="0" err="1"/>
              <a:t>회귀식</a:t>
            </a:r>
            <a:r>
              <a:rPr lang="ko-KR" altLang="en-US" dirty="0"/>
              <a:t> 형태의 모형</a:t>
            </a:r>
          </a:p>
          <a:p>
            <a:pPr lvl="2"/>
            <a:r>
              <a:rPr lang="en-US" altLang="ko-KR" dirty="0"/>
              <a:t>Why? </a:t>
            </a:r>
            <a:r>
              <a:rPr lang="ko-KR" altLang="en-US" dirty="0"/>
              <a:t>변수의 통계적 유의성 분석</a:t>
            </a:r>
            <a:r>
              <a:rPr lang="en-US" altLang="ko-KR" dirty="0"/>
              <a:t>, </a:t>
            </a:r>
            <a:r>
              <a:rPr lang="ko-KR" altLang="en-US" dirty="0"/>
              <a:t>종속 변수에 미치는 영향력 등을 파악 가능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회귀분석 개요</a:t>
            </a:r>
            <a:r>
              <a:rPr lang="en-US" altLang="ko-KR" dirty="0"/>
              <a:t>(2/2)</a:t>
            </a:r>
            <a:r>
              <a:rPr lang="ko-KR" altLang="en-US" dirty="0"/>
              <a:t> </a:t>
            </a:r>
          </a:p>
        </p:txBody>
      </p:sp>
      <p:grpSp>
        <p:nvGrpSpPr>
          <p:cNvPr id="120" name="그룹 119"/>
          <p:cNvGrpSpPr/>
          <p:nvPr/>
        </p:nvGrpSpPr>
        <p:grpSpPr>
          <a:xfrm>
            <a:off x="441584" y="672176"/>
            <a:ext cx="205980" cy="205980"/>
            <a:chOff x="416625" y="944724"/>
            <a:chExt cx="274640" cy="274640"/>
          </a:xfrm>
        </p:grpSpPr>
        <p:sp>
          <p:nvSpPr>
            <p:cNvPr id="121" name="타원 120"/>
            <p:cNvSpPr/>
            <p:nvPr/>
          </p:nvSpPr>
          <p:spPr>
            <a:xfrm>
              <a:off x="416625" y="944724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2" name="L 도형 121"/>
            <p:cNvSpPr/>
            <p:nvPr/>
          </p:nvSpPr>
          <p:spPr>
            <a:xfrm rot="13500000">
              <a:off x="481783" y="1022319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45" name="Picture 2" descr="관련 이미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700" y="1853554"/>
            <a:ext cx="2722343" cy="243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359" y="2294118"/>
            <a:ext cx="2376264" cy="180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Box 76"/>
          <p:cNvSpPr txBox="1"/>
          <p:nvPr/>
        </p:nvSpPr>
        <p:spPr>
          <a:xfrm>
            <a:off x="6795741" y="4104189"/>
            <a:ext cx="2799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221" latinLnBrk="0">
              <a:defRPr/>
            </a:pPr>
            <a:r>
              <a:rPr lang="en-US" altLang="ko-KR" sz="13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x</a:t>
            </a:r>
            <a:endParaRPr lang="ko-KR" altLang="en-US" sz="1350" kern="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718480" y="2654366"/>
            <a:ext cx="2844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3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250261" y="2486846"/>
                <a:ext cx="997571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221">
                  <a:defRPr/>
                </a:pPr>
                <a:r>
                  <a:rPr lang="en-US" altLang="ko-KR" sz="135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y </a:t>
                </a:r>
                <a14:m>
                  <m:oMath xmlns:m="http://schemas.openxmlformats.org/officeDocument/2006/math">
                    <m:r>
                      <a:rPr lang="en-US" altLang="ko-KR" sz="1350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350" i="1">
                        <a:solidFill>
                          <a:srgbClr val="000000"/>
                        </a:solidFill>
                        <a:latin typeface="Cambria Math"/>
                      </a:rPr>
                      <m:t>𝑎𝑥</m:t>
                    </m:r>
                    <m:r>
                      <a:rPr lang="en-US" altLang="ko-KR" sz="1350" i="1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US" altLang="ko-KR" sz="1350" i="1">
                        <a:solidFill>
                          <a:srgbClr val="000000"/>
                        </a:solidFill>
                        <a:latin typeface="Cambria Math"/>
                      </a:rPr>
                      <m:t>𝑏</m:t>
                    </m:r>
                  </m:oMath>
                </a14:m>
                <a:endParaRPr lang="ko-KR" altLang="en-US" sz="13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261" y="2486846"/>
                <a:ext cx="997571" cy="300082"/>
              </a:xfrm>
              <a:prstGeom prst="rect">
                <a:avLst/>
              </a:prstGeom>
              <a:blipFill>
                <a:blip r:embed="rId4"/>
                <a:stretch>
                  <a:fillRect l="-1220" t="-4082" b="-204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3824462" y="4070362"/>
            <a:ext cx="2799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221" latinLnBrk="0">
              <a:defRPr/>
            </a:pPr>
            <a:r>
              <a:rPr lang="en-US" altLang="ko-KR" sz="13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x</a:t>
            </a:r>
            <a:endParaRPr lang="ko-KR" altLang="en-US" sz="1350" kern="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566335" y="2356845"/>
            <a:ext cx="2844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3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198364" y="4363572"/>
            <a:ext cx="13292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일반선형회귀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338370" y="4363572"/>
            <a:ext cx="16914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로지스틱 선형회귀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5830802" y="2070729"/>
            <a:ext cx="1728192" cy="312400"/>
          </a:xfrm>
          <a:prstGeom prst="ellipse">
            <a:avLst/>
          </a:prstGeom>
          <a:solidFill>
            <a:srgbClr val="FFC000">
              <a:alpha val="34118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5" name="개체 84"/>
          <p:cNvGraphicFramePr>
            <a:graphicFrameLocks noChangeAspect="1"/>
          </p:cNvGraphicFramePr>
          <p:nvPr/>
        </p:nvGraphicFramePr>
        <p:xfrm>
          <a:off x="3122610" y="3322357"/>
          <a:ext cx="1036013" cy="552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5" imgW="761760" imgH="406080" progId="Equation.3">
                  <p:embed/>
                </p:oleObj>
              </mc:Choice>
              <mc:Fallback>
                <p:oleObj name="수식" r:id="rId5" imgW="761760" imgH="406080" progId="Equation.3">
                  <p:embed/>
                  <p:pic>
                    <p:nvPicPr>
                      <p:cNvPr id="85" name="개체 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2610" y="3322357"/>
                        <a:ext cx="1036013" cy="552540"/>
                      </a:xfrm>
                      <a:prstGeom prst="rect">
                        <a:avLst/>
                      </a:prstGeom>
                      <a:ln>
                        <a:solidFill>
                          <a:srgbClr val="000000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개체 85"/>
          <p:cNvGraphicFramePr>
            <a:graphicFrameLocks noChangeAspect="1"/>
          </p:cNvGraphicFramePr>
          <p:nvPr/>
        </p:nvGraphicFramePr>
        <p:xfrm>
          <a:off x="6268889" y="2931366"/>
          <a:ext cx="1053703" cy="58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7" imgW="774360" imgH="431640" progId="Equation.3">
                  <p:embed/>
                </p:oleObj>
              </mc:Choice>
              <mc:Fallback>
                <p:oleObj name="수식" r:id="rId7" imgW="774360" imgH="431640" progId="Equation.3">
                  <p:embed/>
                  <p:pic>
                    <p:nvPicPr>
                      <p:cNvPr id="86" name="개체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8889" y="2931366"/>
                        <a:ext cx="1053703" cy="58697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00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타원 86"/>
          <p:cNvSpPr/>
          <p:nvPr/>
        </p:nvSpPr>
        <p:spPr>
          <a:xfrm>
            <a:off x="4946555" y="3628718"/>
            <a:ext cx="1728192" cy="312400"/>
          </a:xfrm>
          <a:prstGeom prst="ellipse">
            <a:avLst/>
          </a:prstGeom>
          <a:solidFill>
            <a:srgbClr val="FFC000">
              <a:alpha val="34118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932040" y="878622"/>
            <a:ext cx="403304" cy="311003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4C68E12-F1E0-4D73-2BB1-7443730C3054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CDB078-0D82-CB5A-02CE-D1D760DEE8F0}"/>
                </a:ext>
              </a:extLst>
            </p:cNvPr>
            <p:cNvSpPr txBox="1"/>
            <p:nvPr/>
          </p:nvSpPr>
          <p:spPr>
            <a:xfrm>
              <a:off x="8164366" y="363541"/>
              <a:ext cx="1333869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1. Logistic Regression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" name="내용 개체 틀 11">
              <a:extLst>
                <a:ext uri="{FF2B5EF4-FFF2-40B4-BE49-F238E27FC236}">
                  <a16:creationId xmlns:a16="http://schemas.microsoft.com/office/drawing/2014/main" id="{6784FC8E-9834-1987-D436-DA5FA64729CB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■□□□□□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39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로짓</a:t>
            </a:r>
            <a:r>
              <a:rPr lang="en-US" altLang="ko-KR" dirty="0"/>
              <a:t>(Logit) </a:t>
            </a:r>
            <a:r>
              <a:rPr lang="ko-KR" altLang="en-US" dirty="0"/>
              <a:t>함수</a:t>
            </a:r>
            <a:r>
              <a:rPr lang="en-US" altLang="ko-KR" dirty="0"/>
              <a:t>: log(Odds)</a:t>
            </a:r>
          </a:p>
          <a:p>
            <a:pPr lvl="1"/>
            <a:r>
              <a:rPr lang="ko-KR" altLang="en-US" dirty="0"/>
              <a:t>종속변수로 </a:t>
            </a:r>
            <a:r>
              <a:rPr lang="en-US" altLang="ko-KR" dirty="0"/>
              <a:t>Y</a:t>
            </a:r>
            <a:r>
              <a:rPr lang="ko-KR" altLang="en-US" dirty="0"/>
              <a:t>를 사용하는 대신에 로짓 함수를 사용</a:t>
            </a:r>
          </a:p>
          <a:p>
            <a:pPr lvl="1"/>
            <a:r>
              <a:rPr lang="ko-KR" altLang="en-US" dirty="0"/>
              <a:t>집단 </a:t>
            </a:r>
            <a:r>
              <a:rPr lang="en-US" altLang="ko-KR" dirty="0"/>
              <a:t>1</a:t>
            </a:r>
            <a:r>
              <a:rPr lang="ko-KR" altLang="en-US" dirty="0"/>
              <a:t>에 속하는 확률인 </a:t>
            </a:r>
            <a:r>
              <a:rPr lang="en-US" altLang="ko-KR" i="1" dirty="0"/>
              <a:t>p</a:t>
            </a:r>
            <a:r>
              <a:rPr lang="ko-KR" altLang="en-US" dirty="0"/>
              <a:t>를 구한다</a:t>
            </a:r>
          </a:p>
          <a:p>
            <a:pPr lvl="1"/>
            <a:r>
              <a:rPr lang="en-US" altLang="ko-KR" i="1" dirty="0"/>
              <a:t>p</a:t>
            </a:r>
            <a:r>
              <a:rPr lang="ko-KR" altLang="en-US" dirty="0"/>
              <a:t>는 </a:t>
            </a:r>
            <a:r>
              <a:rPr lang="en-US" altLang="ko-KR" dirty="0"/>
              <a:t>[0,1]</a:t>
            </a:r>
            <a:r>
              <a:rPr lang="ko-KR" altLang="en-US" dirty="0"/>
              <a:t>사이의 값을 갖는다</a:t>
            </a:r>
          </a:p>
          <a:p>
            <a:pPr lvl="1"/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만약 </a:t>
            </a:r>
            <a:r>
              <a:rPr lang="en-US" altLang="ko-KR" i="1" dirty="0"/>
              <a:t>p</a:t>
            </a:r>
            <a:r>
              <a:rPr lang="ko-KR" altLang="en-US" dirty="0"/>
              <a:t>를 다음의 식과 같이 </a:t>
            </a:r>
            <a:r>
              <a:rPr lang="en-US" altLang="ko-KR" dirty="0"/>
              <a:t>n</a:t>
            </a:r>
            <a:r>
              <a:rPr lang="ko-KR" altLang="en-US" dirty="0"/>
              <a:t>개의 예측변수들의 선형 함수로 표현한다면</a:t>
            </a:r>
            <a:r>
              <a:rPr lang="en-US" altLang="ko-KR" dirty="0"/>
              <a:t>, </a:t>
            </a:r>
            <a:r>
              <a:rPr lang="ko-KR" altLang="en-US" dirty="0"/>
              <a:t>우변이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값을 갖는다는 것을 보장할 수 없게 됨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다음과 같은 비선형 함수를 이용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회귀분석 원리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431540" y="672176"/>
            <a:ext cx="205980" cy="205980"/>
            <a:chOff x="416625" y="944724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16625" y="944724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481783" y="1022319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7" name="개체 16"/>
          <p:cNvGraphicFramePr>
            <a:graphicFrameLocks noChangeAspect="1"/>
          </p:cNvGraphicFramePr>
          <p:nvPr/>
        </p:nvGraphicFramePr>
        <p:xfrm>
          <a:off x="2954582" y="2392192"/>
          <a:ext cx="2386031" cy="331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650960" imgH="228600" progId="Equation.3">
                  <p:embed/>
                </p:oleObj>
              </mc:Choice>
              <mc:Fallback>
                <p:oleObj name="수식" r:id="rId2" imgW="1650960" imgH="228600" progId="Equation.3">
                  <p:embed/>
                  <p:pic>
                    <p:nvPicPr>
                      <p:cNvPr id="17" name="개체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582" y="2392192"/>
                        <a:ext cx="2386031" cy="331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/>
          <p:cNvGraphicFramePr>
            <a:graphicFrameLocks noChangeAspect="1"/>
          </p:cNvGraphicFramePr>
          <p:nvPr/>
        </p:nvGraphicFramePr>
        <p:xfrm>
          <a:off x="1862085" y="3190783"/>
          <a:ext cx="2435936" cy="66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1447560" imgH="393480" progId="Equation.3">
                  <p:embed/>
                </p:oleObj>
              </mc:Choice>
              <mc:Fallback>
                <p:oleObj name="수식" r:id="rId4" imgW="1447560" imgH="393480" progId="Equation.3">
                  <p:embed/>
                  <p:pic>
                    <p:nvPicPr>
                      <p:cNvPr id="18" name="개체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085" y="3190783"/>
                        <a:ext cx="2435936" cy="66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개체 18"/>
          <p:cNvGraphicFramePr>
            <a:graphicFrameLocks noChangeAspect="1"/>
          </p:cNvGraphicFramePr>
          <p:nvPr/>
        </p:nvGraphicFramePr>
        <p:xfrm>
          <a:off x="5267401" y="3409582"/>
          <a:ext cx="22431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6" imgW="1333440" imgH="203040" progId="Equation.3">
                  <p:embed/>
                </p:oleObj>
              </mc:Choice>
              <mc:Fallback>
                <p:oleObj name="수식" r:id="rId6" imgW="1333440" imgH="203040" progId="Equation.3">
                  <p:embed/>
                  <p:pic>
                    <p:nvPicPr>
                      <p:cNvPr id="19" name="개체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401" y="3409582"/>
                        <a:ext cx="224313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C3CC54E2-D81D-5904-D23D-4E17CFCE71BF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27E197-9FBD-EA4A-487C-857B988C68DD}"/>
                </a:ext>
              </a:extLst>
            </p:cNvPr>
            <p:cNvSpPr txBox="1"/>
            <p:nvPr/>
          </p:nvSpPr>
          <p:spPr>
            <a:xfrm>
              <a:off x="8164366" y="363541"/>
              <a:ext cx="1333869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1. Logistic Regression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" name="내용 개체 틀 11">
              <a:extLst>
                <a:ext uri="{FF2B5EF4-FFF2-40B4-BE49-F238E27FC236}">
                  <a16:creationId xmlns:a16="http://schemas.microsoft.com/office/drawing/2014/main" id="{BDF43F27-7A6B-49B5-A620-11DE093A8451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■□□□□□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39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5" name="Picture 9" descr="https://t1.daumcdn.net/cfile/tistory/99EFFA3359E629C82B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65"/>
          <a:stretch/>
        </p:blipFill>
        <p:spPr bwMode="auto">
          <a:xfrm>
            <a:off x="4518284" y="2643973"/>
            <a:ext cx="1620299" cy="100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개체 2"/>
          <p:cNvGraphicFramePr>
            <a:graphicFrameLocks noChangeAspect="1"/>
          </p:cNvGraphicFramePr>
          <p:nvPr/>
        </p:nvGraphicFramePr>
        <p:xfrm>
          <a:off x="1216407" y="673609"/>
          <a:ext cx="4274344" cy="384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3" imgW="4178160" imgH="3759120" progId="Equation.3">
                  <p:embed/>
                </p:oleObj>
              </mc:Choice>
              <mc:Fallback>
                <p:oleObj name="수식" r:id="rId3" imgW="4178160" imgH="3759120" progId="Equation.3">
                  <p:embed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6407" y="673609"/>
                        <a:ext cx="4274344" cy="3849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740" y="750192"/>
            <a:ext cx="2548814" cy="1196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561" y="1889598"/>
            <a:ext cx="1300793" cy="25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1216407" y="4491173"/>
            <a:ext cx="6884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221" latinLnBrk="0">
              <a:defRPr/>
            </a:pPr>
            <a:r>
              <a:rPr lang="en-US" altLang="ko-KR" sz="90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출처</a:t>
            </a:r>
            <a:r>
              <a:rPr lang="en-US" altLang="ko-KR" sz="90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) </a:t>
            </a:r>
            <a:r>
              <a:rPr lang="en-US" altLang="ko-KR" sz="90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  <a:hlinkClick r:id="rId7"/>
              </a:rPr>
              <a:t>https://ko.wikipedia.org/wiki/%EC%A0%95%EB%B0%80%EB%8F%84%EC%99%80_%EC%9E%AC%ED%98%84%EC%9C%A8</a:t>
            </a:r>
            <a:br>
              <a:rPr lang="en-US" altLang="ko-KR" sz="90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</a:br>
            <a:r>
              <a:rPr lang="en-US" altLang="ko-KR" sz="90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        http://bcho.tistory.com/1206</a:t>
            </a:r>
            <a:endParaRPr lang="ko-KR" altLang="en-US" sz="900" kern="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52787" y="2665317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endParaRPr lang="ko-KR" altLang="en-US" sz="135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(Remind) Classification Measures </a:t>
            </a:r>
            <a:r>
              <a:rPr lang="ko-KR" altLang="en-US" dirty="0"/>
              <a:t>정의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03238" y="181293"/>
            <a:ext cx="1132190" cy="332509"/>
          </a:xfrm>
          <a:prstGeom prst="roundRect">
            <a:avLst>
              <a:gd name="adj" fmla="val 291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/>
              <a:t>Remind</a:t>
            </a:r>
            <a:endParaRPr lang="ko-KR" altLang="en-US" sz="135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000500" y="739801"/>
            <a:ext cx="108234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 err="1"/>
              <a:t>예측값</a:t>
            </a:r>
            <a:r>
              <a:rPr lang="ko-KR" altLang="en-US" sz="1200" dirty="0"/>
              <a:t> 기준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4260350" y="1179747"/>
            <a:ext cx="108234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 err="1"/>
              <a:t>실제값</a:t>
            </a:r>
            <a:r>
              <a:rPr lang="ko-KR" altLang="en-US" sz="1200" dirty="0"/>
              <a:t> 기준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4015654" y="2902093"/>
            <a:ext cx="68159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/>
              <a:t>실제 </a:t>
            </a:r>
            <a:r>
              <a:rPr lang="en-US" altLang="ko-KR" sz="1350" dirty="0"/>
              <a:t>P</a:t>
            </a:r>
          </a:p>
          <a:p>
            <a:r>
              <a:rPr lang="ko-KR" altLang="en-US" sz="1350" dirty="0"/>
              <a:t>실제</a:t>
            </a:r>
            <a:r>
              <a:rPr lang="en-US" altLang="ko-KR" sz="1350" dirty="0"/>
              <a:t> N</a:t>
            </a:r>
            <a:endParaRPr lang="ko-KR" altLang="en-US" sz="1350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3860225" y="3144467"/>
            <a:ext cx="1026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9914611">
            <a:off x="3899057" y="3463673"/>
            <a:ext cx="68159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/>
              <a:t>예측 </a:t>
            </a:r>
            <a:r>
              <a:rPr lang="en-US" altLang="ko-KR" sz="1350" dirty="0"/>
              <a:t>P</a:t>
            </a:r>
          </a:p>
          <a:p>
            <a:r>
              <a:rPr lang="ko-KR" altLang="en-US" sz="1350" dirty="0"/>
              <a:t>예측</a:t>
            </a:r>
            <a:r>
              <a:rPr lang="en-US" altLang="ko-KR" sz="1350" dirty="0"/>
              <a:t> N</a:t>
            </a:r>
            <a:endParaRPr lang="ko-KR" altLang="en-US" sz="1350" dirty="0"/>
          </a:p>
        </p:txBody>
      </p:sp>
      <p:cxnSp>
        <p:nvCxnSpPr>
          <p:cNvPr id="19" name="직선 연결선 18"/>
          <p:cNvCxnSpPr/>
          <p:nvPr/>
        </p:nvCxnSpPr>
        <p:spPr>
          <a:xfrm rot="19914611">
            <a:off x="3745270" y="3717588"/>
            <a:ext cx="1026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A5FE67B7-142D-4237-5BC7-56F7DB45724B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FF6340-1F7B-E1B0-F84C-CD3B206EEF40}"/>
                </a:ext>
              </a:extLst>
            </p:cNvPr>
            <p:cNvSpPr txBox="1"/>
            <p:nvPr/>
          </p:nvSpPr>
          <p:spPr>
            <a:xfrm>
              <a:off x="8164366" y="363541"/>
              <a:ext cx="1333869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1. Logistic Regression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1" name="내용 개체 틀 11">
              <a:extLst>
                <a:ext uri="{FF2B5EF4-FFF2-40B4-BE49-F238E27FC236}">
                  <a16:creationId xmlns:a16="http://schemas.microsoft.com/office/drawing/2014/main" id="{B73F5922-1B3C-E14F-F434-D2C4C4973120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■□□□□□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097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(Remind) AUC-ROC</a:t>
            </a:r>
            <a:endParaRPr lang="ko-KR" altLang="en-US" dirty="0"/>
          </a:p>
        </p:txBody>
      </p:sp>
      <p:sp>
        <p:nvSpPr>
          <p:cNvPr id="37" name="내용 개체 틀 5"/>
          <p:cNvSpPr>
            <a:spLocks noGrp="1"/>
          </p:cNvSpPr>
          <p:nvPr>
            <p:ph idx="4294967295"/>
          </p:nvPr>
        </p:nvSpPr>
        <p:spPr>
          <a:xfrm>
            <a:off x="1107456" y="1142283"/>
            <a:ext cx="5998369" cy="864394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164191"/>
              </a:buClr>
              <a:buFont typeface="Wingdings" panose="05000000000000000000" pitchFamily="2" charset="2"/>
              <a:buChar char="l"/>
            </a:pPr>
            <a:r>
              <a:rPr lang="en-US" altLang="ko-KR" sz="1350" dirty="0"/>
              <a:t>In the case of random classification, AUC = 0.5 </a:t>
            </a:r>
          </a:p>
          <a:p>
            <a:pPr>
              <a:buClr>
                <a:srgbClr val="164191"/>
              </a:buClr>
              <a:buFont typeface="Wingdings" panose="05000000000000000000" pitchFamily="2" charset="2"/>
              <a:buChar char="l"/>
            </a:pPr>
            <a:r>
              <a:rPr lang="en-US" altLang="ko-KR" sz="1350" dirty="0"/>
              <a:t>so, as the AUC value is greater than 0.5, the classifier is better </a:t>
            </a:r>
          </a:p>
          <a:p>
            <a:pPr>
              <a:buClr>
                <a:srgbClr val="164191"/>
              </a:buClr>
              <a:buFont typeface="Wingdings" panose="05000000000000000000" pitchFamily="2" charset="2"/>
              <a:buChar char="l"/>
            </a:pPr>
            <a:r>
              <a:rPr lang="en-US" altLang="ko-KR" sz="1350" dirty="0"/>
              <a:t>0.7–0.8 is considered fair; 0.8–0.9 good; &gt; 0.9 excellent</a:t>
            </a:r>
            <a:endParaRPr lang="ko-KR" altLang="en-US" sz="1350" dirty="0"/>
          </a:p>
        </p:txBody>
      </p:sp>
      <p:sp>
        <p:nvSpPr>
          <p:cNvPr id="36" name="직사각형 35"/>
          <p:cNvSpPr/>
          <p:nvPr/>
        </p:nvSpPr>
        <p:spPr>
          <a:xfrm>
            <a:off x="857250" y="642705"/>
            <a:ext cx="7429500" cy="459470"/>
          </a:xfrm>
          <a:prstGeom prst="rect">
            <a:avLst/>
          </a:prstGeom>
          <a:solidFill>
            <a:srgbClr val="0F4493"/>
          </a:solidFill>
          <a:ln>
            <a:noFill/>
          </a:ln>
          <a:effectLst/>
        </p:spPr>
        <p:txBody>
          <a:bodyPr lIns="27000" tIns="0" rIns="27000" bIns="0" rtlCol="0" anchor="ctr"/>
          <a:lstStyle/>
          <a:p>
            <a:pPr algn="ctr" defTabSz="685221">
              <a:defRPr/>
            </a:pPr>
            <a:r>
              <a:rPr lang="en-US" altLang="ko-KR" sz="15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AUC (</a:t>
            </a:r>
            <a:r>
              <a:rPr lang="en-US" altLang="ko-KR" sz="1500" b="1" dirty="0">
                <a:solidFill>
                  <a:srgbClr val="FFC000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5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rea </a:t>
            </a:r>
            <a:r>
              <a:rPr lang="en-US" altLang="ko-KR" sz="1500" b="1" dirty="0">
                <a:solidFill>
                  <a:srgbClr val="FFC000"/>
                </a:solidFill>
                <a:latin typeface="맑은 고딕"/>
                <a:ea typeface="맑은 고딕" panose="020B0503020000020004" pitchFamily="50" charset="-127"/>
              </a:rPr>
              <a:t>U</a:t>
            </a:r>
            <a:r>
              <a:rPr lang="en-US" altLang="ko-KR" sz="15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nder the </a:t>
            </a:r>
            <a:r>
              <a:rPr lang="en-US" altLang="ko-KR" sz="1500" b="1" dirty="0">
                <a:solidFill>
                  <a:srgbClr val="FFC000"/>
                </a:solidFill>
                <a:latin typeface="맑은 고딕"/>
                <a:ea typeface="맑은 고딕" panose="020B0503020000020004" pitchFamily="50" charset="-127"/>
              </a:rPr>
              <a:t>C</a:t>
            </a:r>
            <a:r>
              <a:rPr lang="en-US" altLang="ko-KR" sz="15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urve)</a:t>
            </a:r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872" y="2006676"/>
            <a:ext cx="2856889" cy="233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" name="직선 화살표 연결선 39"/>
          <p:cNvCxnSpPr>
            <a:cxnSpLocks/>
          </p:cNvCxnSpPr>
          <p:nvPr/>
        </p:nvCxnSpPr>
        <p:spPr>
          <a:xfrm flipH="1">
            <a:off x="2356680" y="2380222"/>
            <a:ext cx="1829081" cy="354806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06332" y="2242312"/>
            <a:ext cx="4113127" cy="16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ROC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곡선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모든 분류 임계값에서 분류 모델의 성능을 보여주는 그래프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AUC: ROC Graph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유효 면적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모든 분류 임계값에서 성능의 집계 측정값을 제공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x=0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일때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y=1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 경우 최적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점점 우측으로 갈수록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즉 특이도가 감소하는 속도에비해 얼마나 빠르게 민감도가 증가하는지를 나타냄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 </a:t>
            </a:r>
          </a:p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AUC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값은 전체적인 민감도와 특이도의 상관 관계를 보여줄 수 있어 매우 편리한 성능 측정 기준임 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AUC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는 분류 임계값 불변</a:t>
            </a:r>
            <a:endParaRPr lang="en-US" altLang="ko-KR" sz="9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14313" indent="-214313" defTabSz="685221">
              <a:buClr>
                <a:srgbClr val="16419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활용 방법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Predict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항목을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Predict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값이 아닌 다른 변동 값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결정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임계 값 등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으로 설정 후 </a:t>
            </a:r>
            <a:r>
              <a: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Binary Evaluate Function </a:t>
            </a:r>
            <a:r>
              <a:rPr lang="ko-KR" altLang="en-US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구동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363673" y="4034876"/>
            <a:ext cx="3971564" cy="30191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다양한 </a:t>
            </a: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Parameter </a:t>
            </a: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상황에서 모델 성능 측정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70463" y="2276348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Recall</a:t>
            </a:r>
            <a:endParaRPr lang="ko-KR" alt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427920"/>
            <a:ext cx="9143999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    Initial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: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모든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Negative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를 다 맞추는 케이스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.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이상적인 경우를 제외하면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모든 것을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Negative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로 하는 케이스이므로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1-TNR = 0, Threshold = 1</a:t>
            </a:r>
          </a:p>
          <a:p>
            <a:r>
              <a:rPr lang="ko-KR" altLang="en-US" sz="1050" b="1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    변화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: TNR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을 감소시킴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.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즉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1-TNR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이 증가하고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Threshold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는 조금씩 낮아지며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positive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케이스가 생기면서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Recall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증가</a:t>
            </a:r>
            <a:endParaRPr lang="en-US" altLang="ko-KR" sz="1050" dirty="0">
              <a:latin typeface="나눔손글씨 붓" panose="03060600000000000000" pitchFamily="66" charset="-127"/>
              <a:ea typeface="나눔손글씨 붓" panose="03060600000000000000" pitchFamily="66" charset="-127"/>
            </a:endParaRPr>
          </a:p>
          <a:p>
            <a:r>
              <a:rPr lang="ko-KR" altLang="en-US" sz="1050" b="1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    결론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: TNR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을 조금만 감소시켜도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(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즉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Negative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 예측을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Positive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예측으로 변경해가며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)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많은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Positive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케이스를 찾을 수 있는 모델이 좋은 모델</a:t>
            </a:r>
            <a:endParaRPr lang="en-US" altLang="ko-KR" sz="1050" dirty="0">
              <a:latin typeface="나눔손글씨 붓" panose="03060600000000000000" pitchFamily="66" charset="-127"/>
              <a:ea typeface="나눔손글씨 붓" panose="03060600000000000000" pitchFamily="66" charset="-127"/>
            </a:endParaRPr>
          </a:p>
          <a:p>
            <a:r>
              <a:rPr lang="ko-KR" altLang="en-US" sz="1050" b="1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    베스트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: TNR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이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1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이면서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(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즉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모든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Negative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를 다 맞추면서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) Recall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도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1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인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(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즉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,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모든 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Positive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를 다 맞추는</a:t>
            </a:r>
            <a:r>
              <a:rPr lang="en-US" altLang="ko-KR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) </a:t>
            </a:r>
            <a:r>
              <a:rPr lang="ko-KR" altLang="en-US" sz="1050" dirty="0">
                <a:latin typeface="나눔손글씨 붓" panose="03060600000000000000" pitchFamily="66" charset="-127"/>
                <a:ea typeface="나눔손글씨 붓" panose="03060600000000000000" pitchFamily="66" charset="-127"/>
              </a:rPr>
              <a:t>모델</a:t>
            </a:r>
            <a:endParaRPr lang="en-US" altLang="ko-KR" sz="1050" dirty="0">
              <a:latin typeface="나눔손글씨 붓" panose="03060600000000000000" pitchFamily="66" charset="-127"/>
              <a:ea typeface="나눔손글씨 붓" panose="03060600000000000000" pitchFamily="66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6415E347-8E98-59C4-BD07-B2AD728CE154}"/>
              </a:ext>
            </a:extLst>
          </p:cNvPr>
          <p:cNvSpPr/>
          <p:nvPr/>
        </p:nvSpPr>
        <p:spPr>
          <a:xfrm>
            <a:off x="503238" y="181293"/>
            <a:ext cx="1132190" cy="332509"/>
          </a:xfrm>
          <a:prstGeom prst="roundRect">
            <a:avLst>
              <a:gd name="adj" fmla="val 291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/>
              <a:t>Remind</a:t>
            </a:r>
            <a:endParaRPr lang="ko-KR" altLang="en-US" sz="1350" b="1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3820A74-B97E-5A94-336D-BE30A034742C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EB6BB6-A51A-ED34-BCCC-657C6C991B74}"/>
                </a:ext>
              </a:extLst>
            </p:cNvPr>
            <p:cNvSpPr txBox="1"/>
            <p:nvPr/>
          </p:nvSpPr>
          <p:spPr>
            <a:xfrm>
              <a:off x="8164366" y="363541"/>
              <a:ext cx="1333869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1. Logistic Regression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" name="내용 개체 틀 11">
              <a:extLst>
                <a:ext uri="{FF2B5EF4-FFF2-40B4-BE49-F238E27FC236}">
                  <a16:creationId xmlns:a16="http://schemas.microsoft.com/office/drawing/2014/main" id="{18E7D54E-3BD7-9AF8-46CD-3D82B3894788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■□□□□□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4821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1293141" y="567616"/>
            <a:ext cx="6590335" cy="4077443"/>
          </a:xfrm>
        </p:spPr>
        <p:txBody>
          <a:bodyPr/>
          <a:lstStyle/>
          <a:p>
            <a:r>
              <a:rPr lang="ko-KR" altLang="en-US" dirty="0"/>
              <a:t>문제 상황  </a:t>
            </a:r>
            <a:r>
              <a:rPr lang="en-US" altLang="ko-KR" dirty="0"/>
              <a:t>(fish.csv)</a:t>
            </a:r>
            <a:endParaRPr lang="ko-KR" altLang="en-US" dirty="0"/>
          </a:p>
          <a:p>
            <a:pPr lvl="1"/>
            <a:r>
              <a:rPr lang="ko-KR" altLang="en-US" dirty="0"/>
              <a:t>상수동에서 </a:t>
            </a:r>
            <a:r>
              <a:rPr lang="ko-KR" altLang="en-US" dirty="0" err="1"/>
              <a:t>도미횟집을</a:t>
            </a:r>
            <a:r>
              <a:rPr lang="ko-KR" altLang="en-US" dirty="0"/>
              <a:t> 하는 홍준이는 </a:t>
            </a:r>
            <a:br>
              <a:rPr lang="ko-KR" altLang="en-US" dirty="0"/>
            </a:br>
            <a:r>
              <a:rPr lang="ko-KR" altLang="en-US" dirty="0"/>
              <a:t>항구에서 도미를 구매하고 있다</a:t>
            </a:r>
          </a:p>
          <a:p>
            <a:pPr lvl="1"/>
            <a:r>
              <a:rPr lang="ko-KR" altLang="en-US" dirty="0"/>
              <a:t>물고기의 모양</a:t>
            </a:r>
            <a:r>
              <a:rPr lang="en-US" altLang="ko-KR" dirty="0"/>
              <a:t>(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/>
              <a:t>무게 등</a:t>
            </a:r>
            <a:r>
              <a:rPr lang="en-US" altLang="ko-KR" dirty="0"/>
              <a:t>)</a:t>
            </a:r>
            <a:r>
              <a:rPr lang="ko-KR" altLang="en-US" dirty="0"/>
              <a:t>을 이용하여 </a:t>
            </a:r>
            <a:br>
              <a:rPr lang="ko-KR" altLang="en-US" dirty="0"/>
            </a:br>
            <a:r>
              <a:rPr lang="ko-KR" altLang="en-US" dirty="0"/>
              <a:t>물고기가  도미인지 여부를 가려내어</a:t>
            </a:r>
            <a:br>
              <a:rPr lang="ko-KR" altLang="en-US" dirty="0"/>
            </a:br>
            <a:r>
              <a:rPr lang="ko-KR" altLang="en-US" dirty="0"/>
              <a:t>종업원이 </a:t>
            </a:r>
            <a:r>
              <a:rPr lang="ko-KR" altLang="en-US" dirty="0" err="1"/>
              <a:t>도미만을</a:t>
            </a:r>
            <a:r>
              <a:rPr lang="ko-KR" altLang="en-US" dirty="0"/>
              <a:t> 구매하게 하고 싶다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  <a:p>
            <a:r>
              <a:rPr lang="en-US" altLang="ko-KR" dirty="0"/>
              <a:t>Goal: Fish </a:t>
            </a:r>
            <a:r>
              <a:rPr lang="ko-KR" altLang="en-US" dirty="0"/>
              <a:t>데이터에서  </a:t>
            </a:r>
            <a:r>
              <a:rPr lang="en-US" altLang="ko-KR" dirty="0"/>
              <a:t>“Bream” </a:t>
            </a:r>
            <a:r>
              <a:rPr lang="ko-KR" altLang="en-US" dirty="0"/>
              <a:t>인지 아닌지를 판단하는 </a:t>
            </a:r>
            <a:br>
              <a:rPr lang="ko-KR" altLang="en-US" dirty="0"/>
            </a:br>
            <a:r>
              <a:rPr lang="en-US" altLang="ko-KR" dirty="0"/>
              <a:t>Logistic Regression </a:t>
            </a:r>
            <a:r>
              <a:rPr lang="ko-KR" altLang="en-US" dirty="0"/>
              <a:t>모델 개발 </a:t>
            </a:r>
            <a:r>
              <a:rPr lang="en-US" altLang="ko-KR" sz="1200" dirty="0"/>
              <a:t>(Threshold </a:t>
            </a:r>
            <a:r>
              <a:rPr lang="ko-KR" altLang="en-US" sz="1200" dirty="0"/>
              <a:t>는 </a:t>
            </a:r>
            <a:r>
              <a:rPr lang="en-US" altLang="ko-KR" sz="1200" dirty="0"/>
              <a:t>ROC Curve </a:t>
            </a:r>
            <a:r>
              <a:rPr lang="ko-KR" altLang="en-US" sz="1200" dirty="0"/>
              <a:t>에서 추천하는 값으로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나머지 </a:t>
            </a:r>
            <a:r>
              <a:rPr lang="en-US" altLang="ko-KR" sz="1200" dirty="0"/>
              <a:t>Setting </a:t>
            </a:r>
            <a:r>
              <a:rPr lang="ko-KR" altLang="en-US" sz="1200" dirty="0"/>
              <a:t>값은 모두 </a:t>
            </a:r>
            <a:r>
              <a:rPr lang="en-US" altLang="ko-KR" sz="1200" dirty="0"/>
              <a:t>Default </a:t>
            </a:r>
            <a:r>
              <a:rPr lang="ko-KR" altLang="en-US" sz="1200" dirty="0"/>
              <a:t>값 사용할 것</a:t>
            </a:r>
            <a:endParaRPr lang="ko-KR" altLang="en-US" dirty="0"/>
          </a:p>
          <a:p>
            <a:pPr lvl="1"/>
            <a:r>
              <a:rPr lang="en-US" altLang="ko-KR" dirty="0"/>
              <a:t>Height, Width, Weight </a:t>
            </a:r>
            <a:r>
              <a:rPr lang="ko-KR" altLang="en-US" dirty="0"/>
              <a:t>이용</a:t>
            </a:r>
            <a:endParaRPr lang="en-US" altLang="ko-KR" dirty="0"/>
          </a:p>
          <a:p>
            <a:pPr lvl="1"/>
            <a:r>
              <a:rPr lang="en-US" altLang="ko-KR" dirty="0"/>
              <a:t>Train, Test </a:t>
            </a:r>
            <a:r>
              <a:rPr lang="ko-KR" altLang="en-US" dirty="0"/>
              <a:t>는 </a:t>
            </a:r>
            <a:r>
              <a:rPr lang="en-US" altLang="ko-KR" dirty="0"/>
              <a:t>7:3</a:t>
            </a:r>
            <a:r>
              <a:rPr lang="ko-KR" altLang="en-US" dirty="0"/>
              <a:t>으로 </a:t>
            </a:r>
            <a:r>
              <a:rPr lang="en-US" altLang="ko-KR" dirty="0"/>
              <a:t>Random Split </a:t>
            </a:r>
          </a:p>
          <a:p>
            <a:pPr lvl="1"/>
            <a:r>
              <a:rPr lang="en-US" altLang="ko-KR" dirty="0"/>
              <a:t>Logistic Regression</a:t>
            </a:r>
            <a:r>
              <a:rPr lang="ko-KR" altLang="en-US" dirty="0"/>
              <a:t>과 </a:t>
            </a:r>
            <a:r>
              <a:rPr lang="en-US" altLang="ko-KR" dirty="0"/>
              <a:t>Split Data </a:t>
            </a:r>
            <a:r>
              <a:rPr lang="ko-KR" altLang="en-US" dirty="0"/>
              <a:t>함수의</a:t>
            </a:r>
            <a:endParaRPr lang="en-US" altLang="ko-KR" dirty="0"/>
          </a:p>
          <a:p>
            <a:pPr marL="135707" lvl="1" indent="0">
              <a:buNone/>
            </a:pPr>
            <a:r>
              <a:rPr lang="en-US" altLang="ko-KR" dirty="0"/>
              <a:t>   Seed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1212</a:t>
            </a:r>
            <a:r>
              <a:rPr lang="ko-KR" altLang="en-US" dirty="0"/>
              <a:t>로 세팅한다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Recall </a:t>
            </a:r>
            <a:r>
              <a:rPr lang="ko-KR" altLang="en-US" dirty="0"/>
              <a:t>을 소수점 셋째자리에서 반올림하여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구하라 </a:t>
            </a:r>
            <a:r>
              <a:rPr lang="en-US" altLang="ko-KR" dirty="0"/>
              <a:t>(ex. 0.45)</a:t>
            </a: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도미 구매하기</a:t>
            </a:r>
            <a:r>
              <a:rPr lang="en-US" altLang="ko-KR" dirty="0"/>
              <a:t>: </a:t>
            </a:r>
            <a:r>
              <a:rPr lang="ko-KR" altLang="en-US" dirty="0"/>
              <a:t>문제 설명</a:t>
            </a:r>
          </a:p>
        </p:txBody>
      </p:sp>
      <p:pic>
        <p:nvPicPr>
          <p:cNvPr id="22" name="그림 21" descr="tuna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801" y="582733"/>
            <a:ext cx="1373233" cy="59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그림 22" descr="관련 이미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79696" y="1295120"/>
            <a:ext cx="1229296" cy="56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 descr="고등어에 대한 이미지 검색결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39925" y="2018748"/>
            <a:ext cx="972109" cy="29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6246724" y="1372437"/>
            <a:ext cx="70974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Roach</a:t>
            </a:r>
            <a:endParaRPr lang="ko-KR" altLang="en-US" sz="15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95276" y="669862"/>
            <a:ext cx="7334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Bream</a:t>
            </a:r>
          </a:p>
          <a:p>
            <a:pPr algn="ctr"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(1)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46725" y="1993506"/>
            <a:ext cx="6751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Smelt</a:t>
            </a:r>
            <a:endParaRPr lang="ko-KR" altLang="en-US" sz="15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8" name="Picture 4" descr="fish figure에 대한 이미지 검색결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282" y="3169526"/>
            <a:ext cx="1903712" cy="90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직선 연결선 28"/>
          <p:cNvCxnSpPr/>
          <p:nvPr/>
        </p:nvCxnSpPr>
        <p:spPr>
          <a:xfrm>
            <a:off x="6060294" y="3169526"/>
            <a:ext cx="1795700" cy="0"/>
          </a:xfrm>
          <a:prstGeom prst="line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non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6542715" y="2796003"/>
            <a:ext cx="7665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Height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5790264" y="3344561"/>
            <a:ext cx="0" cy="453223"/>
          </a:xfrm>
          <a:prstGeom prst="line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none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4967961" y="3467297"/>
            <a:ext cx="7072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Width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3" name="Picture 6" descr="scale에 대한 이미지 검색결과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830" y="4120622"/>
            <a:ext cx="635553" cy="41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5629106" y="4180785"/>
            <a:ext cx="8048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Weight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31598" y="1497760"/>
            <a:ext cx="11293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221">
              <a:defRPr/>
            </a:pPr>
            <a:r>
              <a:rPr lang="en-US" altLang="ko-KR" sz="15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Not Bream</a:t>
            </a:r>
          </a:p>
          <a:p>
            <a:pPr algn="ctr" defTabSz="685221">
              <a:defRPr/>
            </a:pPr>
            <a:r>
              <a:rPr lang="en-US" altLang="ko-KR" sz="15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(0)</a:t>
            </a:r>
            <a:endParaRPr lang="ko-KR" altLang="en-US" sz="15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왼쪽 중괄호 35"/>
          <p:cNvSpPr/>
          <p:nvPr/>
        </p:nvSpPr>
        <p:spPr>
          <a:xfrm>
            <a:off x="6030155" y="1471358"/>
            <a:ext cx="216570" cy="741648"/>
          </a:xfrm>
          <a:prstGeom prst="leftBrace">
            <a:avLst/>
          </a:prstGeom>
          <a:noFill/>
          <a:ln w="6350" cap="flat" cmpd="sng" algn="ctr">
            <a:solidFill>
              <a:srgbClr val="FF0000"/>
            </a:solidFill>
            <a:prstDash val="solid"/>
            <a:tailEnd type="none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1198666" y="554318"/>
            <a:ext cx="205980" cy="205980"/>
            <a:chOff x="459196" y="974136"/>
            <a:chExt cx="274640" cy="274640"/>
          </a:xfrm>
        </p:grpSpPr>
        <p:sp>
          <p:nvSpPr>
            <p:cNvPr id="40" name="타원 39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1" name="L 도형 40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198666" y="2460728"/>
            <a:ext cx="205980" cy="205980"/>
            <a:chOff x="459196" y="974136"/>
            <a:chExt cx="274640" cy="274640"/>
          </a:xfrm>
        </p:grpSpPr>
        <p:sp>
          <p:nvSpPr>
            <p:cNvPr id="43" name="타원 42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4" name="L 도형 43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198666" y="4191409"/>
            <a:ext cx="205980" cy="205980"/>
            <a:chOff x="459196" y="974136"/>
            <a:chExt cx="274640" cy="274640"/>
          </a:xfrm>
        </p:grpSpPr>
        <p:sp>
          <p:nvSpPr>
            <p:cNvPr id="48" name="타원 47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9" name="L 도형 48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6F3D2D-850B-0EF8-262D-FAEA3D994CD8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20C248-40B1-5410-A833-1BD9C17D4B8B}"/>
                </a:ext>
              </a:extLst>
            </p:cNvPr>
            <p:cNvSpPr txBox="1"/>
            <p:nvPr/>
          </p:nvSpPr>
          <p:spPr>
            <a:xfrm>
              <a:off x="8164366" y="363541"/>
              <a:ext cx="1333869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1. Logistic Regression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" name="내용 개체 틀 11">
              <a:extLst>
                <a:ext uri="{FF2B5EF4-FFF2-40B4-BE49-F238E27FC236}">
                  <a16:creationId xmlns:a16="http://schemas.microsoft.com/office/drawing/2014/main" id="{160B14E3-E0E4-44C1-2FD7-E7EB5330AC7E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■□□□□□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8547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k-Nearest Neighbor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1121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540150" y="681553"/>
            <a:ext cx="8352330" cy="4077443"/>
          </a:xfrm>
        </p:spPr>
        <p:txBody>
          <a:bodyPr/>
          <a:lstStyle/>
          <a:p>
            <a:r>
              <a:rPr lang="en-US" altLang="ko-KR" dirty="0"/>
              <a:t>Test </a:t>
            </a:r>
            <a:r>
              <a:rPr lang="ko-KR" altLang="en-US" dirty="0"/>
              <a:t>데이터와 가까운 </a:t>
            </a:r>
            <a:r>
              <a:rPr lang="en-US" altLang="ko-KR" dirty="0"/>
              <a:t>k</a:t>
            </a:r>
            <a:r>
              <a:rPr lang="ko-KR" altLang="en-US" dirty="0"/>
              <a:t>개의 </a:t>
            </a:r>
            <a:r>
              <a:rPr lang="en-US" altLang="ko-KR" dirty="0"/>
              <a:t>Train </a:t>
            </a:r>
            <a:r>
              <a:rPr lang="ko-KR" altLang="en-US" dirty="0"/>
              <a:t>데이터의 </a:t>
            </a:r>
            <a:r>
              <a:rPr lang="en-US" altLang="ko-KR" dirty="0"/>
              <a:t>y</a:t>
            </a:r>
            <a:r>
              <a:rPr lang="ko-KR" altLang="en-US" dirty="0"/>
              <a:t>값들을 비교하여 가장 많은 </a:t>
            </a:r>
            <a:r>
              <a:rPr lang="en-US" altLang="ko-KR" dirty="0"/>
              <a:t>class</a:t>
            </a:r>
            <a:r>
              <a:rPr lang="ko-KR" altLang="en-US" dirty="0"/>
              <a:t>로 예측하는 방법</a:t>
            </a:r>
          </a:p>
          <a:p>
            <a:pPr lvl="1"/>
            <a:r>
              <a:rPr lang="en-US" altLang="ko-KR" dirty="0"/>
              <a:t>N</a:t>
            </a:r>
            <a:r>
              <a:rPr lang="en-US" altLang="ko-KR" baseline="-25000" dirty="0"/>
              <a:t>x</a:t>
            </a:r>
            <a:r>
              <a:rPr lang="ko-KR" altLang="en-US" dirty="0"/>
              <a:t>를 </a:t>
            </a:r>
            <a:r>
              <a:rPr lang="en-US" altLang="ko-KR" dirty="0"/>
              <a:t>x</a:t>
            </a:r>
            <a:r>
              <a:rPr lang="ko-KR" altLang="en-US" dirty="0"/>
              <a:t>와 가까운 </a:t>
            </a:r>
            <a:r>
              <a:rPr lang="en-US" altLang="ko-KR" dirty="0"/>
              <a:t>k</a:t>
            </a:r>
            <a:r>
              <a:rPr lang="ko-KR" altLang="en-US" dirty="0"/>
              <a:t>개의 </a:t>
            </a:r>
            <a:r>
              <a:rPr lang="en-US" altLang="ko-KR" dirty="0"/>
              <a:t>Train </a:t>
            </a:r>
            <a:r>
              <a:rPr lang="ko-KR" altLang="en-US" dirty="0"/>
              <a:t>데이터들의 집합이라고 할 때 </a:t>
            </a:r>
            <a:endParaRPr lang="en-US" altLang="ko-KR" dirty="0"/>
          </a:p>
          <a:p>
            <a:pPr marL="135707" lvl="1" indent="0">
              <a:buNone/>
            </a:pPr>
            <a:r>
              <a:rPr lang="en-US" altLang="ko-KR" dirty="0"/>
              <a:t>  (</a:t>
            </a:r>
            <a:r>
              <a:rPr lang="ko-KR" altLang="en-US" dirty="0"/>
              <a:t>이를 </a:t>
            </a:r>
            <a:r>
              <a:rPr lang="en-US" altLang="ko-KR" dirty="0"/>
              <a:t>x</a:t>
            </a:r>
            <a:r>
              <a:rPr lang="ko-KR" altLang="en-US" dirty="0"/>
              <a:t>의 </a:t>
            </a:r>
            <a:r>
              <a:rPr lang="en-US" altLang="ko-KR" dirty="0"/>
              <a:t>k-</a:t>
            </a:r>
            <a:r>
              <a:rPr lang="ko-KR" altLang="en-US" dirty="0"/>
              <a:t>근방이라고 부름</a:t>
            </a:r>
            <a:r>
              <a:rPr lang="en-US" altLang="ko-KR" dirty="0"/>
              <a:t>) </a:t>
            </a:r>
          </a:p>
          <a:p>
            <a:pPr marL="135707" lvl="1" indent="0">
              <a:buNone/>
            </a:pPr>
            <a:endParaRPr lang="en-US" altLang="ko-KR" dirty="0"/>
          </a:p>
          <a:p>
            <a:pPr marL="135707" lvl="1" indent="0">
              <a:buNone/>
            </a:pPr>
            <a:r>
              <a:rPr lang="en-US" altLang="ko-KR" dirty="0"/>
              <a:t>   </a:t>
            </a:r>
            <a:r>
              <a:rPr lang="ko-KR" altLang="en-US" dirty="0" err="1"/>
              <a:t>예측값</a:t>
            </a:r>
            <a:r>
              <a:rPr lang="ko-KR" alt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는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k-NN (k-Nearest Neighbor)(1/3)</a:t>
            </a:r>
            <a:endParaRPr lang="ko-KR" altLang="en-US" dirty="0"/>
          </a:p>
        </p:txBody>
      </p:sp>
      <p:grpSp>
        <p:nvGrpSpPr>
          <p:cNvPr id="39" name="그룹 38"/>
          <p:cNvGrpSpPr/>
          <p:nvPr/>
        </p:nvGrpSpPr>
        <p:grpSpPr>
          <a:xfrm>
            <a:off x="441584" y="670445"/>
            <a:ext cx="205980" cy="205980"/>
            <a:chOff x="459196" y="974136"/>
            <a:chExt cx="274640" cy="274640"/>
          </a:xfrm>
        </p:grpSpPr>
        <p:sp>
          <p:nvSpPr>
            <p:cNvPr id="40" name="타원 39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1" name="L 도형 40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45" name="개체 44"/>
          <p:cNvGraphicFramePr>
            <a:graphicFrameLocks noChangeAspect="1"/>
          </p:cNvGraphicFramePr>
          <p:nvPr/>
        </p:nvGraphicFramePr>
        <p:xfrm>
          <a:off x="2812647" y="1852692"/>
          <a:ext cx="2214563" cy="47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777680" imgH="380880" progId="Equation.3">
                  <p:embed/>
                </p:oleObj>
              </mc:Choice>
              <mc:Fallback>
                <p:oleObj name="수식" r:id="rId2" imgW="1777680" imgH="380880" progId="Equation.3">
                  <p:embed/>
                  <p:pic>
                    <p:nvPicPr>
                      <p:cNvPr id="45" name="개체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647" y="1852692"/>
                        <a:ext cx="2214563" cy="47506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668" y="2967795"/>
            <a:ext cx="1400768" cy="126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3036173" y="2967794"/>
            <a:ext cx="4590029" cy="1292662"/>
          </a:xfrm>
          <a:prstGeom prst="rect">
            <a:avLst/>
          </a:prstGeom>
          <a:noFill/>
          <a:ln>
            <a:solidFill>
              <a:srgbClr val="D87D3A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defTabSz="685221">
              <a:defRPr/>
            </a:pP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개의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항목으로 분류되는 문제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b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초록색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975" dirty="0">
                <a:solidFill>
                  <a:srgbClr val="005DA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파랑 네모의 항목이나 </a:t>
            </a:r>
            <a:r>
              <a:rPr lang="ko-KR" altLang="en-US" sz="975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 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빨강 삼각형의 항목으로 분류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defTabSz="685221">
              <a:defRPr/>
            </a:pPr>
            <a:endParaRPr lang="en-US" altLang="ko-KR" sz="975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685221">
              <a:defRPr/>
            </a:pP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만약 “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 = 3” (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실선으로 그려진 원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ko-KR" altLang="en-US" sz="975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항목으로 할당된다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defTabSz="685221">
              <a:defRPr/>
            </a:pP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왜냐하면 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삼각형과 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사각형만이 안쪽 원 안에 있기 때문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defTabSz="685221">
              <a:defRPr/>
            </a:pPr>
            <a:endParaRPr lang="en-US" altLang="ko-KR" sz="975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685221">
              <a:defRPr/>
            </a:pP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만약 “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 = 5” (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점선으로 그려진 원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ko-KR" altLang="en-US" sz="975" dirty="0">
                <a:solidFill>
                  <a:srgbClr val="005DA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항목으로 분류된다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defTabSz="685221">
              <a:defRPr/>
            </a:pP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바깥쪽 원 안에 있는 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사각형 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vs. 2</a:t>
            </a:r>
            <a:r>
              <a:rPr lang="ko-KR" altLang="en-US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삼각형</a:t>
            </a:r>
            <a:r>
              <a:rPr lang="en-US" altLang="ko-KR" sz="975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</a:t>
            </a:r>
            <a:endParaRPr lang="ko-KR" altLang="en-US" sz="975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43088" y="4263939"/>
            <a:ext cx="30572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동점을 막기 위해 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값은 홀수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(odd number)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정한다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63588" y="2406878"/>
            <a:ext cx="70242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221" latinLnBrk="0">
              <a:defRPr/>
            </a:pPr>
            <a:r>
              <a:rPr lang="en-US" altLang="ko-KR" i="1" kern="0" dirty="0">
                <a:solidFill>
                  <a:srgbClr val="FF0000"/>
                </a:solidFill>
                <a:latin typeface="맑은 고딕"/>
                <a:ea typeface="맑은 고딕" panose="020B0503020000020004" pitchFamily="50" charset="-127"/>
              </a:rPr>
              <a:t>“Tell me who your neighbors are, and I’ll tell you who you are” </a:t>
            </a:r>
            <a:endParaRPr lang="ko-KR" altLang="en-US" kern="0" dirty="0">
              <a:solidFill>
                <a:srgbClr val="FF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19" name="TextBox 18"/>
            <p:cNvSpPr txBox="1"/>
            <p:nvPr/>
          </p:nvSpPr>
          <p:spPr>
            <a:xfrm>
              <a:off x="8121029" y="363541"/>
              <a:ext cx="137720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2. k-Nearest Neighbor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0" name="내용 개체 틀 11"/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□■□□□□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55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k-NN</a:t>
            </a:r>
          </a:p>
          <a:p>
            <a:pPr lvl="1"/>
            <a:r>
              <a:rPr lang="en-US" altLang="ko-KR" dirty="0"/>
              <a:t>k-</a:t>
            </a:r>
            <a:r>
              <a:rPr lang="ko-KR" altLang="en-US" dirty="0"/>
              <a:t>최근접 이웃 알고리즘</a:t>
            </a:r>
            <a:r>
              <a:rPr lang="en-US" altLang="ko-KR" dirty="0"/>
              <a:t>(</a:t>
            </a:r>
            <a:r>
              <a:rPr lang="ko-KR" altLang="en-US" dirty="0"/>
              <a:t>또는 줄여서 </a:t>
            </a:r>
            <a:r>
              <a:rPr lang="en-US" altLang="ko-KR" dirty="0"/>
              <a:t>kNN)</a:t>
            </a:r>
            <a:r>
              <a:rPr lang="ko-KR" altLang="en-US" dirty="0"/>
              <a:t>은 </a:t>
            </a:r>
            <a:br>
              <a:rPr lang="en-US" altLang="ko-KR" dirty="0"/>
            </a:br>
            <a:r>
              <a:rPr lang="ko-KR" altLang="en-US" b="1" dirty="0">
                <a:solidFill>
                  <a:srgbClr val="164191"/>
                </a:solidFill>
              </a:rPr>
              <a:t>분류나 회귀</a:t>
            </a:r>
            <a:r>
              <a:rPr lang="ko-KR" altLang="en-US" dirty="0"/>
              <a:t>에 사용되는 </a:t>
            </a:r>
            <a:r>
              <a:rPr lang="ko-KR" altLang="en-US" u="sng" dirty="0" err="1"/>
              <a:t>비모수</a:t>
            </a:r>
            <a:r>
              <a:rPr lang="ko-KR" altLang="en-US" u="sng" dirty="0"/>
              <a:t> 방식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두 경우 모두 입력이 특징 공간 내 </a:t>
            </a:r>
            <a:r>
              <a:rPr lang="en-US" altLang="ko-KR" dirty="0"/>
              <a:t>k</a:t>
            </a:r>
            <a:r>
              <a:rPr lang="ko-KR" altLang="en-US" dirty="0"/>
              <a:t>개의 </a:t>
            </a:r>
            <a:br>
              <a:rPr lang="en-US" altLang="ko-KR" dirty="0"/>
            </a:br>
            <a:r>
              <a:rPr lang="ko-KR" altLang="en-US" dirty="0"/>
              <a:t>가장 가까운 훈련 데이터로 구성되어 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k-NN (k-Nearest Neighbor)(2/3)</a:t>
            </a:r>
            <a:endParaRPr lang="ko-KR" altLang="en-US" dirty="0"/>
          </a:p>
        </p:txBody>
      </p:sp>
      <p:grpSp>
        <p:nvGrpSpPr>
          <p:cNvPr id="39" name="그룹 38"/>
          <p:cNvGrpSpPr/>
          <p:nvPr/>
        </p:nvGrpSpPr>
        <p:grpSpPr>
          <a:xfrm>
            <a:off x="441584" y="668259"/>
            <a:ext cx="205980" cy="205980"/>
            <a:chOff x="459196" y="974136"/>
            <a:chExt cx="274640" cy="274640"/>
          </a:xfrm>
        </p:grpSpPr>
        <p:sp>
          <p:nvSpPr>
            <p:cNvPr id="40" name="타원 39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1" name="L 도형 40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5" name="개체 14"/>
          <p:cNvGraphicFramePr>
            <a:graphicFrameLocks noChangeAspect="1"/>
          </p:cNvGraphicFramePr>
          <p:nvPr/>
        </p:nvGraphicFramePr>
        <p:xfrm>
          <a:off x="6006704" y="816769"/>
          <a:ext cx="20097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3" imgW="1879560" imgH="939600" progId="Equation.3">
                  <p:embed/>
                </p:oleObj>
              </mc:Choice>
              <mc:Fallback>
                <p:oleObj name="수식" r:id="rId3" imgW="1879560" imgH="939600" progId="Equation.3">
                  <p:embed/>
                  <p:pic>
                    <p:nvPicPr>
                      <p:cNvPr id="15" name="개체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6704" y="816769"/>
                        <a:ext cx="2009775" cy="10048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00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62"/>
          <a:stretch/>
        </p:blipFill>
        <p:spPr bwMode="auto">
          <a:xfrm>
            <a:off x="1504332" y="2700973"/>
            <a:ext cx="6165218" cy="137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852843" y="4090922"/>
            <a:ext cx="13548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데이터 집합</a:t>
            </a: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135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83456" y="4090922"/>
            <a:ext cx="16033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&lt;1NN </a:t>
            </a: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분류 지도</a:t>
            </a: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135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06556" y="4090922"/>
            <a:ext cx="160332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&lt;5NN </a:t>
            </a: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분류 지도</a:t>
            </a: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135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4637" y="2289166"/>
            <a:ext cx="4411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/>
              <a:t>Ex.)</a:t>
            </a:r>
            <a:endParaRPr lang="ko-KR" altLang="en-US" sz="1350" dirty="0"/>
          </a:p>
        </p:txBody>
      </p:sp>
      <p:sp>
        <p:nvSpPr>
          <p:cNvPr id="5" name="직사각형 4"/>
          <p:cNvSpPr/>
          <p:nvPr/>
        </p:nvSpPr>
        <p:spPr>
          <a:xfrm>
            <a:off x="2044411" y="1415375"/>
            <a:ext cx="387321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900" b="1" dirty="0" err="1">
                <a:solidFill>
                  <a:srgbClr val="222222"/>
                </a:solidFill>
                <a:latin typeface="Apple SD Gothic Neo"/>
              </a:rPr>
              <a:t>비모수</a:t>
            </a:r>
            <a:r>
              <a:rPr lang="ko-KR" altLang="en-US" sz="900" b="1" dirty="0">
                <a:solidFill>
                  <a:srgbClr val="222222"/>
                </a:solidFill>
                <a:latin typeface="Apple SD Gothic Neo"/>
              </a:rPr>
              <a:t> 방식</a:t>
            </a:r>
            <a:r>
              <a:rPr lang="ko-KR" altLang="en-US" sz="900" dirty="0">
                <a:solidFill>
                  <a:srgbClr val="222222"/>
                </a:solidFill>
                <a:latin typeface="Apple SD Gothic Neo"/>
              </a:rPr>
              <a:t>은 </a:t>
            </a:r>
            <a:r>
              <a:rPr lang="ko-KR" altLang="en-US" sz="900" dirty="0" err="1">
                <a:solidFill>
                  <a:srgbClr val="222222"/>
                </a:solidFill>
                <a:latin typeface="Apple SD Gothic Neo"/>
              </a:rPr>
              <a:t>모수에</a:t>
            </a:r>
            <a:r>
              <a:rPr lang="ko-KR" altLang="en-US" sz="900" dirty="0">
                <a:solidFill>
                  <a:srgbClr val="222222"/>
                </a:solidFill>
                <a:latin typeface="Apple SD Gothic Neo"/>
              </a:rPr>
              <a:t> 대한 가정을 전제로 하지 않고 모집단의 형태와 관계 없이 주어진 데이터에서 직접 확률을 계산하여 분석하는 방법</a:t>
            </a:r>
            <a:endParaRPr lang="ko-KR" altLang="en-US" sz="9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0A08096-7F5C-BC89-9F9E-B20944C49297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9CEB08-4E45-91B3-E7DA-9E06EE53D0A7}"/>
                </a:ext>
              </a:extLst>
            </p:cNvPr>
            <p:cNvSpPr txBox="1"/>
            <p:nvPr/>
          </p:nvSpPr>
          <p:spPr>
            <a:xfrm>
              <a:off x="8121029" y="363541"/>
              <a:ext cx="137720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2. k-Nearest Neighbor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0" name="내용 개체 틀 11">
              <a:extLst>
                <a:ext uri="{FF2B5EF4-FFF2-40B4-BE49-F238E27FC236}">
                  <a16:creationId xmlns:a16="http://schemas.microsoft.com/office/drawing/2014/main" id="{E7AD3FAB-2331-BECA-9130-549694A7320E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□■□□□□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72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Output</a:t>
            </a:r>
          </a:p>
          <a:p>
            <a:pPr lvl="1"/>
            <a:r>
              <a:rPr lang="ko-KR" altLang="en-US" dirty="0"/>
              <a:t>분류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객체는 </a:t>
            </a:r>
            <a:r>
              <a:rPr lang="en-US" altLang="ko-KR" dirty="0"/>
              <a:t>k</a:t>
            </a:r>
            <a:r>
              <a:rPr lang="ko-KR" altLang="en-US" dirty="0"/>
              <a:t>개의 최근접 이웃 사이에서 가장 공통적인 항목에 할당되는 객체로 과반수 의결에 의해 분류 </a:t>
            </a:r>
            <a:r>
              <a:rPr lang="en-US" altLang="ko-KR" dirty="0"/>
              <a:t>(k</a:t>
            </a:r>
            <a:r>
              <a:rPr lang="ko-KR" altLang="en-US" dirty="0"/>
              <a:t>는 양의 정수이며 통상적으로 작은 수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만약 </a:t>
            </a:r>
            <a:r>
              <a:rPr lang="en-US" altLang="ko-KR" dirty="0"/>
              <a:t>k = 1 </a:t>
            </a:r>
            <a:r>
              <a:rPr lang="ko-KR" altLang="en-US" dirty="0"/>
              <a:t>이라면 객체는 단순히 하나의 최근접 이웃의 항목에 할당된다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회귀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k-NN </a:t>
            </a:r>
            <a:r>
              <a:rPr lang="ko-KR" altLang="en-US" dirty="0"/>
              <a:t>회귀에서 출력은 객체의 특성 값이다</a:t>
            </a:r>
            <a:r>
              <a:rPr lang="en-US" altLang="ko-KR" dirty="0"/>
              <a:t>. </a:t>
            </a:r>
            <a:r>
              <a:rPr lang="ko-KR" altLang="en-US" dirty="0"/>
              <a:t>이 값은 </a:t>
            </a:r>
            <a:r>
              <a:rPr lang="en-US" altLang="ko-KR" dirty="0"/>
              <a:t>k</a:t>
            </a:r>
            <a:r>
              <a:rPr lang="ko-KR" altLang="en-US" dirty="0"/>
              <a:t>개의 최근접 이웃이 가진 값의 평균이다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거리 기준</a:t>
            </a:r>
            <a:r>
              <a:rPr lang="en-US" altLang="ko-KR" dirty="0"/>
              <a:t>: Minkowski Distance  with parameter </a:t>
            </a:r>
            <a:r>
              <a:rPr lang="en-US" altLang="ko-KR" i="1" dirty="0"/>
              <a:t>p </a:t>
            </a:r>
            <a:r>
              <a:rPr lang="en-US" altLang="ko-KR" dirty="0"/>
              <a:t>(Default </a:t>
            </a:r>
            <a:r>
              <a:rPr lang="en-US" altLang="ko-KR" i="1" dirty="0"/>
              <a:t>p</a:t>
            </a:r>
            <a:r>
              <a:rPr lang="en-US" altLang="ko-KR" dirty="0"/>
              <a:t>=2), which can be considered as a generalization of both the Euclidean distance and the Manhattan distance.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K-NN (k-Nearest Neighbor)(3/3)</a:t>
            </a:r>
            <a:endParaRPr lang="ko-KR" altLang="en-US" dirty="0"/>
          </a:p>
        </p:txBody>
      </p:sp>
      <p:grpSp>
        <p:nvGrpSpPr>
          <p:cNvPr id="39" name="그룹 38"/>
          <p:cNvGrpSpPr/>
          <p:nvPr/>
        </p:nvGrpSpPr>
        <p:grpSpPr>
          <a:xfrm>
            <a:off x="441584" y="673454"/>
            <a:ext cx="205980" cy="205980"/>
            <a:chOff x="459196" y="974136"/>
            <a:chExt cx="274640" cy="274640"/>
          </a:xfrm>
        </p:grpSpPr>
        <p:sp>
          <p:nvSpPr>
            <p:cNvPr id="40" name="타원 39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1" name="L 도형 40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21" name="개체 20"/>
          <p:cNvGraphicFramePr>
            <a:graphicFrameLocks noChangeAspect="1"/>
          </p:cNvGraphicFramePr>
          <p:nvPr/>
        </p:nvGraphicFramePr>
        <p:xfrm>
          <a:off x="3499520" y="3446125"/>
          <a:ext cx="2183537" cy="633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663560" imgH="482400" progId="Equation.3">
                  <p:embed/>
                </p:oleObj>
              </mc:Choice>
              <mc:Fallback>
                <p:oleObj name="수식" r:id="rId2" imgW="1663560" imgH="482400" progId="Equation.3">
                  <p:embed/>
                  <p:pic>
                    <p:nvPicPr>
                      <p:cNvPr id="21" name="개체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99520" y="3446125"/>
                        <a:ext cx="2183537" cy="633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ED8CD578-EDDA-1E12-01EF-9CADC6CF4A5F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191AC8-F196-861E-0AD9-39A8CCFB751C}"/>
                </a:ext>
              </a:extLst>
            </p:cNvPr>
            <p:cNvSpPr txBox="1"/>
            <p:nvPr/>
          </p:nvSpPr>
          <p:spPr>
            <a:xfrm>
              <a:off x="8121029" y="363541"/>
              <a:ext cx="137720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2. k-Nearest Neighbor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" name="내용 개체 틀 11">
              <a:extLst>
                <a:ext uri="{FF2B5EF4-FFF2-40B4-BE49-F238E27FC236}">
                  <a16:creationId xmlns:a16="http://schemas.microsoft.com/office/drawing/2014/main" id="{D7504172-4903-3D16-ED58-71EE82896923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□■□□□□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93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/>
              <a:t>Notice, how without normalization, all the nearest neighbors are aligned in the direction of the axis with the smaller range, i.e. x</a:t>
            </a:r>
            <a:r>
              <a:rPr lang="en-US" altLang="ko-KR" b="0" baseline="-25000" dirty="0"/>
              <a:t>1</a:t>
            </a:r>
            <a:r>
              <a:rPr lang="en-US" altLang="ko-KR" b="0" dirty="0"/>
              <a:t> leading to incorrect classification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 anchor="ctr" anchorCtr="0">
            <a:noAutofit/>
          </a:bodyPr>
          <a:lstStyle/>
          <a:p>
            <a:pPr defTabSz="583406">
              <a:spcBef>
                <a:spcPct val="20000"/>
              </a:spcBef>
            </a:pPr>
            <a:r>
              <a:rPr lang="ko-KR" altLang="en-US" kern="1200" dirty="0"/>
              <a:t>참고</a:t>
            </a:r>
            <a:r>
              <a:rPr lang="en-US" altLang="ko-KR" kern="1200" dirty="0"/>
              <a:t>. Normalization</a:t>
            </a:r>
            <a:endParaRPr lang="ko-KR" altLang="en-US" dirty="0">
              <a:solidFill>
                <a:srgbClr val="0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pic>
        <p:nvPicPr>
          <p:cNvPr id="35846" name="Picture 6" descr="Data without normaliz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606" y="1815666"/>
            <a:ext cx="3029933" cy="227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8" name="Picture 8" descr="Data with normaliz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52" y="1815666"/>
            <a:ext cx="3029933" cy="227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182205" y="4161031"/>
            <a:ext cx="65101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출처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) https://stats.stackexchange.com/questions/287425/why-do-you-need-to-scale-data-in-knn</a:t>
            </a:r>
            <a:endParaRPr lang="ko-KR" altLang="en-US" sz="90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441584" y="683845"/>
            <a:ext cx="205980" cy="205980"/>
            <a:chOff x="459196" y="974136"/>
            <a:chExt cx="274640" cy="274640"/>
          </a:xfrm>
        </p:grpSpPr>
        <p:sp>
          <p:nvSpPr>
            <p:cNvPr id="15" name="타원 14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6" name="L 도형 15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6931B1B-565F-488A-0289-736751F65D87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A75567-4131-AA2E-CA9B-AE54270B8949}"/>
                </a:ext>
              </a:extLst>
            </p:cNvPr>
            <p:cNvSpPr txBox="1"/>
            <p:nvPr/>
          </p:nvSpPr>
          <p:spPr>
            <a:xfrm>
              <a:off x="8121029" y="363541"/>
              <a:ext cx="137720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2. k-Nearest Neighbor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" name="내용 개체 틀 11">
              <a:extLst>
                <a:ext uri="{FF2B5EF4-FFF2-40B4-BE49-F238E27FC236}">
                  <a16:creationId xmlns:a16="http://schemas.microsoft.com/office/drawing/2014/main" id="{6D2E3764-AC24-EB03-6C2B-4355F7FB01D2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□■□□□□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84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Pros</a:t>
            </a:r>
          </a:p>
          <a:p>
            <a:pPr lvl="1"/>
            <a:r>
              <a:rPr lang="ko-KR" altLang="en-US" dirty="0"/>
              <a:t>어떤 형태의 분포를 지닌 데이터에도 적용 가능</a:t>
            </a:r>
            <a:endParaRPr lang="en-US" altLang="ko-KR" dirty="0"/>
          </a:p>
          <a:p>
            <a:pPr lvl="1"/>
            <a:r>
              <a:rPr lang="ko-KR" altLang="en-US" dirty="0"/>
              <a:t>매우 단순하며 직관적</a:t>
            </a:r>
            <a:endParaRPr lang="en-US" altLang="ko-KR" dirty="0"/>
          </a:p>
          <a:p>
            <a:pPr lvl="1"/>
            <a:r>
              <a:rPr lang="ko-KR" altLang="en-US" dirty="0"/>
              <a:t>샘플 사이즈의 크기가 충분히 크다면 분류 성능이 좋음</a:t>
            </a:r>
            <a:endParaRPr lang="en-US" altLang="ko-KR" dirty="0"/>
          </a:p>
          <a:p>
            <a:r>
              <a:rPr lang="en-US" altLang="ko-KR" dirty="0"/>
              <a:t>Cons </a:t>
            </a:r>
          </a:p>
          <a:p>
            <a:pPr lvl="1"/>
            <a:r>
              <a:rPr lang="en-US" altLang="ko-KR" dirty="0"/>
              <a:t>k-NN </a:t>
            </a:r>
            <a:r>
              <a:rPr lang="ko-KR" altLang="en-US" dirty="0"/>
              <a:t>알고리즘의 단점은 데이터의 지역 구조에 민감</a:t>
            </a:r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의 선택이 까다로움      </a:t>
            </a:r>
            <a:r>
              <a:rPr lang="en-US" altLang="ko-KR" dirty="0"/>
              <a:t> “rule of thumb“ is </a:t>
            </a:r>
          </a:p>
          <a:p>
            <a:pPr lvl="1"/>
            <a:r>
              <a:rPr lang="en-US" altLang="ko-KR" dirty="0"/>
              <a:t>k too small will lead to noisy decision boundaries(Overfitting)</a:t>
            </a:r>
          </a:p>
          <a:p>
            <a:pPr lvl="1"/>
            <a:r>
              <a:rPr lang="en-US" altLang="ko-KR" dirty="0"/>
              <a:t>k too large will lead to over-smoothed boundaries(Underfitting)</a:t>
            </a:r>
          </a:p>
          <a:p>
            <a:pPr lvl="1"/>
            <a:r>
              <a:rPr lang="en-US" altLang="ko-KR" dirty="0"/>
              <a:t>Test stage is computationally expensive</a:t>
            </a:r>
          </a:p>
          <a:p>
            <a:pPr lvl="1"/>
            <a:r>
              <a:rPr lang="en-US" altLang="ko-KR" dirty="0"/>
              <a:t>Suppose we have n train(neighbor set) each of dimension d</a:t>
            </a:r>
          </a:p>
          <a:p>
            <a:pPr lvl="1"/>
            <a:r>
              <a:rPr lang="en-US" altLang="ko-KR" dirty="0"/>
              <a:t>Total Time(Evaluating m test data): </a:t>
            </a:r>
            <a:br>
              <a:rPr lang="en-US" altLang="ko-KR" dirty="0"/>
            </a:br>
            <a:endParaRPr lang="en-US" altLang="ko-KR" b="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00" tIns="35100" rIns="67500" bIns="35100" anchor="ctr" anchorCtr="0">
            <a:noAutofit/>
          </a:bodyPr>
          <a:lstStyle/>
          <a:p>
            <a:pPr defTabSz="583406">
              <a:spcBef>
                <a:spcPct val="20000"/>
              </a:spcBef>
            </a:pPr>
            <a:r>
              <a:rPr lang="en-US" altLang="ko-KR" dirty="0"/>
              <a:t>Pros and Cons</a:t>
            </a:r>
            <a:endParaRPr lang="ko-KR" altLang="en-US" dirty="0">
              <a:solidFill>
                <a:srgbClr val="0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/>
        </p:nvGraphicFramePr>
        <p:xfrm>
          <a:off x="5493180" y="2186327"/>
          <a:ext cx="616744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469800" imgH="228600" progId="Equation.3">
                  <p:embed/>
                </p:oleObj>
              </mc:Choice>
              <mc:Fallback>
                <p:oleObj name="수식" r:id="rId2" imgW="469800" imgH="228600" progId="Equation.3">
                  <p:embed/>
                  <p:pic>
                    <p:nvPicPr>
                      <p:cNvPr id="3" name="개체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180" y="2186327"/>
                        <a:ext cx="616744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/>
          <p:cNvGraphicFramePr>
            <a:graphicFrameLocks noChangeAspect="1"/>
          </p:cNvGraphicFramePr>
          <p:nvPr/>
        </p:nvGraphicFramePr>
        <p:xfrm>
          <a:off x="4669555" y="3539555"/>
          <a:ext cx="1300163" cy="283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990360" imgH="215640" progId="Equation.3">
                  <p:embed/>
                </p:oleObj>
              </mc:Choice>
              <mc:Fallback>
                <p:oleObj name="수식" r:id="rId4" imgW="990360" imgH="215640" progId="Equation.3">
                  <p:embed/>
                  <p:pic>
                    <p:nvPicPr>
                      <p:cNvPr id="4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555" y="3539555"/>
                        <a:ext cx="1300163" cy="283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그룹 16"/>
          <p:cNvGrpSpPr/>
          <p:nvPr/>
        </p:nvGrpSpPr>
        <p:grpSpPr>
          <a:xfrm>
            <a:off x="441584" y="681553"/>
            <a:ext cx="205980" cy="205980"/>
            <a:chOff x="459196" y="974136"/>
            <a:chExt cx="274640" cy="274640"/>
          </a:xfrm>
        </p:grpSpPr>
        <p:sp>
          <p:nvSpPr>
            <p:cNvPr id="18" name="타원 17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" name="L 도형 18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41584" y="1732276"/>
            <a:ext cx="205980" cy="205980"/>
            <a:chOff x="459196" y="974136"/>
            <a:chExt cx="274640" cy="274640"/>
          </a:xfrm>
        </p:grpSpPr>
        <p:sp>
          <p:nvSpPr>
            <p:cNvPr id="21" name="타원 20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2" name="L 도형 21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05C28E7-7E47-064F-A006-1C68EC1A0ED0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66B7AA-B5C6-A2AD-48C5-00D84E3D4E2E}"/>
                </a:ext>
              </a:extLst>
            </p:cNvPr>
            <p:cNvSpPr txBox="1"/>
            <p:nvPr/>
          </p:nvSpPr>
          <p:spPr>
            <a:xfrm>
              <a:off x="8121029" y="363541"/>
              <a:ext cx="137720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2. k-Nearest Neighbor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" name="내용 개체 틀 11">
              <a:extLst>
                <a:ext uri="{FF2B5EF4-FFF2-40B4-BE49-F238E27FC236}">
                  <a16:creationId xmlns:a16="http://schemas.microsoft.com/office/drawing/2014/main" id="{4A2784ED-C4E9-AAB2-2E99-ED0BAB3196AD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□■□□□□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412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앞서의 실습 데이터를 그대로 사용하면서</a:t>
            </a:r>
            <a:r>
              <a:rPr lang="en-US" altLang="ko-KR" dirty="0"/>
              <a:t> </a:t>
            </a:r>
            <a:r>
              <a:rPr lang="ko-KR" altLang="en-US" dirty="0"/>
              <a:t>실습을 진행하세요</a:t>
            </a:r>
            <a:r>
              <a:rPr lang="en-US" altLang="ko-KR" dirty="0"/>
              <a:t>.</a:t>
            </a: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목표 생선</a:t>
            </a:r>
            <a:r>
              <a:rPr lang="en-US" altLang="ko-KR" dirty="0"/>
              <a:t>: </a:t>
            </a:r>
            <a:r>
              <a:rPr lang="ko-KR" altLang="en-US" dirty="0"/>
              <a:t>도미</a:t>
            </a:r>
            <a:r>
              <a:rPr lang="en-US" altLang="ko-KR" dirty="0"/>
              <a:t>(Bream)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독립변수</a:t>
            </a:r>
            <a:r>
              <a:rPr lang="en-US" altLang="ko-KR" dirty="0"/>
              <a:t>: Height, Width, Weight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KNN Classification </a:t>
            </a:r>
            <a:r>
              <a:rPr lang="ko-KR" altLang="en-US" dirty="0"/>
              <a:t>알고리즘으로 </a:t>
            </a:r>
            <a:r>
              <a:rPr lang="en-US" altLang="ko-KR" dirty="0"/>
              <a:t>K</a:t>
            </a:r>
            <a:r>
              <a:rPr lang="ko-KR" altLang="en-US" dirty="0"/>
              <a:t>는 </a:t>
            </a:r>
            <a:r>
              <a:rPr lang="en-US" altLang="ko-KR" dirty="0"/>
              <a:t>1, 3, 5, 10</a:t>
            </a:r>
            <a:r>
              <a:rPr lang="ko-KR" altLang="en-US" dirty="0"/>
              <a:t>을 사용하여 성능</a:t>
            </a:r>
            <a:r>
              <a:rPr lang="en-US" altLang="ko-KR" dirty="0"/>
              <a:t>(Recall)</a:t>
            </a:r>
            <a:r>
              <a:rPr lang="ko-KR" altLang="en-US" dirty="0"/>
              <a:t>의 변화를 확인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도미 구매하기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1728" y="3924233"/>
            <a:ext cx="21226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참고 </a:t>
            </a: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Function Flow&gt;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441584" y="711480"/>
            <a:ext cx="205980" cy="205980"/>
            <a:chOff x="459196" y="97413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8860C8C-D233-417E-9582-95B1F95EDA9F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E8A9BF-18B0-47D9-B23B-33CE3C0D28B0}"/>
                </a:ext>
              </a:extLst>
            </p:cNvPr>
            <p:cNvSpPr txBox="1"/>
            <p:nvPr/>
          </p:nvSpPr>
          <p:spPr>
            <a:xfrm>
              <a:off x="8121029" y="363541"/>
              <a:ext cx="137720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2. k-Nearest Neighbor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16" name="내용 개체 틀 11">
              <a:extLst>
                <a:ext uri="{FF2B5EF4-FFF2-40B4-BE49-F238E27FC236}">
                  <a16:creationId xmlns:a16="http://schemas.microsoft.com/office/drawing/2014/main" id="{BC30FD08-E8E1-40C6-8175-B51EFC5A474E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□■□□□□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8DB28CB-19A3-E08D-B5A4-6D494E69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" y="2571750"/>
            <a:ext cx="9144000" cy="109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6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Naïve Bayes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44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Naïve Bayes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Bayes </a:t>
            </a:r>
            <a:r>
              <a:rPr lang="ko-KR" altLang="en-US" dirty="0"/>
              <a:t>정리에 기반을 두는 분류기로 </a:t>
            </a:r>
            <a:br>
              <a:rPr lang="ko-KR" altLang="en-US" dirty="0"/>
            </a:br>
            <a:r>
              <a:rPr lang="ko-KR" altLang="en-US" dirty="0"/>
              <a:t>가장 확률이 높은 곳으로 단순 분류함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Naïve Bayes Classification </a:t>
            </a:r>
            <a:r>
              <a:rPr lang="ko-KR" altLang="en-US" dirty="0"/>
              <a:t>개념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n </a:t>
            </a:r>
            <a:r>
              <a:rPr lang="ko-KR" altLang="en-US" dirty="0"/>
              <a:t>개 특성을 가지는 데이터 벡터 </a:t>
            </a:r>
            <a:r>
              <a:rPr lang="en-US" altLang="ko-KR" dirty="0"/>
              <a:t>: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K </a:t>
            </a:r>
            <a:r>
              <a:rPr lang="ko-KR" altLang="en-US" dirty="0"/>
              <a:t>개의 가능한 확률적 결과들 </a:t>
            </a:r>
            <a:r>
              <a:rPr lang="en-US" altLang="ko-KR" dirty="0"/>
              <a:t>(</a:t>
            </a:r>
            <a:r>
              <a:rPr lang="ko-KR" altLang="en-US" dirty="0"/>
              <a:t>클래스</a:t>
            </a:r>
            <a:r>
              <a:rPr lang="en-US" altLang="ko-KR" dirty="0"/>
              <a:t>)</a:t>
            </a:r>
            <a:r>
              <a:rPr lang="ko-KR" altLang="en-US" dirty="0"/>
              <a:t>의 확률 </a:t>
            </a:r>
            <a:r>
              <a:rPr lang="en-US" altLang="ko-KR" dirty="0"/>
              <a:t>:</a:t>
            </a:r>
          </a:p>
          <a:p>
            <a:pPr lvl="4">
              <a:lnSpc>
                <a:spcPct val="120000"/>
              </a:lnSpc>
            </a:pPr>
            <a:endParaRPr lang="en-US" altLang="ko-KR" dirty="0"/>
          </a:p>
          <a:p>
            <a:pPr lvl="5">
              <a:lnSpc>
                <a:spcPct val="120000"/>
              </a:lnSpc>
            </a:pPr>
            <a:endParaRPr lang="en-US" altLang="ko-KR" dirty="0"/>
          </a:p>
          <a:p>
            <a:pPr lvl="3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각 </a:t>
            </a:r>
            <a:r>
              <a:rPr lang="en-US" altLang="ko-KR" dirty="0">
                <a:solidFill>
                  <a:srgbClr val="C00000"/>
                </a:solidFill>
              </a:rPr>
              <a:t>X</a:t>
            </a:r>
            <a:r>
              <a:rPr lang="en-US" altLang="ko-KR" baseline="-25000" dirty="0">
                <a:solidFill>
                  <a:srgbClr val="C00000"/>
                </a:solidFill>
              </a:rPr>
              <a:t>i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ko-KR" altLang="en-US" dirty="0">
                <a:solidFill>
                  <a:srgbClr val="C00000"/>
                </a:solidFill>
              </a:rPr>
              <a:t>값들을 독립으로 가정하면 </a:t>
            </a:r>
          </a:p>
          <a:p>
            <a:pPr lvl="6">
              <a:lnSpc>
                <a:spcPct val="120000"/>
              </a:lnSpc>
            </a:pP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클래스 예측 값 → 최대 확률을 가지는 클래스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Naïve Bayes Classification(1/2)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441584" y="711480"/>
            <a:ext cx="205980" cy="205980"/>
            <a:chOff x="459196" y="97413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441584" y="1662456"/>
            <a:ext cx="205980" cy="205980"/>
            <a:chOff x="459196" y="974136"/>
            <a:chExt cx="274640" cy="274640"/>
          </a:xfrm>
        </p:grpSpPr>
        <p:sp>
          <p:nvSpPr>
            <p:cNvPr id="15" name="타원 14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6" name="L 도형 15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7" name="개체 16"/>
          <p:cNvGraphicFramePr>
            <a:graphicFrameLocks noChangeAspect="1"/>
          </p:cNvGraphicFramePr>
          <p:nvPr/>
        </p:nvGraphicFramePr>
        <p:xfrm>
          <a:off x="4517994" y="1924440"/>
          <a:ext cx="1553766" cy="32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079280" imgH="228600" progId="Equation.3">
                  <p:embed/>
                </p:oleObj>
              </mc:Choice>
              <mc:Fallback>
                <p:oleObj name="수식" r:id="rId2" imgW="1079280" imgH="228600" progId="Equation.3">
                  <p:embed/>
                  <p:pic>
                    <p:nvPicPr>
                      <p:cNvPr id="17" name="개체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994" y="1924440"/>
                        <a:ext cx="1553766" cy="327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/>
          <p:cNvGraphicFramePr>
            <a:graphicFrameLocks noChangeAspect="1"/>
          </p:cNvGraphicFramePr>
          <p:nvPr/>
        </p:nvGraphicFramePr>
        <p:xfrm>
          <a:off x="2184154" y="2559881"/>
          <a:ext cx="4111228" cy="63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2857320" imgH="444240" progId="Equation.3">
                  <p:embed/>
                </p:oleObj>
              </mc:Choice>
              <mc:Fallback>
                <p:oleObj name="수식" r:id="rId4" imgW="2857320" imgH="444240" progId="Equation.3">
                  <p:embed/>
                  <p:pic>
                    <p:nvPicPr>
                      <p:cNvPr id="18" name="개체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154" y="2559881"/>
                        <a:ext cx="4111228" cy="636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개체 18"/>
          <p:cNvGraphicFramePr>
            <a:graphicFrameLocks noChangeAspect="1"/>
          </p:cNvGraphicFramePr>
          <p:nvPr/>
        </p:nvGraphicFramePr>
        <p:xfrm>
          <a:off x="4409052" y="3241631"/>
          <a:ext cx="1771650" cy="582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6" imgW="1231560" imgH="406080" progId="Equation.3">
                  <p:embed/>
                </p:oleObj>
              </mc:Choice>
              <mc:Fallback>
                <p:oleObj name="수식" r:id="rId6" imgW="1231560" imgH="406080" progId="Equation.3">
                  <p:embed/>
                  <p:pic>
                    <p:nvPicPr>
                      <p:cNvPr id="19" name="개체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9052" y="3241631"/>
                        <a:ext cx="1771650" cy="582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개체 19"/>
          <p:cNvGraphicFramePr>
            <a:graphicFrameLocks noChangeAspect="1"/>
          </p:cNvGraphicFramePr>
          <p:nvPr/>
        </p:nvGraphicFramePr>
        <p:xfrm>
          <a:off x="2641500" y="4136720"/>
          <a:ext cx="2849166" cy="582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8" imgW="1981080" imgH="406080" progId="Equation.3">
                  <p:embed/>
                </p:oleObj>
              </mc:Choice>
              <mc:Fallback>
                <p:oleObj name="수식" r:id="rId8" imgW="1981080" imgH="406080" progId="Equation.3">
                  <p:embed/>
                  <p:pic>
                    <p:nvPicPr>
                      <p:cNvPr id="20" name="개체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500" y="4136720"/>
                        <a:ext cx="2849166" cy="582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20"/>
          <p:cNvGraphicFramePr>
            <a:graphicFrameLocks noChangeAspect="1"/>
          </p:cNvGraphicFramePr>
          <p:nvPr/>
        </p:nvGraphicFramePr>
        <p:xfrm>
          <a:off x="6123638" y="742393"/>
          <a:ext cx="1714500" cy="912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10" imgW="1765080" imgH="939600" progId="Equation.3">
                  <p:embed/>
                </p:oleObj>
              </mc:Choice>
              <mc:Fallback>
                <p:oleObj name="수식" r:id="rId10" imgW="1765080" imgH="939600" progId="Equation.3">
                  <p:embed/>
                  <p:pic>
                    <p:nvPicPr>
                      <p:cNvPr id="21" name="개체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3638" y="742393"/>
                        <a:ext cx="1714500" cy="912019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그룹 24"/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26" name="TextBox 25"/>
            <p:cNvSpPr txBox="1"/>
            <p:nvPr/>
          </p:nvSpPr>
          <p:spPr>
            <a:xfrm>
              <a:off x="8605224" y="363541"/>
              <a:ext cx="893013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3. Naïve Bayes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7" name="내용 개체 틀 11"/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□□■□□□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900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적용 분야</a:t>
            </a:r>
            <a:r>
              <a:rPr lang="en-US" altLang="ko-KR" dirty="0"/>
              <a:t>: Text classification, Spam filtration, Sentiment Analysis Recommendation System, Speech Recognition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Pros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Naive bayes is that it only requires a small amount of training data to estimate the parameters necessary for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Robust: Noise/Outlier/Missing Data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Training is very easy and fast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In addition, since the model has the form of a product, it can be converted into a sum through the use of logarithms – with significant consequent computational advantages.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Cons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Naive bayes considering each attribute in each class separately.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Violation of independence assumption.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Zero conditional probability problem.(Prevent: use constant w)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Risk of overfitting if size of train set is too small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Naïve Bayes Classification(2/2)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441584" y="687417"/>
            <a:ext cx="205980" cy="205980"/>
            <a:chOff x="459196" y="97413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441584" y="1175057"/>
            <a:ext cx="205980" cy="205980"/>
            <a:chOff x="459196" y="974136"/>
            <a:chExt cx="274640" cy="274640"/>
          </a:xfrm>
        </p:grpSpPr>
        <p:sp>
          <p:nvSpPr>
            <p:cNvPr id="36" name="타원 35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7" name="L 도형 36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441584" y="3216455"/>
            <a:ext cx="205980" cy="205980"/>
            <a:chOff x="459196" y="974136"/>
            <a:chExt cx="274640" cy="274640"/>
          </a:xfrm>
        </p:grpSpPr>
        <p:sp>
          <p:nvSpPr>
            <p:cNvPr id="39" name="타원 38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0" name="L 도형 39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451FF5-70B6-E2B1-491B-1A23BD721AA4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885E2B-D95C-B303-6DCD-957104986F5A}"/>
                </a:ext>
              </a:extLst>
            </p:cNvPr>
            <p:cNvSpPr txBox="1"/>
            <p:nvPr/>
          </p:nvSpPr>
          <p:spPr>
            <a:xfrm>
              <a:off x="8605224" y="363541"/>
              <a:ext cx="893013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3. Naïve Bayes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428C9ABD-E731-455E-06FA-B645B2E7359C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□□■□□□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206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Naïve Bayes Classification </a:t>
            </a:r>
            <a:r>
              <a:rPr lang="ko-KR" altLang="en-US" dirty="0"/>
              <a:t>예시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3BE105C-726F-9DBF-0CF9-626AD1848B8F}"/>
              </a:ext>
            </a:extLst>
          </p:cNvPr>
          <p:cNvGraphicFramePr>
            <a:graphicFrameLocks noGrp="1"/>
          </p:cNvGraphicFramePr>
          <p:nvPr/>
        </p:nvGraphicFramePr>
        <p:xfrm>
          <a:off x="1151071" y="585489"/>
          <a:ext cx="2675693" cy="4187691"/>
        </p:xfrm>
        <a:graphic>
          <a:graphicData uri="http://schemas.openxmlformats.org/drawingml/2006/table">
            <a:tbl>
              <a:tblPr/>
              <a:tblGrid>
                <a:gridCol w="1116153">
                  <a:extLst>
                    <a:ext uri="{9D8B030D-6E8A-4147-A177-3AD203B41FA5}">
                      <a16:colId xmlns:a16="http://schemas.microsoft.com/office/drawing/2014/main" val="199378846"/>
                    </a:ext>
                  </a:extLst>
                </a:gridCol>
                <a:gridCol w="412447">
                  <a:extLst>
                    <a:ext uri="{9D8B030D-6E8A-4147-A177-3AD203B41FA5}">
                      <a16:colId xmlns:a16="http://schemas.microsoft.com/office/drawing/2014/main" val="1967795384"/>
                    </a:ext>
                  </a:extLst>
                </a:gridCol>
                <a:gridCol w="1147093">
                  <a:extLst>
                    <a:ext uri="{9D8B030D-6E8A-4147-A177-3AD203B41FA5}">
                      <a16:colId xmlns:a16="http://schemas.microsoft.com/office/drawing/2014/main" val="3826842083"/>
                    </a:ext>
                  </a:extLst>
                </a:gridCol>
              </a:tblGrid>
              <a:tr h="364146">
                <a:tc>
                  <a:txBody>
                    <a:bodyPr/>
                    <a:lstStyle/>
                    <a:p>
                      <a:pPr fontAlgn="b"/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Body Temperature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800" b="1" dirty="0">
                          <a:solidFill>
                            <a:schemeClr val="bg1"/>
                          </a:solidFill>
                          <a:effectLst/>
                        </a:rPr>
                        <a:t>Class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49573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776872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99662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814311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Cold-blooded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47810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57507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34316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Cold-blooded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701757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945578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80497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820270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237761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49629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>
                          <a:effectLst/>
                        </a:rPr>
                        <a:t>Cold-blooded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4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82088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Bird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30767"/>
                  </a:ext>
                </a:extLst>
              </a:tr>
              <a:tr h="254903"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Warm-blooded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2 legs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800" dirty="0">
                          <a:effectLst/>
                        </a:rPr>
                        <a:t>Mammal</a:t>
                      </a:r>
                    </a:p>
                  </a:txBody>
                  <a:tcPr marL="28379" marR="28379" marT="14189" marB="14189" anchor="ctr">
                    <a:lnL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399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0096AA9-AF23-332D-7C0B-3121F818F3CF}"/>
              </a:ext>
            </a:extLst>
          </p:cNvPr>
          <p:cNvSpPr txBox="1"/>
          <p:nvPr/>
        </p:nvSpPr>
        <p:spPr>
          <a:xfrm>
            <a:off x="3975925" y="625091"/>
            <a:ext cx="42536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Given a new data point </a:t>
            </a:r>
            <a:endParaRPr lang="en-US" sz="1350" b="1" dirty="0">
              <a:solidFill>
                <a:srgbClr val="374151"/>
              </a:solidFill>
              <a:latin typeface="Söhne"/>
            </a:endParaRPr>
          </a:p>
          <a:p>
            <a:r>
              <a:rPr lang="en-US" sz="1500" b="1" dirty="0">
                <a:solidFill>
                  <a:srgbClr val="374151"/>
                </a:solidFill>
                <a:latin typeface="Söhne"/>
              </a:rPr>
              <a:t>(Body Temperature=Warm-blooded, Legs=4 legs)</a:t>
            </a:r>
            <a:r>
              <a:rPr lang="en-US" sz="1500" dirty="0">
                <a:solidFill>
                  <a:srgbClr val="374151"/>
                </a:solidFill>
                <a:latin typeface="Söhne"/>
              </a:rPr>
              <a:t>, </a:t>
            </a:r>
          </a:p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calculate the joint probability for each class:</a:t>
            </a:r>
            <a:endParaRPr 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개체 13">
                <a:extLst>
                  <a:ext uri="{FF2B5EF4-FFF2-40B4-BE49-F238E27FC236}">
                    <a16:creationId xmlns:a16="http://schemas.microsoft.com/office/drawing/2014/main" id="{554355E2-3ABA-52B0-8C50-8599A7E2264F}"/>
                  </a:ext>
                </a:extLst>
              </p:cNvPr>
              <p:cNvSpPr txBox="1"/>
              <p:nvPr/>
            </p:nvSpPr>
            <p:spPr bwMode="auto">
              <a:xfrm>
                <a:off x="3975925" y="1425031"/>
                <a:ext cx="2498027" cy="5822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Π"/>
                          <m:ctrlP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3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3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3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sz="13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3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3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3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350" dirty="0"/>
              </a:p>
            </p:txBody>
          </p:sp>
        </mc:Choice>
        <mc:Fallback xmlns="">
          <p:sp>
            <p:nvSpPr>
              <p:cNvPr id="14" name="개체 13">
                <a:extLst>
                  <a:ext uri="{FF2B5EF4-FFF2-40B4-BE49-F238E27FC236}">
                    <a16:creationId xmlns:a16="http://schemas.microsoft.com/office/drawing/2014/main" id="{554355E2-3ABA-52B0-8C50-8599A7E22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5925" y="1425031"/>
                <a:ext cx="2498027" cy="582215"/>
              </a:xfrm>
              <a:prstGeom prst="rect">
                <a:avLst/>
              </a:prstGeom>
              <a:blipFill>
                <a:blip r:embed="rId2"/>
                <a:stretch>
                  <a:fillRect t="-67368" b="-84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0108221-6795-D777-87D4-4273EF6FC1E6}"/>
              </a:ext>
            </a:extLst>
          </p:cNvPr>
          <p:cNvSpPr txBox="1"/>
          <p:nvPr/>
        </p:nvSpPr>
        <p:spPr>
          <a:xfrm>
            <a:off x="3975925" y="2087002"/>
            <a:ext cx="2031683" cy="50783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sv-SE" sz="1350" dirty="0">
                <a:solidFill>
                  <a:srgbClr val="374151"/>
                </a:solidFill>
                <a:latin typeface="Söhne"/>
              </a:rPr>
              <a:t>P(Bird) = 7/15</a:t>
            </a:r>
          </a:p>
          <a:p>
            <a:r>
              <a:rPr lang="sv-SE" sz="1350" dirty="0">
                <a:solidFill>
                  <a:srgbClr val="374151"/>
                </a:solidFill>
                <a:latin typeface="Söhne"/>
              </a:rPr>
              <a:t>P(Mammal) = 8/15</a:t>
            </a:r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997C5A-8553-7384-F286-D9DCFD3E510F}"/>
              </a:ext>
            </a:extLst>
          </p:cNvPr>
          <p:cNvSpPr txBox="1"/>
          <p:nvPr/>
        </p:nvSpPr>
        <p:spPr>
          <a:xfrm>
            <a:off x="3973639" y="2819926"/>
            <a:ext cx="4378781" cy="923330"/>
          </a:xfrm>
          <a:prstGeom prst="rect">
            <a:avLst/>
          </a:prstGeom>
          <a:noFill/>
          <a:ln w="28575">
            <a:solidFill>
              <a:schemeClr val="accent5">
                <a:lumMod val="20000"/>
                <a:lumOff val="80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P(Bird | T=W, L=4)</a:t>
            </a:r>
          </a:p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                   = P(Bird) * P(T=W | Bird) * P(L=4 | Bird)</a:t>
            </a:r>
          </a:p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                   =    7/15  *          7/7          *                1/7 </a:t>
            </a:r>
          </a:p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                   </a:t>
            </a:r>
            <a:r>
              <a:rPr lang="en-US" sz="1350" b="1" dirty="0">
                <a:solidFill>
                  <a:srgbClr val="FF0000"/>
                </a:solidFill>
                <a:latin typeface="Söhne"/>
              </a:rPr>
              <a:t>= 0.07  </a:t>
            </a:r>
            <a:endParaRPr lang="en-US" sz="135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32A0D6-4DB7-4DF6-D0BC-C2D8DD73146F}"/>
              </a:ext>
            </a:extLst>
          </p:cNvPr>
          <p:cNvSpPr txBox="1"/>
          <p:nvPr/>
        </p:nvSpPr>
        <p:spPr>
          <a:xfrm>
            <a:off x="3973639" y="3970606"/>
            <a:ext cx="4378781" cy="923330"/>
          </a:xfrm>
          <a:prstGeom prst="rect">
            <a:avLst/>
          </a:prstGeom>
          <a:noFill/>
          <a:ln w="28575">
            <a:solidFill>
              <a:schemeClr val="accent5">
                <a:lumMod val="20000"/>
                <a:lumOff val="80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P(Mammal | T=W, L=4)</a:t>
            </a:r>
          </a:p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        = P(Mammal) * P(T=W | Mammal) * P(L=4 | Mammal)</a:t>
            </a:r>
          </a:p>
          <a:p>
            <a:r>
              <a:rPr lang="en-US" sz="1350" dirty="0">
                <a:solidFill>
                  <a:srgbClr val="374151"/>
                </a:solidFill>
                <a:latin typeface="Söhne"/>
              </a:rPr>
              <a:t>        =       8/15        *              5/8          *                    7/8 </a:t>
            </a:r>
          </a:p>
          <a:p>
            <a:r>
              <a:rPr lang="en-US" sz="1350" b="1" dirty="0">
                <a:solidFill>
                  <a:srgbClr val="FF0000"/>
                </a:solidFill>
                <a:latin typeface="Söhne"/>
              </a:rPr>
              <a:t>        = 0.292  </a:t>
            </a:r>
            <a:endParaRPr lang="en-US" sz="1350" b="1" dirty="0">
              <a:solidFill>
                <a:srgbClr val="FF0000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C381636-82D4-2689-3FED-C16BD6B0FA2A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D060BF-BA9E-DA90-1E44-6E1063A3DB37}"/>
                </a:ext>
              </a:extLst>
            </p:cNvPr>
            <p:cNvSpPr txBox="1"/>
            <p:nvPr/>
          </p:nvSpPr>
          <p:spPr>
            <a:xfrm>
              <a:off x="8605224" y="363541"/>
              <a:ext cx="893013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3. Naïve Bayes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4" name="내용 개체 틀 11">
              <a:extLst>
                <a:ext uri="{FF2B5EF4-FFF2-40B4-BE49-F238E27FC236}">
                  <a16:creationId xmlns:a16="http://schemas.microsoft.com/office/drawing/2014/main" id="{F243D7D8-F805-E427-B3B5-04665BBB3155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□□■□□□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6038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Decision Tree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4518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03239" y="702235"/>
            <a:ext cx="7380238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Decision Tree (DT)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의사결정 규칙 </a:t>
            </a:r>
            <a:r>
              <a:rPr lang="en-US" altLang="ko-KR" dirty="0"/>
              <a:t>(Decision Rule)</a:t>
            </a:r>
            <a:r>
              <a:rPr lang="ko-KR" altLang="en-US" dirty="0"/>
              <a:t>을 </a:t>
            </a:r>
            <a:r>
              <a:rPr lang="ko-KR" altLang="en-US" dirty="0" err="1"/>
              <a:t>도식화하여</a:t>
            </a:r>
            <a:r>
              <a:rPr lang="ko-KR" altLang="en-US" dirty="0"/>
              <a:t> 관심</a:t>
            </a:r>
            <a:br>
              <a:rPr lang="en-US" altLang="ko-KR" dirty="0"/>
            </a:br>
            <a:r>
              <a:rPr lang="ko-KR" altLang="en-US" dirty="0"/>
              <a:t>대상이 되는 집단을 몇 개의 소집단으로 분류</a:t>
            </a:r>
            <a:r>
              <a:rPr lang="en-US" altLang="ko-KR" dirty="0"/>
              <a:t>(Classification)</a:t>
            </a:r>
            <a:r>
              <a:rPr lang="ko-KR" altLang="en-US" dirty="0"/>
              <a:t>하거나 </a:t>
            </a:r>
            <a:br>
              <a:rPr lang="ko-KR" altLang="en-US" dirty="0"/>
            </a:br>
            <a:r>
              <a:rPr lang="ko-KR" altLang="en-US" dirty="0"/>
              <a:t>예측 </a:t>
            </a:r>
            <a:r>
              <a:rPr lang="en-US" altLang="ko-KR" dirty="0"/>
              <a:t>(Regression)</a:t>
            </a:r>
            <a:r>
              <a:rPr lang="ko-KR" altLang="en-US" dirty="0"/>
              <a:t>하는 계량적 분석 방법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 </a:t>
            </a:r>
            <a:r>
              <a:rPr lang="ko-KR" altLang="en-US" dirty="0"/>
              <a:t>정의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41578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134" y="2241382"/>
            <a:ext cx="3991918" cy="223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5884357" y="2265717"/>
            <a:ext cx="11035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Root node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84357" y="2859782"/>
            <a:ext cx="15106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Internal node</a:t>
            </a:r>
          </a:p>
          <a:p>
            <a:pPr marL="257175" indent="-257175" defTabSz="685221">
              <a:buFont typeface="Arial" pitchFamily="34" charset="0"/>
              <a:buChar char="•"/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Parent/Child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84357" y="3986940"/>
            <a:ext cx="185563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Leaf/Terminal node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747187" y="2136891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1745068" y="2719619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3741331" y="2719619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3305396" y="3261871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4264493" y="3296258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2747187" y="3891926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3802468" y="3891926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2282012" y="3296258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1244684" y="3296258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542784" y="2286932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542784" y="2866225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5542784" y="4033348"/>
            <a:ext cx="342900" cy="257651"/>
          </a:xfrm>
          <a:prstGeom prst="ellipse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</a:t>
            </a:r>
            <a:endParaRPr lang="ko-KR" altLang="en-US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3" name="그룹 42"/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4" name="TextBox 43"/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45" name="내용 개체 틀 11"/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9541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03239" y="702235"/>
            <a:ext cx="7380238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DT (</a:t>
            </a:r>
            <a:r>
              <a:rPr lang="ko-KR" altLang="en-US" dirty="0"/>
              <a:t>의사결정나무</a:t>
            </a:r>
            <a:r>
              <a:rPr lang="en-US" altLang="ko-KR" dirty="0"/>
              <a:t>) </a:t>
            </a:r>
            <a:r>
              <a:rPr lang="ko-KR" altLang="en-US" dirty="0"/>
              <a:t>특성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주어진 입력 값</a:t>
            </a:r>
            <a:r>
              <a:rPr lang="en-US" altLang="ko-KR" dirty="0"/>
              <a:t>(</a:t>
            </a:r>
            <a:r>
              <a:rPr lang="ko-KR" altLang="en-US" dirty="0"/>
              <a:t>들</a:t>
            </a:r>
            <a:r>
              <a:rPr lang="en-US" altLang="ko-KR" dirty="0"/>
              <a:t>)</a:t>
            </a:r>
            <a:r>
              <a:rPr lang="ko-KR" altLang="en-US" dirty="0"/>
              <a:t>에 대해 출력 값을 예측하는 모형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If then else </a:t>
            </a:r>
            <a:r>
              <a:rPr lang="ko-KR" altLang="en-US" dirty="0"/>
              <a:t>스타일의 룰을 형성하여 </a:t>
            </a:r>
            <a:r>
              <a:rPr lang="ko-KR" altLang="en-US" dirty="0">
                <a:solidFill>
                  <a:schemeClr val="accent5"/>
                </a:solidFill>
              </a:rPr>
              <a:t>해석력</a:t>
            </a:r>
            <a:r>
              <a:rPr lang="ko-KR" altLang="en-US" dirty="0"/>
              <a:t>이 뛰어남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DT </a:t>
            </a:r>
            <a:r>
              <a:rPr lang="ko-KR" altLang="en-US" dirty="0"/>
              <a:t>원리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불순도를 감소시키는 방향으로 분리 </a:t>
            </a:r>
            <a:r>
              <a:rPr lang="en-US" altLang="ko-KR" dirty="0"/>
              <a:t>(Impurity </a:t>
            </a:r>
            <a:r>
              <a:rPr lang="ko-KR" altLang="en-US" dirty="0"/>
              <a:t>감소 </a:t>
            </a:r>
            <a:r>
              <a:rPr lang="en-US" altLang="ko-KR" dirty="0"/>
              <a:t>= Purity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s.t Tree size is not too big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DT </a:t>
            </a:r>
            <a:r>
              <a:rPr lang="ko-KR" altLang="en-US" dirty="0"/>
              <a:t>유형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r>
              <a:rPr lang="ko-KR" altLang="en-US" dirty="0"/>
              <a:t>의 개념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441584" y="1720544"/>
            <a:ext cx="205980" cy="205980"/>
            <a:chOff x="465911" y="908720"/>
            <a:chExt cx="274640" cy="274640"/>
          </a:xfrm>
        </p:grpSpPr>
        <p:sp>
          <p:nvSpPr>
            <p:cNvPr id="41" name="타원 4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2" name="L 도형 4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41584" y="2706311"/>
            <a:ext cx="205980" cy="205980"/>
            <a:chOff x="465911" y="908720"/>
            <a:chExt cx="274640" cy="274640"/>
          </a:xfrm>
        </p:grpSpPr>
        <p:sp>
          <p:nvSpPr>
            <p:cNvPr id="44" name="타원 43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5" name="L 도형 44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83851"/>
              </p:ext>
            </p:extLst>
          </p:nvPr>
        </p:nvGraphicFramePr>
        <p:xfrm>
          <a:off x="827584" y="3121304"/>
          <a:ext cx="7536646" cy="1005840"/>
        </p:xfrm>
        <a:graphic>
          <a:graphicData uri="http://schemas.openxmlformats.org/drawingml/2006/table">
            <a:tbl>
              <a:tblPr firstRow="1" bandRow="1"/>
              <a:tblGrid>
                <a:gridCol w="3768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8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분류나무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(Classification Tree)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191"/>
                    </a:solidFill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1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회귀나무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(Regression Tree)</a:t>
                      </a:r>
                      <a:endParaRPr lang="ko-KR" altLang="en-US" sz="15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400" u="sng" dirty="0">
                          <a:latin typeface="맑은 고딕" pitchFamily="50" charset="-127"/>
                          <a:ea typeface="맑은 고딕" pitchFamily="50" charset="-127"/>
                        </a:rPr>
                        <a:t>명목형 목표변수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를 기준으로 마디가 분화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목표 변수의 각 범주에 속하는 빈도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(frequency)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에 기초하여 분리</a:t>
                      </a:r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285750" marR="0" lvl="2" indent="-28575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u="sng" dirty="0">
                          <a:latin typeface="맑은 고딕" pitchFamily="50" charset="-127"/>
                          <a:ea typeface="맑은 고딕" pitchFamily="50" charset="-127"/>
                        </a:rPr>
                        <a:t>연속형 목표변수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를 기준으로 마디가 분화</a:t>
                      </a:r>
                    </a:p>
                  </a:txBody>
                  <a:tcPr marL="68580" marR="68580" marT="34290" marB="3429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" name="모서리가 둥근 직사각형 46"/>
          <p:cNvSpPr/>
          <p:nvPr/>
        </p:nvSpPr>
        <p:spPr>
          <a:xfrm>
            <a:off x="4303590" y="1698826"/>
            <a:ext cx="1620180" cy="269123"/>
          </a:xfrm>
          <a:prstGeom prst="roundRect">
            <a:avLst/>
          </a:prstGeom>
          <a:gradFill rotWithShape="1">
            <a:gsLst>
              <a:gs pos="0">
                <a:srgbClr val="009CE1">
                  <a:shade val="51000"/>
                  <a:satMod val="130000"/>
                </a:srgbClr>
              </a:gs>
              <a:gs pos="80000">
                <a:srgbClr val="009CE1">
                  <a:shade val="93000"/>
                  <a:satMod val="130000"/>
                </a:srgbClr>
              </a:gs>
              <a:gs pos="100000">
                <a:srgbClr val="009CE1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algn="ctr" defTabSz="685800" latinLnBrk="0">
              <a:defRPr/>
            </a:pPr>
            <a:r>
              <a:rPr lang="ko-KR" altLang="en-US" sz="1350" b="1" kern="0" dirty="0">
                <a:solidFill>
                  <a:sysClr val="window" lastClr="FFFFFF"/>
                </a:solidFill>
                <a:latin typeface="맑은 고딕"/>
                <a:ea typeface="맑은 고딕"/>
              </a:rPr>
              <a:t>모델 이해도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359226" y="1678565"/>
            <a:ext cx="1620180" cy="269123"/>
          </a:xfrm>
          <a:prstGeom prst="roundRect">
            <a:avLst/>
          </a:prstGeom>
          <a:gradFill rotWithShape="1">
            <a:gsLst>
              <a:gs pos="0">
                <a:srgbClr val="009CE1">
                  <a:shade val="51000"/>
                  <a:satMod val="130000"/>
                </a:srgbClr>
              </a:gs>
              <a:gs pos="80000">
                <a:srgbClr val="009CE1">
                  <a:shade val="93000"/>
                  <a:satMod val="130000"/>
                </a:srgbClr>
              </a:gs>
              <a:gs pos="100000">
                <a:srgbClr val="009CE1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algn="ctr" defTabSz="685800" latinLnBrk="0">
              <a:defRPr/>
            </a:pPr>
            <a:r>
              <a:rPr lang="ko-KR" altLang="en-US" sz="1350" b="1" kern="0" dirty="0">
                <a:solidFill>
                  <a:sysClr val="window" lastClr="FFFFFF"/>
                </a:solidFill>
                <a:latin typeface="맑은 고딕"/>
                <a:ea typeface="맑은 고딕"/>
              </a:rPr>
              <a:t>모델 정확도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23770" y="1660263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latinLnBrk="0">
              <a:defRPr/>
            </a:pPr>
            <a:r>
              <a:rPr lang="en-US" altLang="ko-KR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Vs.</a:t>
            </a:r>
            <a:endParaRPr lang="ko-KR" altLang="en-US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68050A-9E81-4D17-98CB-46F97A84C98D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43A5BFC-AF2F-52FD-950F-37DFF91F8E91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1A380B4B-D3D3-827C-7330-B35B9E75DE18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457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36480" y="702235"/>
            <a:ext cx="7597109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용어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자식마디</a:t>
            </a:r>
            <a:r>
              <a:rPr lang="en-US" altLang="ko-KR" dirty="0"/>
              <a:t>(Child Node): </a:t>
            </a:r>
            <a:r>
              <a:rPr lang="ko-KR" altLang="en-US" dirty="0"/>
              <a:t>하나의 마디로부터 분리되어 나간 </a:t>
            </a:r>
            <a:r>
              <a:rPr lang="en-US" altLang="ko-KR" dirty="0"/>
              <a:t>2</a:t>
            </a:r>
            <a:r>
              <a:rPr lang="ko-KR" altLang="en-US" dirty="0"/>
              <a:t>개 이상의 마디들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부모마디</a:t>
            </a:r>
            <a:r>
              <a:rPr lang="en-US" altLang="ko-KR" dirty="0"/>
              <a:t>(Parent Node): </a:t>
            </a:r>
            <a:r>
              <a:rPr lang="ko-KR" altLang="en-US" dirty="0"/>
              <a:t>주어진 마디의 </a:t>
            </a:r>
            <a:r>
              <a:rPr lang="ko-KR" altLang="en-US" dirty="0" err="1"/>
              <a:t>상위마디</a:t>
            </a: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뿌리마디</a:t>
            </a:r>
            <a:r>
              <a:rPr lang="en-US" altLang="ko-KR" dirty="0"/>
              <a:t>(Root Node): </a:t>
            </a:r>
            <a:r>
              <a:rPr lang="ko-KR" altLang="en-US" dirty="0"/>
              <a:t>시작되는 마디로 전체 자료를 포함</a:t>
            </a:r>
            <a:r>
              <a:rPr lang="en-US" altLang="ko-KR" dirty="0"/>
              <a:t>(No Parent Node)</a:t>
            </a:r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끝마디</a:t>
            </a:r>
            <a:r>
              <a:rPr lang="en-US" altLang="ko-KR" dirty="0"/>
              <a:t>(Terminal/Leaf Node): </a:t>
            </a:r>
            <a:r>
              <a:rPr lang="ko-KR" altLang="en-US" dirty="0" err="1"/>
              <a:t>자식마디가</a:t>
            </a:r>
            <a:r>
              <a:rPr lang="ko-KR" altLang="en-US" dirty="0"/>
              <a:t> 없는 마디</a:t>
            </a:r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중간마디</a:t>
            </a:r>
            <a:r>
              <a:rPr lang="en-US" altLang="ko-KR" dirty="0"/>
              <a:t>(Internal Node): </a:t>
            </a:r>
            <a:r>
              <a:rPr lang="ko-KR" altLang="en-US" dirty="0" err="1"/>
              <a:t>부모마디와</a:t>
            </a:r>
            <a:r>
              <a:rPr lang="ko-KR" altLang="en-US" dirty="0"/>
              <a:t> </a:t>
            </a:r>
            <a:r>
              <a:rPr lang="ko-KR" altLang="en-US" dirty="0" err="1"/>
              <a:t>자식마디가</a:t>
            </a:r>
            <a:r>
              <a:rPr lang="ko-KR" altLang="en-US" dirty="0"/>
              <a:t> 모두 있는 마디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가지</a:t>
            </a:r>
            <a:r>
              <a:rPr lang="en-US" altLang="ko-KR" dirty="0"/>
              <a:t>(Branch): </a:t>
            </a:r>
            <a:r>
              <a:rPr lang="ko-KR" altLang="en-US" dirty="0"/>
              <a:t>뿌리마디로부터 끝마디까지 연결된 마디들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깊이</a:t>
            </a:r>
            <a:r>
              <a:rPr lang="en-US" altLang="ko-KR" dirty="0"/>
              <a:t>(Depth): </a:t>
            </a:r>
            <a:r>
              <a:rPr lang="ko-KR" altLang="en-US" dirty="0"/>
              <a:t>뿌리마디부터 </a:t>
            </a:r>
            <a:r>
              <a:rPr lang="ko-KR" altLang="en-US" dirty="0" err="1"/>
              <a:t>끝마디</a:t>
            </a:r>
            <a:endParaRPr lang="en-US" altLang="ko-KR" dirty="0"/>
          </a:p>
          <a:p>
            <a:pPr marL="135707" lvl="1" indent="0">
              <a:lnSpc>
                <a:spcPct val="12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까지 가장 긴 마디 개수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 </a:t>
            </a:r>
            <a:r>
              <a:rPr lang="ko-KR" altLang="en-US" dirty="0"/>
              <a:t>구성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21" name="Picture 2" descr="decision tree terminology에 대한 이미지 검색결과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2" r="2430" b="6575"/>
          <a:stretch/>
        </p:blipFill>
        <p:spPr bwMode="auto">
          <a:xfrm>
            <a:off x="5365249" y="2673282"/>
            <a:ext cx="3671247" cy="217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9393D204-3F44-E09C-FEA9-4F7B00972400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C00E90-10FA-818E-74E7-F42DF0344ED2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2F4FE080-410A-20ED-C2A9-C2094F5756CB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8791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50610" y="702235"/>
            <a:ext cx="7582979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Picnic </a:t>
            </a:r>
            <a:r>
              <a:rPr lang="ko-KR" altLang="en-US" dirty="0"/>
              <a:t>데이터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날씨에 따른 </a:t>
            </a:r>
            <a:r>
              <a:rPr lang="en-US" altLang="ko-KR" dirty="0"/>
              <a:t>Play(</a:t>
            </a:r>
            <a:r>
              <a:rPr lang="ko-KR" altLang="en-US" dirty="0"/>
              <a:t>종속 변수</a:t>
            </a:r>
            <a:r>
              <a:rPr lang="en-US" altLang="ko-KR" dirty="0"/>
              <a:t>) </a:t>
            </a:r>
            <a:r>
              <a:rPr lang="ko-KR" altLang="en-US" dirty="0"/>
              <a:t>여부 의사 결정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 </a:t>
            </a:r>
            <a:r>
              <a:rPr lang="ko-KR" altLang="en-US" dirty="0"/>
              <a:t>예제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3" name="Picture 6" descr="decision tree  temperature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677" y="1526533"/>
            <a:ext cx="3214163" cy="2410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1169487" y="1510780"/>
          <a:ext cx="3564395" cy="3005921"/>
        </p:xfrm>
        <a:graphic>
          <a:graphicData uri="http://schemas.openxmlformats.org/drawingml/2006/table">
            <a:tbl>
              <a:tblPr/>
              <a:tblGrid>
                <a:gridCol w="712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2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591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Outlook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Temperature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Humidity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Windy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Play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Sunny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Sunny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True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Overcast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Mild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Cool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Cool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True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Overcast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Cool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True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Sunny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Mild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Sunny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Cool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Mild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Sunny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Mild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True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Overcast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Mild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True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Overcast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Hot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Normal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False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595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Rainy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Mild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High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True 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5715" marR="5715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E189F280-5157-CB51-DC66-0802821595B5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BCF280-78E4-BBD6-7B83-90D11B441C9E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E2D056BE-41A1-99CC-7AED-B19EF7AB2A7A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1885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36480" y="702235"/>
            <a:ext cx="8500016" cy="407744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Pros</a:t>
            </a:r>
          </a:p>
          <a:p>
            <a:pPr lvl="1"/>
            <a:r>
              <a:rPr lang="ko-KR" altLang="en-US" dirty="0"/>
              <a:t>나무 구조로 시각화하여 결과를 해석하고 </a:t>
            </a:r>
            <a:r>
              <a:rPr lang="ko-KR" altLang="en-US" dirty="0">
                <a:solidFill>
                  <a:srgbClr val="C00000"/>
                </a:solidFill>
              </a:rPr>
              <a:t>이해하기 쉬움</a:t>
            </a:r>
          </a:p>
          <a:p>
            <a:pPr lvl="1"/>
            <a:r>
              <a:rPr lang="ko-KR" altLang="en-US" dirty="0"/>
              <a:t>설명 변수에 대한 정보</a:t>
            </a:r>
            <a:r>
              <a:rPr lang="en-US" altLang="ko-KR" dirty="0"/>
              <a:t>(</a:t>
            </a:r>
            <a:r>
              <a:rPr lang="ko-KR" altLang="en-US" dirty="0"/>
              <a:t>중요도</a:t>
            </a:r>
            <a:r>
              <a:rPr lang="en-US" altLang="ko-KR" dirty="0"/>
              <a:t>, </a:t>
            </a:r>
            <a:r>
              <a:rPr lang="ko-KR" altLang="en-US" dirty="0"/>
              <a:t>교호 작용</a:t>
            </a:r>
            <a:r>
              <a:rPr lang="en-US" altLang="ko-KR" dirty="0"/>
              <a:t>) </a:t>
            </a:r>
            <a:r>
              <a:rPr lang="ko-KR" altLang="en-US" dirty="0"/>
              <a:t>제공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C00000"/>
                </a:solidFill>
              </a:rPr>
              <a:t>Feature Importance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자료를 가공</a:t>
            </a:r>
            <a:r>
              <a:rPr lang="en-US" altLang="ko-KR" dirty="0"/>
              <a:t>(Preprocessing)</a:t>
            </a:r>
            <a:r>
              <a:rPr lang="ko-KR" altLang="en-US" dirty="0"/>
              <a:t>할 필요가 거의 없음</a:t>
            </a:r>
          </a:p>
          <a:p>
            <a:pPr lvl="2"/>
            <a:r>
              <a:rPr lang="ko-KR" altLang="en-US" dirty="0"/>
              <a:t>비모수적 모형</a:t>
            </a:r>
            <a:r>
              <a:rPr lang="en-US" altLang="ko-KR" dirty="0"/>
              <a:t>(</a:t>
            </a:r>
            <a:r>
              <a:rPr lang="ko-KR" altLang="en-US" dirty="0"/>
              <a:t>가정 필요 없음</a:t>
            </a:r>
            <a:r>
              <a:rPr lang="en-US" altLang="ko-KR" dirty="0"/>
              <a:t>)</a:t>
            </a:r>
            <a:r>
              <a:rPr lang="ko-KR" altLang="en-US" dirty="0"/>
              <a:t>으로 수치형 및 범주형 데이터 모두 적용 가능</a:t>
            </a:r>
          </a:p>
          <a:p>
            <a:pPr lvl="2"/>
            <a:r>
              <a:rPr lang="ko-KR" altLang="en-US" dirty="0"/>
              <a:t>스케일에 민감하지 않으며 이상치</a:t>
            </a:r>
            <a:r>
              <a:rPr lang="en-US" altLang="ko-KR" dirty="0"/>
              <a:t>(Outlier)</a:t>
            </a:r>
            <a:r>
              <a:rPr lang="ko-KR" altLang="en-US" dirty="0"/>
              <a:t>에 대해 상대적으로 덜 민감</a:t>
            </a:r>
          </a:p>
          <a:p>
            <a:pPr lvl="2"/>
            <a:r>
              <a:rPr lang="ko-KR" altLang="en-US" dirty="0"/>
              <a:t>일부 알고리즘</a:t>
            </a:r>
            <a:r>
              <a:rPr lang="en-US" altLang="ko-KR" dirty="0"/>
              <a:t>(CART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경우  결측치</a:t>
            </a:r>
            <a:r>
              <a:rPr lang="en-US" altLang="ko-KR" dirty="0"/>
              <a:t>(Missing Data) </a:t>
            </a:r>
            <a:r>
              <a:rPr lang="ko-KR" altLang="en-US" dirty="0"/>
              <a:t>대응 방법 포함</a:t>
            </a:r>
          </a:p>
          <a:p>
            <a:r>
              <a:rPr lang="en-US" altLang="ko-KR" dirty="0"/>
              <a:t>Cons</a:t>
            </a:r>
          </a:p>
          <a:p>
            <a:pPr lvl="1"/>
            <a:r>
              <a:rPr lang="ko-KR" altLang="en-US" dirty="0">
                <a:solidFill>
                  <a:srgbClr val="C00000"/>
                </a:solidFill>
              </a:rPr>
              <a:t>과적합</a:t>
            </a:r>
            <a:r>
              <a:rPr lang="en-US" altLang="ko-KR" dirty="0">
                <a:solidFill>
                  <a:srgbClr val="C00000"/>
                </a:solidFill>
              </a:rPr>
              <a:t>(overfitting)</a:t>
            </a:r>
            <a:r>
              <a:rPr lang="ko-KR" altLang="en-US" dirty="0"/>
              <a:t>의 위험이 있음</a:t>
            </a:r>
          </a:p>
          <a:p>
            <a:pPr lvl="2"/>
            <a:r>
              <a:rPr lang="ko-KR" altLang="en-US" dirty="0"/>
              <a:t>가지 치기</a:t>
            </a:r>
            <a:r>
              <a:rPr lang="en-US" altLang="ko-KR" dirty="0"/>
              <a:t>(Pruning) </a:t>
            </a:r>
            <a:r>
              <a:rPr lang="ko-KR" altLang="en-US" dirty="0"/>
              <a:t>및 앙상블 모델</a:t>
            </a:r>
            <a:r>
              <a:rPr lang="en-US" altLang="ko-KR" dirty="0"/>
              <a:t>(Random Forest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등으로 해결</a:t>
            </a:r>
          </a:p>
          <a:p>
            <a:pPr lvl="1"/>
            <a:r>
              <a:rPr lang="ko-KR" altLang="en-US" dirty="0"/>
              <a:t>최적의 트리를 보장하지 못함</a:t>
            </a:r>
          </a:p>
          <a:p>
            <a:pPr lvl="2"/>
            <a:r>
              <a:rPr lang="ko-KR" altLang="en-US" dirty="0"/>
              <a:t>노드 별 </a:t>
            </a:r>
            <a:r>
              <a:rPr lang="ko-KR" altLang="en-US" dirty="0">
                <a:solidFill>
                  <a:srgbClr val="C00000"/>
                </a:solidFill>
              </a:rPr>
              <a:t>부분 최적값</a:t>
            </a:r>
            <a:r>
              <a:rPr lang="en-US" altLang="ko-KR" dirty="0">
                <a:solidFill>
                  <a:srgbClr val="C00000"/>
                </a:solidFill>
              </a:rPr>
              <a:t>(Local Optimum)</a:t>
            </a:r>
            <a:r>
              <a:rPr lang="ko-KR" altLang="en-US" dirty="0"/>
              <a:t>을 찾으며</a:t>
            </a:r>
            <a:r>
              <a:rPr lang="en-US" altLang="ko-KR" dirty="0"/>
              <a:t>, </a:t>
            </a:r>
            <a:r>
              <a:rPr lang="ko-KR" altLang="en-US" dirty="0"/>
              <a:t>결과가 불안정적일 수 있음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high classification error rate while training set is small in comparison with the number of classes</a:t>
            </a:r>
          </a:p>
          <a:p>
            <a:pPr lvl="2"/>
            <a:r>
              <a:rPr lang="en-US" altLang="ko-KR" dirty="0"/>
              <a:t> Exponential calculation growth while problem is getting bigger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r>
              <a:rPr lang="ko-KR" altLang="en-US" dirty="0"/>
              <a:t>의 장단점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698375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41584" y="2480172"/>
            <a:ext cx="205980" cy="205980"/>
            <a:chOff x="465911" y="908720"/>
            <a:chExt cx="274640" cy="274640"/>
          </a:xfrm>
        </p:grpSpPr>
        <p:sp>
          <p:nvSpPr>
            <p:cNvPr id="19" name="타원 18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0" name="L 도형 19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CE3CC5-9A40-1734-8810-320BC584AADA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400242D-F862-B73F-9B62-27A3F9FD5D9F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79975BA5-D930-BB75-2FE7-06CF7CBF1F7F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08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50610" y="702235"/>
            <a:ext cx="7582979" cy="43391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형성 과정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최적의 방향으로 나무를 성장시키고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Impurity Measure(</a:t>
            </a:r>
            <a:r>
              <a:rPr lang="ko-KR" altLang="en-US" dirty="0"/>
              <a:t>불순도</a:t>
            </a:r>
            <a:r>
              <a:rPr lang="en-US" altLang="ko-KR" dirty="0"/>
              <a:t>)</a:t>
            </a:r>
            <a:r>
              <a:rPr lang="ko-KR" altLang="en-US" dirty="0"/>
              <a:t>를 최소화 하는 방향으로 분리 기준</a:t>
            </a:r>
            <a:r>
              <a:rPr lang="en-US" altLang="ko-KR" dirty="0"/>
              <a:t>(Split)</a:t>
            </a:r>
            <a:r>
              <a:rPr lang="ko-KR" altLang="en-US" dirty="0"/>
              <a:t>을 정함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각 변수 별로 값을 바꾸어 가면서 </a:t>
            </a:r>
            <a:r>
              <a:rPr lang="ko-KR" altLang="en-US" dirty="0">
                <a:solidFill>
                  <a:srgbClr val="C00000"/>
                </a:solidFill>
              </a:rPr>
              <a:t>불순도를</a:t>
            </a:r>
            <a:r>
              <a:rPr lang="ko-KR" altLang="en-US" dirty="0"/>
              <a:t> 비교</a:t>
            </a:r>
            <a:r>
              <a:rPr lang="en-US" altLang="ko-KR" dirty="0"/>
              <a:t>(Brute Force Exploration)</a:t>
            </a:r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 err="1"/>
              <a:t>과적합</a:t>
            </a:r>
            <a:r>
              <a:rPr lang="ko-KR" altLang="en-US" dirty="0"/>
              <a:t> 방지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적정한 정지규칙에서 성장을 중단시킴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불필요한 가지는 가지치기</a:t>
            </a:r>
            <a:r>
              <a:rPr lang="en-US" altLang="ko-KR" dirty="0"/>
              <a:t>(Pruning)</a:t>
            </a:r>
            <a:r>
              <a:rPr lang="ko-KR" altLang="en-US" dirty="0"/>
              <a:t>을 통해 제거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r>
              <a:rPr lang="ko-KR" altLang="en-US" dirty="0"/>
              <a:t>의 형성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1945871" y="2061856"/>
            <a:ext cx="1852428" cy="1814120"/>
            <a:chOff x="1835024" y="4283804"/>
            <a:chExt cx="2469904" cy="2418827"/>
          </a:xfrm>
        </p:grpSpPr>
        <p:sp>
          <p:nvSpPr>
            <p:cNvPr id="19" name="직사각형 18"/>
            <p:cNvSpPr/>
            <p:nvPr/>
          </p:nvSpPr>
          <p:spPr>
            <a:xfrm>
              <a:off x="2288704" y="4767983"/>
              <a:ext cx="2016224" cy="1584176"/>
            </a:xfrm>
            <a:prstGeom prst="rect">
              <a:avLst/>
            </a:prstGeom>
            <a:noFill/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2576736" y="4984007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2936776" y="4984007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2648744" y="5406505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3079998" y="5400353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3512840" y="5350768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3868638" y="5278760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3947095" y="5760071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4084662" y="5439247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008784" y="5716291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641848" y="5716291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080792" y="6088807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641848" y="6088807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922712" y="6088807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512840" y="6088807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34" name="타원 33"/>
            <p:cNvSpPr/>
            <p:nvPr/>
          </p:nvSpPr>
          <p:spPr>
            <a:xfrm>
              <a:off x="3512840" y="4984007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35" name="타원 34"/>
            <p:cNvSpPr/>
            <p:nvPr/>
          </p:nvSpPr>
          <p:spPr>
            <a:xfrm>
              <a:off x="3998887" y="4984007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cxnSp>
          <p:nvCxnSpPr>
            <p:cNvPr id="36" name="직선 연결선 35"/>
            <p:cNvCxnSpPr/>
            <p:nvPr/>
          </p:nvCxnSpPr>
          <p:spPr>
            <a:xfrm>
              <a:off x="3849166" y="4581128"/>
              <a:ext cx="0" cy="1800200"/>
            </a:xfrm>
            <a:prstGeom prst="line">
              <a:avLst/>
            </a:prstGeom>
            <a:noFill/>
            <a:ln w="57150" cap="flat" cmpd="sng" algn="ctr">
              <a:solidFill>
                <a:srgbClr val="00B050"/>
              </a:solidFill>
              <a:prstDash val="solid"/>
            </a:ln>
            <a:effectLst/>
          </p:spPr>
        </p:cxnSp>
        <p:cxnSp>
          <p:nvCxnSpPr>
            <p:cNvPr id="37" name="직선 연결선 36"/>
            <p:cNvCxnSpPr/>
            <p:nvPr/>
          </p:nvCxnSpPr>
          <p:spPr>
            <a:xfrm>
              <a:off x="2242030" y="5655271"/>
              <a:ext cx="2052000" cy="0"/>
            </a:xfrm>
            <a:prstGeom prst="line">
              <a:avLst/>
            </a:prstGeom>
            <a:noFill/>
            <a:ln w="57150" cap="flat" cmpd="sng" algn="ctr">
              <a:solidFill>
                <a:srgbClr val="00B050"/>
              </a:solidFill>
              <a:prstDash val="solid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1835024" y="5478771"/>
              <a:ext cx="483467" cy="400109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b="1" kern="0" dirty="0">
                  <a:solidFill>
                    <a:srgbClr val="FFFFFF"/>
                  </a:solidFill>
                  <a:latin typeface="맑은 고딕"/>
                  <a:ea typeface="맑은 고딕" panose="020B0503020000020004" pitchFamily="50" charset="-127"/>
                </a:rPr>
                <a:t>A</a:t>
              </a:r>
              <a:r>
                <a:rPr lang="en-US" altLang="ko-KR" sz="750" b="1" kern="0" dirty="0">
                  <a:solidFill>
                    <a:srgbClr val="FFFFFF"/>
                  </a:solidFill>
                  <a:latin typeface="맑은 고딕"/>
                  <a:ea typeface="맑은 고딕" panose="020B0503020000020004" pitchFamily="50" charset="-127"/>
                </a:rPr>
                <a:t>2</a:t>
              </a:r>
              <a:endParaRPr lang="ko-KR" altLang="en-US" sz="750" b="1" kern="0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66328" y="4283804"/>
              <a:ext cx="468504" cy="400109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b="1" kern="0" dirty="0">
                  <a:solidFill>
                    <a:srgbClr val="FFFFFF"/>
                  </a:solidFill>
                  <a:latin typeface="맑은 고딕"/>
                  <a:ea typeface="맑은 고딕" panose="020B0503020000020004" pitchFamily="50" charset="-127"/>
                </a:rPr>
                <a:t>B</a:t>
              </a:r>
              <a:r>
                <a:rPr lang="en-US" altLang="ko-KR" sz="750" b="1" kern="0" dirty="0">
                  <a:solidFill>
                    <a:srgbClr val="FFFFFF"/>
                  </a:solidFill>
                  <a:latin typeface="맑은 고딕"/>
                  <a:ea typeface="맑은 고딕" panose="020B0503020000020004" pitchFamily="50" charset="-127"/>
                </a:rPr>
                <a:t>3</a:t>
              </a:r>
              <a:endParaRPr lang="ko-KR" altLang="en-US" sz="750" b="1" kern="0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519289" y="5760071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292821" y="5888610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cxnSp>
          <p:nvCxnSpPr>
            <p:cNvPr id="42" name="직선 연결선 41"/>
            <p:cNvCxnSpPr/>
            <p:nvPr/>
          </p:nvCxnSpPr>
          <p:spPr>
            <a:xfrm>
              <a:off x="2220398" y="5219908"/>
              <a:ext cx="2052000" cy="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43" name="직선 연결선 42"/>
            <p:cNvCxnSpPr/>
            <p:nvPr/>
          </p:nvCxnSpPr>
          <p:spPr>
            <a:xfrm>
              <a:off x="2237650" y="6037874"/>
              <a:ext cx="2052000" cy="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44" name="직선 연결선 43"/>
            <p:cNvCxnSpPr/>
            <p:nvPr/>
          </p:nvCxnSpPr>
          <p:spPr>
            <a:xfrm>
              <a:off x="2834510" y="4581128"/>
              <a:ext cx="0" cy="180020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45" name="직선 연결선 44"/>
            <p:cNvCxnSpPr/>
            <p:nvPr/>
          </p:nvCxnSpPr>
          <p:spPr>
            <a:xfrm>
              <a:off x="3275184" y="4581128"/>
              <a:ext cx="0" cy="180020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sp>
          <p:nvSpPr>
            <p:cNvPr id="46" name="TextBox 45"/>
            <p:cNvSpPr txBox="1"/>
            <p:nvPr/>
          </p:nvSpPr>
          <p:spPr>
            <a:xfrm>
              <a:off x="1843651" y="5029763"/>
              <a:ext cx="468504" cy="40010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A</a:t>
              </a:r>
              <a:r>
                <a:rPr lang="en-US" altLang="ko-KR" sz="7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endParaRPr lang="ko-KR" altLang="en-US" sz="7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843651" y="5922071"/>
              <a:ext cx="468504" cy="40010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A</a:t>
              </a:r>
              <a:r>
                <a:rPr lang="en-US" altLang="ko-KR" sz="7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3</a:t>
              </a:r>
              <a:endParaRPr lang="ko-KR" altLang="en-US" sz="7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644364" y="4283804"/>
              <a:ext cx="451405" cy="40010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B</a:t>
              </a:r>
              <a:r>
                <a:rPr lang="en-US" altLang="ko-KR" sz="7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endParaRPr lang="ko-KR" altLang="en-US" sz="7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85039" y="4283804"/>
              <a:ext cx="451405" cy="40010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B</a:t>
              </a:r>
              <a:r>
                <a:rPr lang="en-US" altLang="ko-KR" sz="7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2</a:t>
              </a:r>
              <a:endParaRPr lang="ko-KR" altLang="en-US" sz="7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13856" y="6364076"/>
              <a:ext cx="1135311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221" latinLnBrk="0">
                <a:defRPr/>
              </a:pPr>
              <a:r>
                <a:rPr lang="en-US" altLang="ko-KR" sz="1050" b="1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1) A</a:t>
              </a:r>
              <a:r>
                <a:rPr lang="en-US" altLang="ko-KR" sz="600" b="1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2</a:t>
              </a:r>
              <a:r>
                <a:rPr lang="en-US" altLang="ko-KR" sz="1050" b="1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 </a:t>
              </a:r>
              <a:r>
                <a:rPr lang="ko-KR" altLang="en-US" sz="1050" b="1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선택</a:t>
              </a:r>
              <a:endParaRPr lang="en-US" altLang="ko-KR" sz="105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오른쪽 화살표 50"/>
          <p:cNvSpPr/>
          <p:nvPr/>
        </p:nvSpPr>
        <p:spPr>
          <a:xfrm>
            <a:off x="4230347" y="2716897"/>
            <a:ext cx="378042" cy="332647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5256461" y="2052275"/>
            <a:ext cx="1512168" cy="664622"/>
            <a:chOff x="6249144" y="4271030"/>
            <a:chExt cx="2016224" cy="886162"/>
          </a:xfrm>
        </p:grpSpPr>
        <p:sp>
          <p:nvSpPr>
            <p:cNvPr id="53" name="직사각형 52"/>
            <p:cNvSpPr/>
            <p:nvPr/>
          </p:nvSpPr>
          <p:spPr>
            <a:xfrm>
              <a:off x="6249144" y="4271030"/>
              <a:ext cx="2016224" cy="886162"/>
            </a:xfrm>
            <a:prstGeom prst="rect">
              <a:avLst/>
            </a:prstGeom>
            <a:noFill/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54" name="타원 53"/>
            <p:cNvSpPr/>
            <p:nvPr/>
          </p:nvSpPr>
          <p:spPr>
            <a:xfrm>
              <a:off x="6537176" y="4487054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55" name="타원 54"/>
            <p:cNvSpPr/>
            <p:nvPr/>
          </p:nvSpPr>
          <p:spPr>
            <a:xfrm>
              <a:off x="6897216" y="4487054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6609184" y="4909552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7040438" y="4903400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7473280" y="4853815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7829078" y="4781807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8045102" y="4942294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1" name="타원 60"/>
            <p:cNvSpPr/>
            <p:nvPr/>
          </p:nvSpPr>
          <p:spPr>
            <a:xfrm>
              <a:off x="7473280" y="4487054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7959327" y="4487054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5219466" y="2824909"/>
            <a:ext cx="1539509" cy="858120"/>
            <a:chOff x="6199818" y="5301208"/>
            <a:chExt cx="2052678" cy="1144160"/>
          </a:xfrm>
        </p:grpSpPr>
        <p:sp>
          <p:nvSpPr>
            <p:cNvPr id="64" name="직사각형 63"/>
            <p:cNvSpPr/>
            <p:nvPr/>
          </p:nvSpPr>
          <p:spPr>
            <a:xfrm>
              <a:off x="6236272" y="5745863"/>
              <a:ext cx="2016224" cy="696888"/>
            </a:xfrm>
            <a:prstGeom prst="rect">
              <a:avLst/>
            </a:prstGeom>
            <a:noFill/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5" name="타원 64"/>
            <p:cNvSpPr/>
            <p:nvPr/>
          </p:nvSpPr>
          <p:spPr>
            <a:xfrm>
              <a:off x="7894663" y="5850663"/>
              <a:ext cx="144016" cy="144016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6956352" y="5806883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6589416" y="5806883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7028360" y="6179399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6589416" y="6179399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7883152" y="6179399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7460408" y="6179399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cxnSp>
          <p:nvCxnSpPr>
            <p:cNvPr id="72" name="직선 연결선 71"/>
            <p:cNvCxnSpPr/>
            <p:nvPr/>
          </p:nvCxnSpPr>
          <p:spPr>
            <a:xfrm>
              <a:off x="7796734" y="5653368"/>
              <a:ext cx="0" cy="79200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sp>
          <p:nvSpPr>
            <p:cNvPr id="73" name="TextBox 72"/>
            <p:cNvSpPr txBox="1"/>
            <p:nvPr/>
          </p:nvSpPr>
          <p:spPr>
            <a:xfrm>
              <a:off x="7613896" y="5301208"/>
              <a:ext cx="468504" cy="400109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b="1" kern="0" dirty="0">
                  <a:solidFill>
                    <a:srgbClr val="FFFFFF"/>
                  </a:solidFill>
                  <a:latin typeface="맑은 고딕"/>
                  <a:ea typeface="맑은 고딕" panose="020B0503020000020004" pitchFamily="50" charset="-127"/>
                </a:rPr>
                <a:t>B</a:t>
              </a:r>
              <a:r>
                <a:rPr lang="en-US" altLang="ko-KR" sz="750" b="1" kern="0" dirty="0">
                  <a:solidFill>
                    <a:srgbClr val="FFFFFF"/>
                  </a:solidFill>
                  <a:latin typeface="맑은 고딕"/>
                  <a:ea typeface="맑은 고딕" panose="020B0503020000020004" pitchFamily="50" charset="-127"/>
                </a:rPr>
                <a:t>3</a:t>
              </a:r>
              <a:endParaRPr lang="ko-KR" altLang="en-US" sz="750" b="1" kern="0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7466857" y="5850663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7240389" y="5979202"/>
              <a:ext cx="144016" cy="144016"/>
            </a:xfrm>
            <a:prstGeom prst="rect">
              <a:avLst/>
            </a:prstGeom>
            <a:solidFill>
              <a:srgbClr val="7030A0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85221" latinLnBrk="0">
                <a:defRPr/>
              </a:pPr>
              <a:endParaRPr lang="ko-KR" altLang="en-US" sz="1350" kern="0" dirty="0">
                <a:solidFill>
                  <a:srgbClr val="FFFFFF"/>
                </a:solidFill>
                <a:latin typeface="나눔고딕"/>
                <a:ea typeface="나눔고딕"/>
              </a:endParaRPr>
            </a:p>
          </p:txBody>
        </p:sp>
        <p:cxnSp>
          <p:nvCxnSpPr>
            <p:cNvPr id="76" name="직선 연결선 75"/>
            <p:cNvCxnSpPr/>
            <p:nvPr/>
          </p:nvCxnSpPr>
          <p:spPr>
            <a:xfrm>
              <a:off x="6199818" y="6128466"/>
              <a:ext cx="2052000" cy="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77" name="직선 연결선 76"/>
            <p:cNvCxnSpPr/>
            <p:nvPr/>
          </p:nvCxnSpPr>
          <p:spPr>
            <a:xfrm>
              <a:off x="6782078" y="5653368"/>
              <a:ext cx="0" cy="79200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78" name="직선 연결선 77"/>
            <p:cNvCxnSpPr/>
            <p:nvPr/>
          </p:nvCxnSpPr>
          <p:spPr>
            <a:xfrm>
              <a:off x="7222752" y="5653368"/>
              <a:ext cx="0" cy="792000"/>
            </a:xfrm>
            <a:prstGeom prst="line">
              <a:avLst/>
            </a:prstGeom>
            <a:noFill/>
            <a:ln w="9525" cap="flat" cmpd="sng" algn="ctr">
              <a:solidFill>
                <a:srgbClr val="BBE0E3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sp>
          <p:nvSpPr>
            <p:cNvPr id="79" name="TextBox 78"/>
            <p:cNvSpPr txBox="1"/>
            <p:nvPr/>
          </p:nvSpPr>
          <p:spPr>
            <a:xfrm>
              <a:off x="6591933" y="5301208"/>
              <a:ext cx="451405" cy="40010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B</a:t>
              </a:r>
              <a:r>
                <a:rPr lang="en-US" altLang="ko-KR" sz="7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endParaRPr lang="ko-KR" altLang="en-US" sz="7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32606" y="5301208"/>
              <a:ext cx="451405" cy="400109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txBody>
            <a:bodyPr wrap="none" rtlCol="0">
              <a:spAutoFit/>
            </a:bodyPr>
            <a:lstStyle/>
            <a:p>
              <a:pPr defTabSz="685221" latinLnBrk="0">
                <a:defRPr/>
              </a:pPr>
              <a:r>
                <a:rPr lang="en-US" altLang="ko-KR" sz="13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B</a:t>
              </a:r>
              <a:r>
                <a:rPr lang="en-US" altLang="ko-KR" sz="750" kern="0" dirty="0">
                  <a:solidFill>
                    <a:srgbClr val="000000"/>
                  </a:solidFill>
                  <a:latin typeface="맑은 고딕"/>
                  <a:ea typeface="맑은 고딕" panose="020B0503020000020004" pitchFamily="50" charset="-127"/>
                </a:rPr>
                <a:t>2</a:t>
              </a:r>
              <a:endParaRPr lang="ko-KR" altLang="en-US" sz="750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6832797" y="2284849"/>
            <a:ext cx="7228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221" latinLnBrk="0"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2-1) </a:t>
            </a:r>
            <a:r>
              <a:rPr lang="ko-KR" altLang="en-US" sz="105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완료</a:t>
            </a:r>
            <a:endParaRPr lang="en-US" altLang="ko-KR" sz="1050" b="1" kern="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822635" y="3296154"/>
            <a:ext cx="9014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221" latinLnBrk="0"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2-2) B</a:t>
            </a:r>
            <a:r>
              <a:rPr lang="en-US" altLang="ko-KR" sz="60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1050" b="1" kern="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선택</a:t>
            </a:r>
            <a:endParaRPr lang="en-US" altLang="ko-KR" sz="1050" b="1" kern="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658466" y="3397316"/>
            <a:ext cx="108012" cy="108012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6615857" y="3460042"/>
            <a:ext cx="108012" cy="108012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endParaRPr lang="ko-KR" altLang="en-US" sz="1350" kern="0" dirty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19AFBD4-5555-38F7-588D-501546ED21E9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2CCF82-8239-828D-D158-42CC2FAD07E0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9EBB122F-4DB5-D204-B690-59ADBE18085A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1654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03238" y="702235"/>
            <a:ext cx="7630351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과적합 </a:t>
            </a:r>
            <a:r>
              <a:rPr lang="en-US" altLang="ko-KR" dirty="0"/>
              <a:t>(Overfitting)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학습데이터에 대해서는 좋은 결과를 내나</a:t>
            </a:r>
            <a:r>
              <a:rPr lang="en-US" altLang="ko-KR" dirty="0"/>
              <a:t>, </a:t>
            </a:r>
            <a:r>
              <a:rPr lang="ko-KR" altLang="en-US" dirty="0"/>
              <a:t>학습에 사용하지 않은 </a:t>
            </a:r>
            <a:br>
              <a:rPr lang="en-US" altLang="ko-KR" dirty="0"/>
            </a:br>
            <a:r>
              <a:rPr lang="ko-KR" altLang="en-US" dirty="0"/>
              <a:t>테스트 데이터에 대해서는 정확한 예측을 못하는 것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학습데이터가 부족하거나</a:t>
            </a:r>
            <a:r>
              <a:rPr lang="en-US" altLang="ko-KR" dirty="0"/>
              <a:t>, </a:t>
            </a:r>
            <a:r>
              <a:rPr lang="ko-KR" altLang="en-US" dirty="0"/>
              <a:t>학습데이터에 잡음이 있는 경우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>
                <a:solidFill>
                  <a:srgbClr val="C00000"/>
                </a:solidFill>
              </a:rPr>
              <a:t>학습데이터에 너무 특화될 때 </a:t>
            </a:r>
            <a:r>
              <a:rPr lang="ko-KR" altLang="en-US" dirty="0"/>
              <a:t>발생됨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r>
              <a:rPr lang="ko-KR" altLang="en-US" dirty="0"/>
              <a:t>의 과적합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8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33"/>
          <a:stretch/>
        </p:blipFill>
        <p:spPr bwMode="auto">
          <a:xfrm>
            <a:off x="1610089" y="2231056"/>
            <a:ext cx="4227389" cy="2345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6" name="직선 화살표 연결선 85"/>
          <p:cNvCxnSpPr/>
          <p:nvPr/>
        </p:nvCxnSpPr>
        <p:spPr>
          <a:xfrm>
            <a:off x="5123400" y="2587217"/>
            <a:ext cx="0" cy="756084"/>
          </a:xfrm>
          <a:prstGeom prst="straightConnector1">
            <a:avLst/>
          </a:prstGeom>
          <a:noFill/>
          <a:ln w="57150" cap="flat" cmpd="sng" algn="ctr">
            <a:solidFill>
              <a:srgbClr val="00B0F0"/>
            </a:solidFill>
            <a:prstDash val="solid"/>
            <a:headEnd type="arrow"/>
            <a:tailEnd type="arrow"/>
          </a:ln>
          <a:effectLst/>
        </p:spPr>
      </p:cxnSp>
      <p:sp>
        <p:nvSpPr>
          <p:cNvPr id="87" name="직사각형 86"/>
          <p:cNvSpPr/>
          <p:nvPr/>
        </p:nvSpPr>
        <p:spPr>
          <a:xfrm>
            <a:off x="3432598" y="2448718"/>
            <a:ext cx="151977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 Training Data</a:t>
            </a:r>
            <a:endParaRPr lang="ko-KR" altLang="en-US" sz="13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591462" y="3066302"/>
            <a:ext cx="12041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 Test Data</a:t>
            </a:r>
            <a:endParaRPr lang="ko-KR" altLang="en-US" sz="13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888722" y="3775349"/>
            <a:ext cx="1728192" cy="30008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defTabSz="685221" latinLnBrk="0">
              <a:defRPr/>
            </a:pPr>
            <a:endParaRPr lang="ko-KR" altLang="en-US" sz="1350" kern="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863589" y="3100927"/>
            <a:ext cx="999868" cy="48474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685221" latinLnBrk="0">
              <a:defRPr/>
            </a:pPr>
            <a:r>
              <a:rPr lang="ko-KR" altLang="en-US" sz="135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</a:t>
            </a:r>
            <a:endParaRPr lang="en-US" altLang="ko-KR" sz="135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85221" latinLnBrk="0"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(Accuracy)</a:t>
            </a:r>
            <a:endParaRPr lang="ko-KR" altLang="en-US" sz="12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오른쪽 화살표 90"/>
          <p:cNvSpPr/>
          <p:nvPr/>
        </p:nvSpPr>
        <p:spPr>
          <a:xfrm>
            <a:off x="5846159" y="2773531"/>
            <a:ext cx="312516" cy="1545220"/>
          </a:xfrm>
          <a:prstGeom prst="right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ko-KR" altLang="en-US" sz="1350" b="1" kern="0" dirty="0">
                <a:solidFill>
                  <a:srgbClr val="000000"/>
                </a:solidFill>
                <a:latin typeface="나눔고딕"/>
                <a:ea typeface="나눔고딕"/>
              </a:rPr>
              <a:t>개선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6393" y="2844119"/>
            <a:ext cx="1866537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en-US" altLang="ko-KR" sz="135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Classical</a:t>
            </a:r>
          </a:p>
          <a:p>
            <a:pPr marL="214313" indent="-214313" defTabSz="685221">
              <a:buFont typeface="Times New Roman" pitchFamily="18" charset="0"/>
              <a:buChar char="–"/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Stopping Rule</a:t>
            </a:r>
          </a:p>
          <a:p>
            <a:pPr marL="214313" indent="-214313" defTabSz="685221">
              <a:buFont typeface="Times New Roman" pitchFamily="18" charset="0"/>
              <a:buChar char="–"/>
              <a:defRPr/>
            </a:pP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Pruning (</a:t>
            </a:r>
            <a:r>
              <a:rPr lang="ko-KR" altLang="en-US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가지치기</a:t>
            </a:r>
            <a:r>
              <a:rPr lang="en-US" altLang="ko-KR" sz="135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defTabSz="685221">
              <a:defRPr/>
            </a:pPr>
            <a:r>
              <a:rPr lang="en-US" altLang="ko-KR" sz="13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New: Ensemble</a:t>
            </a:r>
          </a:p>
          <a:p>
            <a:pPr marL="214313" indent="-214313" defTabSz="685221">
              <a:buFont typeface="Times New Roman" pitchFamily="18" charset="0"/>
              <a:buChar char="–"/>
              <a:defRPr/>
            </a:pPr>
            <a:r>
              <a:rPr lang="en-US" altLang="ko-KR" sz="1350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Random Forest</a:t>
            </a:r>
          </a:p>
          <a:p>
            <a:pPr marL="214313" indent="-214313" defTabSz="685221">
              <a:buFont typeface="Times New Roman" pitchFamily="18" charset="0"/>
              <a:buChar char="–"/>
              <a:defRPr/>
            </a:pPr>
            <a:r>
              <a:rPr kumimoji="1" lang="en-US" altLang="ko-KR" sz="1350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GBT</a:t>
            </a:r>
            <a:endParaRPr lang="ko-KR" altLang="en-US" sz="135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374055" y="4553074"/>
            <a:ext cx="3072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221"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Size of tree(number of nodes)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2154649-7B38-E28A-F80B-5A1E927C84F9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FE5094-D316-59B4-0CCF-D018CF941676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1B2918BD-DE19-6456-F736-2CB80E3FB898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010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36480" y="702235"/>
            <a:ext cx="7597109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Stopping Rule (</a:t>
            </a:r>
            <a:r>
              <a:rPr lang="ko-KR" altLang="en-US" dirty="0"/>
              <a:t>정지 규칙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규칙 조건에 도달한 마디가 끝 마디가 되도록 </a:t>
            </a:r>
            <a:r>
              <a:rPr lang="ko-KR" altLang="en-US" dirty="0">
                <a:solidFill>
                  <a:srgbClr val="C00000"/>
                </a:solidFill>
              </a:rPr>
              <a:t>성장을 미리 억제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일반적인 </a:t>
            </a:r>
            <a:r>
              <a:rPr lang="en-US" altLang="ko-KR" dirty="0"/>
              <a:t>Stopping Rule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노드의 모든 데이터가 하나의 클래스만 남음</a:t>
            </a:r>
            <a:r>
              <a:rPr lang="en-US" altLang="ko-KR" dirty="0"/>
              <a:t>(</a:t>
            </a:r>
            <a:r>
              <a:rPr lang="ko-KR" altLang="en-US" dirty="0"/>
              <a:t>순도 </a:t>
            </a:r>
            <a:r>
              <a:rPr lang="en-US" altLang="ko-KR" dirty="0"/>
              <a:t>100% </a:t>
            </a:r>
            <a:r>
              <a:rPr lang="ko-KR" altLang="en-US" dirty="0"/>
              <a:t>인 경우</a:t>
            </a:r>
            <a:r>
              <a:rPr lang="en-US" altLang="ko-KR" dirty="0"/>
              <a:t>)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트리의 깊이</a:t>
            </a:r>
            <a:r>
              <a:rPr lang="en-US" altLang="ko-KR" dirty="0"/>
              <a:t>(depth)</a:t>
            </a:r>
            <a:r>
              <a:rPr lang="ko-KR" altLang="en-US" dirty="0"/>
              <a:t>가 지정한 값</a:t>
            </a:r>
            <a:r>
              <a:rPr lang="en-US" altLang="ko-KR" dirty="0"/>
              <a:t>(Max Depth)</a:t>
            </a:r>
            <a:r>
              <a:rPr lang="ko-KR" altLang="en-US" dirty="0"/>
              <a:t>에 도달함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노드의 크기가 지정한 값</a:t>
            </a:r>
            <a:r>
              <a:rPr lang="en-US" altLang="ko-KR" dirty="0"/>
              <a:t>(Min Instance Per Node) </a:t>
            </a:r>
            <a:r>
              <a:rPr lang="ko-KR" altLang="en-US" dirty="0"/>
              <a:t>보다 작음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불순도의 감소량이 지정된 값</a:t>
            </a:r>
            <a:r>
              <a:rPr lang="en-US" altLang="ko-KR" dirty="0"/>
              <a:t>(Min Information Gain)</a:t>
            </a:r>
            <a:r>
              <a:rPr lang="ko-KR" altLang="en-US" dirty="0"/>
              <a:t>보다 적음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 Tree</a:t>
            </a:r>
            <a:r>
              <a:rPr lang="ko-KR" altLang="en-US" dirty="0"/>
              <a:t>의 과적합을 피하는 방법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6" b="27669"/>
          <a:stretch/>
        </p:blipFill>
        <p:spPr bwMode="auto">
          <a:xfrm>
            <a:off x="1767319" y="3134087"/>
            <a:ext cx="5745578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C2A8B94-049F-EB2E-A6D3-EB674A2CDE04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BE4238-AC34-CBD2-36C0-06F27601C331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2977FD02-B7BA-D367-A2BA-D80F5D810667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0516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500" tIns="35100" rIns="67500" bIns="35100" numCol="1" anchor="ctr" anchorCtr="0" compatLnSpc="1">
            <a:prstTxWarp prst="textNoShape">
              <a:avLst/>
            </a:prstTxWarp>
            <a:noAutofit/>
          </a:bodyPr>
          <a:lstStyle/>
          <a:p>
            <a:pPr defTabSz="583406">
              <a:spcBef>
                <a:spcPct val="20000"/>
              </a:spcBef>
            </a:pPr>
            <a:r>
              <a:rPr lang="ko-KR" altLang="en-US" kern="1200" dirty="0"/>
              <a:t>불순도</a:t>
            </a:r>
            <a:r>
              <a:rPr lang="en-US" altLang="ko-KR" kern="1200" dirty="0"/>
              <a:t>(Impurity Measure) </a:t>
            </a:r>
            <a:endParaRPr lang="ko-KR" altLang="en-US" kern="1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543" y="1776469"/>
            <a:ext cx="6104915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38" y="4568256"/>
            <a:ext cx="637222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6841551" y="1667467"/>
            <a:ext cx="96212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By Gini </a:t>
            </a:r>
            <a:r>
              <a:rPr lang="ko-KR" altLang="en-US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계수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207335" y="974969"/>
            <a:ext cx="2417123" cy="692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221">
              <a:defRPr/>
            </a:pP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분리 후</a:t>
            </a: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685221">
              <a:defRPr/>
            </a:pP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순도가 높아짐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824409" y="1009594"/>
            <a:ext cx="2417123" cy="692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221">
              <a:defRPr/>
            </a:pP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분리 했으나</a:t>
            </a: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685221">
              <a:defRPr/>
            </a:pPr>
            <a:r>
              <a:rPr lang="ko-KR" altLang="en-US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순도가 그대로</a:t>
            </a:r>
            <a:r>
              <a:rPr lang="en-US" altLang="ko-KR" sz="15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ko-KR" altLang="en-US" sz="15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3AB3DBF-CA11-1B13-8733-2089E2F2EB6E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4364B6C-6B35-AFC6-EB5D-3171D9F158EE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7B0C6B50-DC61-BDEA-C7E6-9E5F5AFBB2E6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132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36480" y="702235"/>
            <a:ext cx="7887948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정보 획득</a:t>
            </a:r>
            <a:r>
              <a:rPr lang="en-US" altLang="ko-KR" dirty="0"/>
              <a:t>(Information Gain)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분리된 노드의 불순도</a:t>
            </a:r>
            <a:r>
              <a:rPr lang="en-US" altLang="ko-KR" dirty="0"/>
              <a:t>(Impurity)* </a:t>
            </a:r>
            <a:r>
              <a:rPr lang="ko-KR" altLang="en-US" dirty="0"/>
              <a:t>혹은 불확실성</a:t>
            </a:r>
            <a:r>
              <a:rPr lang="en-US" altLang="ko-KR" dirty="0"/>
              <a:t>(Uncertainty)</a:t>
            </a:r>
            <a:r>
              <a:rPr lang="ko-KR" altLang="en-US" dirty="0"/>
              <a:t>이 감소하는 방향으로 분리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불순도 계산 방법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범주형 목표변수 </a:t>
            </a:r>
            <a:r>
              <a:rPr lang="en-US" altLang="ko-KR" dirty="0"/>
              <a:t>(</a:t>
            </a:r>
            <a:r>
              <a:rPr lang="ko-KR" altLang="en-US" dirty="0"/>
              <a:t>각 범주에 속하는 빈도에 기초하여 분리</a:t>
            </a:r>
            <a:r>
              <a:rPr lang="en-US" altLang="ko-KR" dirty="0"/>
              <a:t>, Classification)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Entropy Reduction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Gini Reduction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Chi-square test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연속형 목표변수 </a:t>
            </a:r>
            <a:r>
              <a:rPr lang="en-US" altLang="ko-KR" dirty="0"/>
              <a:t>(</a:t>
            </a:r>
            <a:r>
              <a:rPr lang="ko-KR" altLang="en-US" dirty="0"/>
              <a:t>목표 변수의 평균에 기초하여 분리</a:t>
            </a:r>
            <a:r>
              <a:rPr lang="en-US" altLang="ko-KR" dirty="0"/>
              <a:t>, Regression)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F-test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Reduction of  Variance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불순도</a:t>
            </a:r>
            <a:r>
              <a:rPr lang="en-US" altLang="ko-KR" dirty="0"/>
              <a:t>(Impurity Measure) </a:t>
            </a:r>
            <a:r>
              <a:rPr lang="ko-KR" altLang="en-US" dirty="0"/>
              <a:t>측정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1290145" y="4022943"/>
            <a:ext cx="62504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불순도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(impurity)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반대는 순수도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(purity)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특정 범주의 개체들이 포함되어 있는 정도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432256" y="1419622"/>
            <a:ext cx="205980" cy="205980"/>
            <a:chOff x="465911" y="908720"/>
            <a:chExt cx="274640" cy="274640"/>
          </a:xfrm>
        </p:grpSpPr>
        <p:sp>
          <p:nvSpPr>
            <p:cNvPr id="15" name="타원 14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0" name="L 도형 19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390AED-9C4B-5F4C-EDA1-9AA0400D9D61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556780-1B30-A392-68FE-2CE02EC455FF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84616361-CE8A-4479-FC8C-481F2C8B7691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268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36480" y="702235"/>
            <a:ext cx="7597109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The definition of the information entropy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불순할수록 엔트로피가 커짐 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  <a:p>
            <a:pPr>
              <a:lnSpc>
                <a:spcPct val="120000"/>
              </a:lnSpc>
            </a:pPr>
            <a:endParaRPr lang="ko-KR" altLang="en-US" dirty="0"/>
          </a:p>
          <a:p>
            <a:pPr>
              <a:lnSpc>
                <a:spcPct val="120000"/>
              </a:lnSpc>
            </a:pPr>
            <a:endParaRPr lang="ko-KR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엔트로피 지수</a:t>
            </a:r>
            <a:r>
              <a:rPr lang="en-US" altLang="ko-KR" dirty="0"/>
              <a:t>= </a:t>
            </a:r>
            <a:r>
              <a:rPr lang="ko-KR" altLang="en-US" dirty="0"/>
              <a:t>엔트로피 지수</a:t>
            </a:r>
            <a:r>
              <a:rPr lang="en-US" altLang="ko-KR" dirty="0"/>
              <a:t>(Left)*P(Left) +</a:t>
            </a:r>
            <a:r>
              <a:rPr lang="ko-KR" altLang="en-US" dirty="0"/>
              <a:t>엔트로피 지수</a:t>
            </a:r>
            <a:r>
              <a:rPr lang="en-US" altLang="ko-KR" dirty="0"/>
              <a:t>(Right)*P(Right)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Entropy Impurity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9" name="개체 18"/>
          <p:cNvGraphicFramePr>
            <a:graphicFrameLocks noChangeAspect="1"/>
          </p:cNvGraphicFramePr>
          <p:nvPr/>
        </p:nvGraphicFramePr>
        <p:xfrm>
          <a:off x="1360152" y="1380587"/>
          <a:ext cx="337661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2717640" imgH="660240" progId="Equation.3">
                  <p:embed/>
                </p:oleObj>
              </mc:Choice>
              <mc:Fallback>
                <p:oleObj name="수식" r:id="rId2" imgW="2717640" imgH="660240" progId="Equation.3">
                  <p:embed/>
                  <p:pic>
                    <p:nvPicPr>
                      <p:cNvPr id="19" name="개체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152" y="1380587"/>
                        <a:ext cx="3376613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5662"/>
              </p:ext>
            </p:extLst>
          </p:nvPr>
        </p:nvGraphicFramePr>
        <p:xfrm>
          <a:off x="5312250" y="2817599"/>
          <a:ext cx="2821340" cy="914400"/>
        </p:xfrm>
        <a:graphic>
          <a:graphicData uri="http://schemas.openxmlformats.org/drawingml/2006/table">
            <a:tbl>
              <a:tblPr firstRow="1" lastRow="1"/>
              <a:tblGrid>
                <a:gridCol w="70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Good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Bad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Total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Left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48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80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Right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178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220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210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1614810" y="4325665"/>
            <a:ext cx="6041810" cy="324036"/>
          </a:xfrm>
          <a:prstGeom prst="rect">
            <a:avLst/>
          </a:prstGeom>
          <a:solidFill>
            <a:srgbClr val="41849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Entropy </a:t>
            </a:r>
            <a:r>
              <a:rPr lang="ko-KR" altLang="en-US" sz="15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값을 가장 </a:t>
            </a:r>
            <a:r>
              <a:rPr lang="ko-KR" altLang="en-US" sz="15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작게</a:t>
            </a:r>
            <a:r>
              <a:rPr lang="ko-KR" altLang="en-US" sz="15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하는 방법으로 분리</a:t>
            </a:r>
          </a:p>
        </p:txBody>
      </p:sp>
      <p:pic>
        <p:nvPicPr>
          <p:cNvPr id="23" name="Picture 11" descr="entropy graph에 대한 이미지 검색결과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71" r="20750" b="1905"/>
          <a:stretch/>
        </p:blipFill>
        <p:spPr bwMode="auto">
          <a:xfrm>
            <a:off x="5614531" y="726491"/>
            <a:ext cx="1641290" cy="149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개체 23"/>
          <p:cNvGraphicFramePr>
            <a:graphicFrameLocks noChangeAspect="1"/>
          </p:cNvGraphicFramePr>
          <p:nvPr/>
        </p:nvGraphicFramePr>
        <p:xfrm>
          <a:off x="1290145" y="2745507"/>
          <a:ext cx="3913585" cy="1450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5" imgW="3149280" imgH="1168200" progId="Equation.3">
                  <p:embed/>
                </p:oleObj>
              </mc:Choice>
              <mc:Fallback>
                <p:oleObj name="수식" r:id="rId5" imgW="3149280" imgH="1168200" progId="Equation.3">
                  <p:embed/>
                  <p:pic>
                    <p:nvPicPr>
                      <p:cNvPr id="24" name="개체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145" y="2745507"/>
                        <a:ext cx="3913585" cy="1450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996919FD-025B-3C89-CB66-BF2B74A73608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5B3521-33D5-4AD1-183E-93F79008047D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FF34E283-D5D0-CBE7-2353-F47E60BE2E6D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6808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03238" y="702235"/>
            <a:ext cx="7630351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한 노드에서 임의로 두개 샘플을 </a:t>
            </a:r>
            <a:r>
              <a:rPr lang="ko-KR" altLang="en-US" dirty="0" err="1"/>
              <a:t>뽑았을때</a:t>
            </a:r>
            <a:r>
              <a:rPr lang="ko-KR" altLang="en-US" dirty="0"/>
              <a:t> 서로 다른 클래스일 확률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Gini </a:t>
            </a:r>
            <a:r>
              <a:rPr lang="ko-KR" altLang="en-US" dirty="0"/>
              <a:t>정의 </a:t>
            </a:r>
            <a:r>
              <a:rPr lang="en-US" altLang="ko-KR" dirty="0"/>
              <a:t>:</a:t>
            </a:r>
            <a:endParaRPr lang="ko-KR" altLang="en-US" dirty="0"/>
          </a:p>
          <a:p>
            <a:pPr>
              <a:lnSpc>
                <a:spcPct val="120000"/>
              </a:lnSpc>
            </a:pPr>
            <a:endParaRPr lang="ko-KR" altLang="en-US" dirty="0"/>
          </a:p>
          <a:p>
            <a:pPr>
              <a:lnSpc>
                <a:spcPct val="120000"/>
              </a:lnSpc>
            </a:pPr>
            <a:endParaRPr lang="ko-KR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예</a:t>
            </a:r>
            <a:r>
              <a:rPr lang="en-US" altLang="ko-KR" dirty="0"/>
              <a:t>) 2(P(Left</a:t>
            </a:r>
            <a:r>
              <a:rPr lang="ko-KR" altLang="en-US" dirty="0"/>
              <a:t>에서 </a:t>
            </a:r>
            <a:r>
              <a:rPr lang="en-US" altLang="ko-KR" dirty="0"/>
              <a:t>Good) P(Left</a:t>
            </a:r>
            <a:r>
              <a:rPr lang="ko-KR" altLang="en-US" dirty="0"/>
              <a:t>에서 </a:t>
            </a:r>
            <a:r>
              <a:rPr lang="en-US" altLang="ko-KR" dirty="0"/>
              <a:t>Bad)P(Left) </a:t>
            </a:r>
            <a:br>
              <a:rPr lang="en-US" altLang="ko-KR" dirty="0"/>
            </a:br>
            <a:r>
              <a:rPr lang="en-US" altLang="ko-KR" dirty="0"/>
              <a:t>    +P(Right</a:t>
            </a:r>
            <a:r>
              <a:rPr lang="ko-KR" altLang="en-US" dirty="0"/>
              <a:t>에서 </a:t>
            </a:r>
            <a:r>
              <a:rPr lang="en-US" altLang="ko-KR" dirty="0"/>
              <a:t>Good) P(Right</a:t>
            </a:r>
            <a:r>
              <a:rPr lang="ko-KR" altLang="en-US" dirty="0"/>
              <a:t>에서 </a:t>
            </a:r>
            <a:r>
              <a:rPr lang="en-US" altLang="ko-KR" dirty="0"/>
              <a:t>Bad)P(Right)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Gini Impurity 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1521276" y="4072737"/>
            <a:ext cx="5454606" cy="324036"/>
          </a:xfrm>
          <a:prstGeom prst="rect">
            <a:avLst/>
          </a:prstGeom>
          <a:solidFill>
            <a:srgbClr val="41849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Gini </a:t>
            </a:r>
            <a:r>
              <a:rPr lang="ko-KR" altLang="en-US" sz="15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값을 가장 </a:t>
            </a:r>
            <a:r>
              <a:rPr lang="ko-KR" altLang="en-US" sz="1500" b="1" kern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작게</a:t>
            </a:r>
            <a:r>
              <a:rPr lang="ko-KR" altLang="en-US" sz="15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하는 방법으로 분리</a:t>
            </a:r>
          </a:p>
        </p:txBody>
      </p:sp>
      <p:graphicFrame>
        <p:nvGraphicFramePr>
          <p:cNvPr id="28" name="개체 27"/>
          <p:cNvGraphicFramePr>
            <a:graphicFrameLocks noChangeAspect="1"/>
          </p:cNvGraphicFramePr>
          <p:nvPr/>
        </p:nvGraphicFramePr>
        <p:xfrm>
          <a:off x="1926321" y="1318431"/>
          <a:ext cx="5423856" cy="514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4546440" imgH="431640" progId="Equation.3">
                  <p:embed/>
                </p:oleObj>
              </mc:Choice>
              <mc:Fallback>
                <p:oleObj name="수식" r:id="rId2" imgW="4546440" imgH="431640" progId="Equation.3">
                  <p:embed/>
                  <p:pic>
                    <p:nvPicPr>
                      <p:cNvPr id="28" name="개체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321" y="1318431"/>
                        <a:ext cx="5423856" cy="514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968358"/>
              </p:ext>
            </p:extLst>
          </p:nvPr>
        </p:nvGraphicFramePr>
        <p:xfrm>
          <a:off x="5170926" y="2678502"/>
          <a:ext cx="2821340" cy="914400"/>
        </p:xfrm>
        <a:graphic>
          <a:graphicData uri="http://schemas.openxmlformats.org/drawingml/2006/table">
            <a:tbl>
              <a:tblPr firstRow="1" lastRow="1"/>
              <a:tblGrid>
                <a:gridCol w="70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Good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Bad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Total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Left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48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80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+mn-ea"/>
                          <a:ea typeface="+mn-ea"/>
                        </a:rPr>
                        <a:t>Right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178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220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ko-KR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210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90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7887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57742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436613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91548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39435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873225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352096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830969" algn="l" defTabSz="957742" rtl="0" eaLnBrk="1" latinLnBrk="1" hangingPunct="1">
                        <a:defRPr sz="1900" b="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500" u="none" strike="noStrike" dirty="0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ko-KR" sz="15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개체 29"/>
          <p:cNvGraphicFramePr>
            <a:graphicFrameLocks noChangeAspect="1"/>
          </p:cNvGraphicFramePr>
          <p:nvPr/>
        </p:nvGraphicFramePr>
        <p:xfrm>
          <a:off x="1322107" y="2790967"/>
          <a:ext cx="3423047" cy="53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2755800" imgH="431640" progId="Equation.3">
                  <p:embed/>
                </p:oleObj>
              </mc:Choice>
              <mc:Fallback>
                <p:oleObj name="수식" r:id="rId4" imgW="2755800" imgH="431640" progId="Equation.3">
                  <p:embed/>
                  <p:pic>
                    <p:nvPicPr>
                      <p:cNvPr id="30" name="개체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107" y="2790967"/>
                        <a:ext cx="3423047" cy="536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F3C61A1-A0A3-C356-6EB7-14719BF2BDB5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8ACA3E-6568-69BC-4295-5F9C03E977B2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043AADFA-B89A-6AE9-B643-0481AE324655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917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36480" y="702235"/>
            <a:ext cx="7597109" cy="407744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Gini </a:t>
            </a:r>
            <a:r>
              <a:rPr lang="ko-KR" altLang="en-US" dirty="0"/>
              <a:t>기반 불순도 평가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</a:t>
            </a:r>
            <a:r>
              <a:rPr lang="ko-KR" altLang="en-US" dirty="0"/>
              <a:t>불순도</a:t>
            </a:r>
            <a:r>
              <a:rPr lang="en-US" altLang="ko-KR" dirty="0"/>
              <a:t>(Impurity Measure) </a:t>
            </a:r>
            <a:r>
              <a:rPr lang="ko-KR" altLang="en-US" dirty="0"/>
              <a:t>측정 예제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441584" y="729546"/>
            <a:ext cx="205980" cy="205980"/>
            <a:chOff x="465911" y="908720"/>
            <a:chExt cx="274640" cy="274640"/>
          </a:xfrm>
        </p:grpSpPr>
        <p:sp>
          <p:nvSpPr>
            <p:cNvPr id="11" name="타원 10"/>
            <p:cNvSpPr/>
            <p:nvPr/>
          </p:nvSpPr>
          <p:spPr>
            <a:xfrm>
              <a:off x="465911" y="90872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2" name="L 도형 11"/>
            <p:cNvSpPr/>
            <p:nvPr/>
          </p:nvSpPr>
          <p:spPr>
            <a:xfrm rot="13500000">
              <a:off x="531069" y="98631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87" y="1404382"/>
            <a:ext cx="3424717" cy="65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885" y="1404382"/>
            <a:ext cx="3438283" cy="65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 Box 207"/>
          <p:cNvSpPr txBox="1">
            <a:spLocks noChangeArrowheads="1"/>
          </p:cNvSpPr>
          <p:nvPr/>
        </p:nvSpPr>
        <p:spPr bwMode="auto">
          <a:xfrm>
            <a:off x="1334221" y="2081662"/>
            <a:ext cx="289213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algn="ctr"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kumimoji="0" lang="en-US" altLang="ko-KR" sz="9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Pr(interspecific encounter) = 1-2(3/8)</a:t>
            </a:r>
            <a:r>
              <a:rPr kumimoji="0" lang="en-US" altLang="ko-KR" sz="900" b="0" baseline="30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9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-2(1/8)</a:t>
            </a:r>
            <a:r>
              <a:rPr kumimoji="0" lang="en-US" altLang="ko-KR" sz="900" b="0" baseline="30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9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.69</a:t>
            </a:r>
          </a:p>
        </p:txBody>
      </p:sp>
      <p:sp>
        <p:nvSpPr>
          <p:cNvPr id="20" name="Text Box 208"/>
          <p:cNvSpPr txBox="1">
            <a:spLocks noChangeArrowheads="1"/>
          </p:cNvSpPr>
          <p:nvPr/>
        </p:nvSpPr>
        <p:spPr bwMode="auto">
          <a:xfrm>
            <a:off x="5031265" y="2081662"/>
            <a:ext cx="276389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algn="ctr"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kumimoji="0" lang="en-US" altLang="ko-KR" sz="9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Pr(interspecific encounter) = 1-(6/7)</a:t>
            </a:r>
            <a:r>
              <a:rPr kumimoji="0" lang="en-US" altLang="ko-KR" sz="900" b="0" baseline="30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9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-(1/7)</a:t>
            </a:r>
            <a:r>
              <a:rPr kumimoji="0" lang="en-US" altLang="ko-KR" sz="900" b="0" baseline="30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9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.24</a:t>
            </a:r>
          </a:p>
        </p:txBody>
      </p:sp>
      <p:sp>
        <p:nvSpPr>
          <p:cNvPr id="21" name="Line 4"/>
          <p:cNvSpPr>
            <a:spLocks noChangeShapeType="1"/>
          </p:cNvSpPr>
          <p:nvPr/>
        </p:nvSpPr>
        <p:spPr bwMode="auto">
          <a:xfrm>
            <a:off x="1799654" y="3943295"/>
            <a:ext cx="5572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221">
              <a:defRPr/>
            </a:pPr>
            <a:endParaRPr lang="ko-KR" altLang="en-US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2666429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Oval 6"/>
          <p:cNvSpPr>
            <a:spLocks noChangeArrowheads="1"/>
          </p:cNvSpPr>
          <p:nvPr/>
        </p:nvSpPr>
        <p:spPr bwMode="auto">
          <a:xfrm>
            <a:off x="3037904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3285554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Oval 8"/>
          <p:cNvSpPr>
            <a:spLocks noChangeArrowheads="1"/>
          </p:cNvSpPr>
          <p:nvPr/>
        </p:nvSpPr>
        <p:spPr bwMode="auto">
          <a:xfrm>
            <a:off x="3533204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Oval 9"/>
          <p:cNvSpPr>
            <a:spLocks noChangeArrowheads="1"/>
          </p:cNvSpPr>
          <p:nvPr/>
        </p:nvSpPr>
        <p:spPr bwMode="auto">
          <a:xfrm>
            <a:off x="3780854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Oval 10"/>
          <p:cNvSpPr>
            <a:spLocks noChangeArrowheads="1"/>
          </p:cNvSpPr>
          <p:nvPr/>
        </p:nvSpPr>
        <p:spPr bwMode="auto">
          <a:xfrm>
            <a:off x="4461891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Oval 11"/>
          <p:cNvSpPr>
            <a:spLocks noChangeArrowheads="1"/>
          </p:cNvSpPr>
          <p:nvPr/>
        </p:nvSpPr>
        <p:spPr bwMode="auto">
          <a:xfrm>
            <a:off x="3966591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Oval 12"/>
          <p:cNvSpPr>
            <a:spLocks noChangeArrowheads="1"/>
          </p:cNvSpPr>
          <p:nvPr/>
        </p:nvSpPr>
        <p:spPr bwMode="auto">
          <a:xfrm>
            <a:off x="3285554" y="354324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Oval 13"/>
          <p:cNvSpPr>
            <a:spLocks noChangeArrowheads="1"/>
          </p:cNvSpPr>
          <p:nvPr/>
        </p:nvSpPr>
        <p:spPr bwMode="auto">
          <a:xfrm>
            <a:off x="3409379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Oval 14"/>
          <p:cNvSpPr>
            <a:spLocks noChangeArrowheads="1"/>
          </p:cNvSpPr>
          <p:nvPr/>
        </p:nvSpPr>
        <p:spPr bwMode="auto">
          <a:xfrm>
            <a:off x="3409379" y="354324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val 15"/>
          <p:cNvSpPr>
            <a:spLocks noChangeArrowheads="1"/>
          </p:cNvSpPr>
          <p:nvPr/>
        </p:nvSpPr>
        <p:spPr bwMode="auto">
          <a:xfrm>
            <a:off x="3780854" y="354324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Oval 16"/>
          <p:cNvSpPr>
            <a:spLocks noChangeArrowheads="1"/>
          </p:cNvSpPr>
          <p:nvPr/>
        </p:nvSpPr>
        <p:spPr bwMode="auto">
          <a:xfrm>
            <a:off x="2852166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Oval 17"/>
          <p:cNvSpPr>
            <a:spLocks noChangeArrowheads="1"/>
          </p:cNvSpPr>
          <p:nvPr/>
        </p:nvSpPr>
        <p:spPr bwMode="auto">
          <a:xfrm>
            <a:off x="4833366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Oval 18"/>
          <p:cNvSpPr>
            <a:spLocks noChangeArrowheads="1"/>
          </p:cNvSpPr>
          <p:nvPr/>
        </p:nvSpPr>
        <p:spPr bwMode="auto">
          <a:xfrm>
            <a:off x="5142929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val 19"/>
          <p:cNvSpPr>
            <a:spLocks noChangeArrowheads="1"/>
          </p:cNvSpPr>
          <p:nvPr/>
        </p:nvSpPr>
        <p:spPr bwMode="auto">
          <a:xfrm>
            <a:off x="5452491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Oval 20"/>
          <p:cNvSpPr>
            <a:spLocks noChangeArrowheads="1"/>
          </p:cNvSpPr>
          <p:nvPr/>
        </p:nvSpPr>
        <p:spPr bwMode="auto">
          <a:xfrm>
            <a:off x="5576316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Oval 21"/>
          <p:cNvSpPr>
            <a:spLocks noChangeArrowheads="1"/>
          </p:cNvSpPr>
          <p:nvPr/>
        </p:nvSpPr>
        <p:spPr bwMode="auto">
          <a:xfrm>
            <a:off x="4647629" y="37146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Oval 22"/>
          <p:cNvSpPr>
            <a:spLocks noChangeArrowheads="1"/>
          </p:cNvSpPr>
          <p:nvPr/>
        </p:nvSpPr>
        <p:spPr bwMode="auto">
          <a:xfrm>
            <a:off x="4833366" y="354324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Oval 23"/>
          <p:cNvSpPr>
            <a:spLocks noChangeArrowheads="1"/>
          </p:cNvSpPr>
          <p:nvPr/>
        </p:nvSpPr>
        <p:spPr bwMode="auto">
          <a:xfrm>
            <a:off x="4833366" y="33717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Oval 24"/>
          <p:cNvSpPr>
            <a:spLocks noChangeArrowheads="1"/>
          </p:cNvSpPr>
          <p:nvPr/>
        </p:nvSpPr>
        <p:spPr bwMode="auto">
          <a:xfrm>
            <a:off x="6133529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Oval 25"/>
          <p:cNvSpPr>
            <a:spLocks noChangeArrowheads="1"/>
          </p:cNvSpPr>
          <p:nvPr/>
        </p:nvSpPr>
        <p:spPr bwMode="auto">
          <a:xfrm>
            <a:off x="4957191" y="354324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Oval 26"/>
          <p:cNvSpPr>
            <a:spLocks noChangeArrowheads="1"/>
          </p:cNvSpPr>
          <p:nvPr/>
        </p:nvSpPr>
        <p:spPr bwMode="auto">
          <a:xfrm>
            <a:off x="6381179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Oval 27"/>
          <p:cNvSpPr>
            <a:spLocks noChangeArrowheads="1"/>
          </p:cNvSpPr>
          <p:nvPr/>
        </p:nvSpPr>
        <p:spPr bwMode="auto">
          <a:xfrm>
            <a:off x="4957191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Oval 28"/>
          <p:cNvSpPr>
            <a:spLocks noChangeArrowheads="1"/>
          </p:cNvSpPr>
          <p:nvPr/>
        </p:nvSpPr>
        <p:spPr bwMode="auto">
          <a:xfrm>
            <a:off x="4276154" y="3714695"/>
            <a:ext cx="123825" cy="1143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Oval 29"/>
          <p:cNvSpPr>
            <a:spLocks noChangeArrowheads="1"/>
          </p:cNvSpPr>
          <p:nvPr/>
        </p:nvSpPr>
        <p:spPr bwMode="auto">
          <a:xfrm>
            <a:off x="3409379" y="3371795"/>
            <a:ext cx="123825" cy="1143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endParaRPr kumimoji="0" lang="ko-KR" altLang="en-US" sz="105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Line 30"/>
          <p:cNvSpPr>
            <a:spLocks noChangeShapeType="1"/>
          </p:cNvSpPr>
          <p:nvPr/>
        </p:nvSpPr>
        <p:spPr bwMode="auto">
          <a:xfrm>
            <a:off x="4434508" y="3117001"/>
            <a:ext cx="2381" cy="1128713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221">
              <a:defRPr/>
            </a:pPr>
            <a:endParaRPr lang="ko-KR" altLang="en-US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 Box 31"/>
          <p:cNvSpPr txBox="1">
            <a:spLocks noChangeArrowheads="1"/>
          </p:cNvSpPr>
          <p:nvPr/>
        </p:nvSpPr>
        <p:spPr bwMode="auto">
          <a:xfrm>
            <a:off x="2266379" y="3314645"/>
            <a:ext cx="80010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t1 (13</a:t>
            </a:r>
            <a:r>
              <a:rPr kumimoji="0"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kumimoji="0"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50" baseline="-25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 Box 32"/>
          <p:cNvSpPr txBox="1">
            <a:spLocks noChangeArrowheads="1"/>
          </p:cNvSpPr>
          <p:nvPr/>
        </p:nvSpPr>
        <p:spPr bwMode="auto">
          <a:xfrm>
            <a:off x="5700141" y="3287819"/>
            <a:ext cx="71307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t2 (12</a:t>
            </a:r>
            <a:r>
              <a:rPr kumimoji="0" lang="ko-KR" altLang="en-US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kumimoji="0"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50" baseline="-250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 Box 33"/>
          <p:cNvSpPr txBox="1">
            <a:spLocks noChangeArrowheads="1"/>
          </p:cNvSpPr>
          <p:nvPr/>
        </p:nvSpPr>
        <p:spPr bwMode="auto">
          <a:xfrm>
            <a:off x="1425797" y="4057595"/>
            <a:ext cx="328136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p(red|t1)=2/13, p(green|t1)=11/13,           imp(t1)=1 – 0.024 – 0.726 = </a:t>
            </a:r>
            <a:r>
              <a:rPr kumimoji="0" lang="en-US" altLang="ko-KR" sz="105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0.25</a:t>
            </a:r>
          </a:p>
        </p:txBody>
      </p:sp>
      <p:sp>
        <p:nvSpPr>
          <p:cNvPr id="55" name="Text Box 34"/>
          <p:cNvSpPr txBox="1">
            <a:spLocks noChangeArrowheads="1"/>
          </p:cNvSpPr>
          <p:nvPr/>
        </p:nvSpPr>
        <p:spPr bwMode="auto">
          <a:xfrm>
            <a:off x="4833366" y="4057595"/>
            <a:ext cx="307419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p(red|t2)=9/12,   p(green|t2)=3/12,           imp(t2)=1 – 0.563 – 0.063 = </a:t>
            </a:r>
            <a:r>
              <a:rPr kumimoji="0" lang="en-US" altLang="ko-KR" sz="105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0.374</a:t>
            </a:r>
          </a:p>
        </p:txBody>
      </p:sp>
      <p:sp>
        <p:nvSpPr>
          <p:cNvPr id="56" name="Text Box 35"/>
          <p:cNvSpPr txBox="1">
            <a:spLocks noChangeArrowheads="1"/>
          </p:cNvSpPr>
          <p:nvPr/>
        </p:nvSpPr>
        <p:spPr bwMode="auto">
          <a:xfrm>
            <a:off x="3195903" y="2586176"/>
            <a:ext cx="2901981" cy="49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p(</a:t>
            </a:r>
            <a:r>
              <a:rPr kumimoji="0"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red</a:t>
            </a: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|t)=11/25, p(</a:t>
            </a:r>
            <a:r>
              <a:rPr kumimoji="0" lang="en-US" altLang="ko-KR" sz="1050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green</a:t>
            </a:r>
            <a:r>
              <a:rPr kumimoji="0" lang="en-US" altLang="ko-KR" sz="1050" b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|t</a:t>
            </a: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)=14/25,  </a:t>
            </a:r>
          </a:p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imp(t)=1 - (11/25)</a:t>
            </a:r>
            <a:r>
              <a:rPr kumimoji="0" lang="en-US" altLang="ko-KR" sz="1050" b="0" baseline="30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– (14/25)</a:t>
            </a:r>
            <a:r>
              <a:rPr kumimoji="0" lang="en-US" altLang="ko-KR" sz="1050" b="0" baseline="30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kumimoji="0" lang="en-US" altLang="ko-KR" sz="105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0.492</a:t>
            </a:r>
          </a:p>
        </p:txBody>
      </p:sp>
      <p:sp>
        <p:nvSpPr>
          <p:cNvPr id="57" name="Text Box 36"/>
          <p:cNvSpPr txBox="1">
            <a:spLocks noChangeArrowheads="1"/>
          </p:cNvSpPr>
          <p:nvPr/>
        </p:nvSpPr>
        <p:spPr bwMode="auto">
          <a:xfrm>
            <a:off x="2047303" y="4475951"/>
            <a:ext cx="538638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Weighted average = </a:t>
            </a:r>
            <a:r>
              <a:rPr kumimoji="0" lang="en-US" altLang="ko-KR" sz="105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0.25</a:t>
            </a: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*13/25 +</a:t>
            </a:r>
            <a:r>
              <a:rPr kumimoji="0" lang="en-US" altLang="ko-KR" sz="105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0.374</a:t>
            </a:r>
            <a:r>
              <a:rPr kumimoji="0" lang="en-US" altLang="ko-KR" sz="105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*12/25 = </a:t>
            </a:r>
            <a:r>
              <a:rPr kumimoji="0" lang="en-US" altLang="ko-KR" sz="1050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0.31</a:t>
            </a:r>
          </a:p>
        </p:txBody>
      </p:sp>
      <p:sp>
        <p:nvSpPr>
          <p:cNvPr id="58" name="AutoShape 37"/>
          <p:cNvSpPr>
            <a:spLocks noChangeArrowheads="1"/>
          </p:cNvSpPr>
          <p:nvPr/>
        </p:nvSpPr>
        <p:spPr bwMode="auto">
          <a:xfrm>
            <a:off x="6200456" y="2540308"/>
            <a:ext cx="1362075" cy="571500"/>
          </a:xfrm>
          <a:prstGeom prst="wedgeRectCallout">
            <a:avLst>
              <a:gd name="adj1" fmla="val -94144"/>
              <a:gd name="adj2" fmla="val 3542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algn="ctr" defTabSz="685221" eaLnBrk="1" hangingPunct="1">
              <a:lnSpc>
                <a:spcPct val="100000"/>
              </a:lnSpc>
              <a:spcBef>
                <a:spcPct val="50000"/>
              </a:spcBef>
              <a:buNone/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Impurity of all data</a:t>
            </a:r>
          </a:p>
        </p:txBody>
      </p:sp>
      <p:sp>
        <p:nvSpPr>
          <p:cNvPr id="59" name="AutoShape 38"/>
          <p:cNvSpPr>
            <a:spLocks noChangeArrowheads="1"/>
          </p:cNvSpPr>
          <p:nvPr/>
        </p:nvSpPr>
        <p:spPr bwMode="auto">
          <a:xfrm>
            <a:off x="1291257" y="2685995"/>
            <a:ext cx="1362075" cy="400050"/>
          </a:xfrm>
          <a:prstGeom prst="wedgeRoundRectCallout">
            <a:avLst>
              <a:gd name="adj1" fmla="val 174565"/>
              <a:gd name="adj2" fmla="val 118153"/>
              <a:gd name="adj3" fmla="val 1666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Blip>
                <a:blip r:embed="rId4"/>
              </a:buBlip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30000"/>
              </a:spcBef>
              <a:buFont typeface="나눔고딕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9pPr>
          </a:lstStyle>
          <a:p>
            <a:pPr algn="ctr" defTabSz="685221" eaLnBrk="1" hangingPunct="1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kumimoji="0" lang="en-US" altLang="ko-KR" sz="10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One partition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1062387" y="2546543"/>
            <a:ext cx="7020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모서리가 둥근 직사각형 60"/>
          <p:cNvSpPr/>
          <p:nvPr/>
        </p:nvSpPr>
        <p:spPr>
          <a:xfrm>
            <a:off x="6566917" y="1619868"/>
            <a:ext cx="546905" cy="431392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endParaRPr lang="ko-KR" altLang="en-US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4062238" y="1619868"/>
            <a:ext cx="461567" cy="431391"/>
          </a:xfrm>
          <a:prstGeom prst="roundRect">
            <a:avLst/>
          </a:prstGeom>
          <a:noFill/>
          <a:ln w="571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endParaRPr lang="ko-KR" altLang="en-US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574307" y="1619868"/>
            <a:ext cx="461567" cy="431391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endParaRPr lang="ko-KR" altLang="en-US" sz="10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이등변 삼각형 63"/>
          <p:cNvSpPr/>
          <p:nvPr/>
        </p:nvSpPr>
        <p:spPr>
          <a:xfrm>
            <a:off x="1035297" y="1552349"/>
            <a:ext cx="511920" cy="473336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endParaRPr lang="ko-KR" altLang="en-US" sz="135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이등변 삼각형 64"/>
          <p:cNvSpPr/>
          <p:nvPr/>
        </p:nvSpPr>
        <p:spPr>
          <a:xfrm>
            <a:off x="3576115" y="1552349"/>
            <a:ext cx="511920" cy="473336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endParaRPr lang="ko-KR" altLang="en-US" sz="135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이등변 삼각형 65"/>
          <p:cNvSpPr/>
          <p:nvPr/>
        </p:nvSpPr>
        <p:spPr>
          <a:xfrm>
            <a:off x="2472381" y="1562126"/>
            <a:ext cx="511920" cy="473336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221">
              <a:defRPr/>
            </a:pPr>
            <a:endParaRPr lang="ko-KR" altLang="en-US" sz="135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746231" y="2316890"/>
            <a:ext cx="76335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동물</a:t>
            </a:r>
            <a:r>
              <a:rPr lang="en-US" altLang="ko-KR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05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8" name="직선 화살표 연결선 67"/>
          <p:cNvCxnSpPr/>
          <p:nvPr/>
        </p:nvCxnSpPr>
        <p:spPr>
          <a:xfrm flipH="1" flipV="1">
            <a:off x="3099816" y="2236424"/>
            <a:ext cx="1800" cy="11981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3496903" y="2321947"/>
            <a:ext cx="76335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221">
              <a:defRPr/>
            </a:pPr>
            <a:r>
              <a:rPr lang="en-US" altLang="ko-KR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동물</a:t>
            </a:r>
            <a:r>
              <a:rPr lang="en-US" altLang="ko-KR" sz="105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05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0" name="직선 화살표 연결선 69"/>
          <p:cNvCxnSpPr/>
          <p:nvPr/>
        </p:nvCxnSpPr>
        <p:spPr>
          <a:xfrm flipH="1" flipV="1">
            <a:off x="3533204" y="2263533"/>
            <a:ext cx="49055" cy="11981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" name="개체 70"/>
          <p:cNvGraphicFramePr>
            <a:graphicFrameLocks noChangeAspect="1"/>
          </p:cNvGraphicFramePr>
          <p:nvPr/>
        </p:nvGraphicFramePr>
        <p:xfrm>
          <a:off x="6043878" y="710507"/>
          <a:ext cx="1839688" cy="59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5" imgW="1384200" imgH="444240" progId="Equation.3">
                  <p:embed/>
                </p:oleObj>
              </mc:Choice>
              <mc:Fallback>
                <p:oleObj name="수식" r:id="rId5" imgW="1384200" imgH="444240" progId="Equation.3">
                  <p:embed/>
                  <p:pic>
                    <p:nvPicPr>
                      <p:cNvPr id="71" name="개체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878" y="710507"/>
                        <a:ext cx="1839688" cy="59172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3DEB4D12-FF69-6FC5-244F-2051C0872BE2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AFEC8CE-BB67-1CBC-727F-CCAE09DEDF96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F4CEB477-5354-73A5-3173-84737B5F6149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550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/>
      <p:bldP spid="53" grpId="0"/>
      <p:bldP spid="54" grpId="0"/>
      <p:bldP spid="55" grpId="0"/>
      <p:bldP spid="56" grpId="0"/>
      <p:bldP spid="57" grpId="0"/>
      <p:bldP spid="58" grpId="0" animBg="1"/>
      <p:bldP spid="59" grpId="0" animBg="1"/>
      <p:bldP spid="59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4" y="2865520"/>
            <a:ext cx="2291333" cy="1623027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Variables</a:t>
            </a:r>
          </a:p>
          <a:p>
            <a:pPr lvl="1"/>
            <a:r>
              <a:rPr lang="en-US" altLang="ko-KR" dirty="0"/>
              <a:t>Tree </a:t>
            </a:r>
            <a:r>
              <a:rPr lang="ko-KR" altLang="en-US" dirty="0"/>
              <a:t>상단에서 사용</a:t>
            </a:r>
          </a:p>
          <a:p>
            <a:pPr lvl="1"/>
            <a:r>
              <a:rPr lang="ko-KR" altLang="en-US" dirty="0"/>
              <a:t>자주 사용</a:t>
            </a:r>
          </a:p>
          <a:p>
            <a:pPr lvl="1"/>
            <a:r>
              <a:rPr lang="ko-KR" altLang="en-US" dirty="0"/>
              <a:t>혼잡도 개선 효과 高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500" tIns="35100" rIns="67500" bIns="35100" numCol="1" anchor="ctr" anchorCtr="0" compatLnSpc="1">
            <a:prstTxWarp prst="textNoShape">
              <a:avLst/>
            </a:prstTxWarp>
            <a:noAutofit/>
          </a:bodyPr>
          <a:lstStyle/>
          <a:p>
            <a:pPr defTabSz="583406">
              <a:spcBef>
                <a:spcPct val="20000"/>
              </a:spcBef>
            </a:pPr>
            <a:r>
              <a:rPr lang="ko-KR" altLang="en-US" dirty="0"/>
              <a:t>독립 변수의 중요도</a:t>
            </a:r>
            <a:endParaRPr lang="ko-KR" altLang="en-US" kern="1200" dirty="0"/>
          </a:p>
        </p:txBody>
      </p:sp>
      <p:sp>
        <p:nvSpPr>
          <p:cNvPr id="29" name="직사각형 28"/>
          <p:cNvSpPr/>
          <p:nvPr/>
        </p:nvSpPr>
        <p:spPr>
          <a:xfrm>
            <a:off x="1406790" y="2568080"/>
            <a:ext cx="6578240" cy="2217906"/>
          </a:xfrm>
          <a:prstGeom prst="rect">
            <a:avLst/>
          </a:prstGeom>
          <a:noFill/>
          <a:ln w="3175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while node != end_node:</a:t>
            </a: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if node.left_child != _TREE_LEAF:</a:t>
            </a: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# ... and 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node.right_child</a:t>
            </a: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!= _TREE_LEAF:</a:t>
            </a: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left = &amp;nodes[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node.left_child</a:t>
            </a: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right = &amp;nodes[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node.right_child</a:t>
            </a: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defTabSz="685221" latinLnBrk="0">
              <a:defRPr/>
            </a:pPr>
            <a:endParaRPr lang="en-US" altLang="ko-KR" sz="105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importance_data</a:t>
            </a: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node.feature</a:t>
            </a: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 += (</a:t>
            </a:r>
          </a:p>
          <a:p>
            <a:pPr defTabSz="685221" latinLnBrk="0"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    </a:t>
            </a:r>
            <a:r>
              <a:rPr lang="en-US" altLang="ko-KR" sz="1050" b="1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node.weighted_n_node_samples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* </a:t>
            </a:r>
            <a:r>
              <a:rPr lang="en-US" altLang="ko-KR" sz="1050" b="1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node.impurity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-</a:t>
            </a:r>
          </a:p>
          <a:p>
            <a:pPr defTabSz="685221" latinLnBrk="0"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    </a:t>
            </a:r>
            <a:r>
              <a:rPr lang="en-US" altLang="ko-KR" sz="1050" b="1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left.weighted_n_node_samples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* </a:t>
            </a:r>
            <a:r>
              <a:rPr lang="en-US" altLang="ko-KR" sz="1050" b="1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left.impurity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-</a:t>
            </a:r>
          </a:p>
          <a:p>
            <a:pPr defTabSz="685221" latinLnBrk="0">
              <a:defRPr/>
            </a:pP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    </a:t>
            </a:r>
            <a:r>
              <a:rPr lang="en-US" altLang="ko-KR" sz="1050" b="1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right.weighted_n_node_samples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* </a:t>
            </a:r>
            <a:r>
              <a:rPr lang="en-US" altLang="ko-KR" sz="1050" b="1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right.impurity</a:t>
            </a:r>
            <a:r>
              <a:rPr lang="en-US" altLang="ko-KR" sz="105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node += 1</a:t>
            </a:r>
          </a:p>
          <a:p>
            <a:pPr defTabSz="685221" latinLnBrk="0">
              <a:defRPr/>
            </a:pPr>
            <a:endParaRPr lang="en-US" altLang="ko-KR" sz="105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defTabSz="685221" latinLnBrk="0">
              <a:defRPr/>
            </a:pP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importances</a:t>
            </a:r>
            <a:r>
              <a:rPr lang="en-US" altLang="ko-KR" sz="105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/= nodes[0].</a:t>
            </a:r>
            <a:r>
              <a:rPr lang="en-US" altLang="ko-KR" sz="1050" kern="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weighted_n_node_samples</a:t>
            </a:r>
            <a:endParaRPr lang="en-US" altLang="ko-KR" sz="105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441584" y="672176"/>
            <a:ext cx="205980" cy="205980"/>
          </a:xfrm>
          <a:prstGeom prst="ellipse">
            <a:avLst/>
          </a:prstGeom>
          <a:solidFill>
            <a:srgbClr val="164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097">
              <a:defRPr/>
            </a:pPr>
            <a:endParaRPr lang="ko-KR" altLang="en-US" sz="1200" b="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3" name="L 도형 32"/>
          <p:cNvSpPr/>
          <p:nvPr/>
        </p:nvSpPr>
        <p:spPr>
          <a:xfrm rot="13500000">
            <a:off x="490452" y="730372"/>
            <a:ext cx="89588" cy="89588"/>
          </a:xfrm>
          <a:prstGeom prst="corner">
            <a:avLst>
              <a:gd name="adj1" fmla="val 38060"/>
              <a:gd name="adj2" fmla="val 360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097">
              <a:defRPr/>
            </a:pPr>
            <a:endParaRPr lang="ko-KR" altLang="en-US" sz="1200" b="1">
              <a:solidFill>
                <a:prstClr val="white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16446" y="1800953"/>
            <a:ext cx="658547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Node </a:t>
            </a:r>
            <a:r>
              <a:rPr lang="en-US" altLang="ko-KR" sz="1500" i="1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500" i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Split Feature </a:t>
            </a:r>
            <a:r>
              <a:rPr lang="en-US" altLang="ko-KR" sz="1500" i="1" dirty="0">
                <a:solidFill>
                  <a:schemeClr val="tx1"/>
                </a:solidFill>
                <a:latin typeface="+mn-ea"/>
              </a:rPr>
              <a:t>j </a:t>
            </a:r>
            <a:r>
              <a:rPr lang="ko-KR" altLang="en-US" sz="1500" dirty="0">
                <a:solidFill>
                  <a:schemeClr val="tx1"/>
                </a:solidFill>
                <a:latin typeface="+mn-ea"/>
              </a:rPr>
              <a:t>의 중요도 </a:t>
            </a:r>
            <a:br>
              <a:rPr lang="ko-KR" altLang="en-US" sz="1500" dirty="0">
                <a:solidFill>
                  <a:schemeClr val="tx1"/>
                </a:solidFill>
                <a:latin typeface="+mn-ea"/>
              </a:rPr>
            </a:br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=Node </a:t>
            </a:r>
            <a:r>
              <a:rPr lang="en-US" altLang="ko-KR" sz="1500" i="1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500" i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>
                <a:solidFill>
                  <a:schemeClr val="tx1"/>
                </a:solidFill>
                <a:latin typeface="+mn-ea"/>
              </a:rPr>
              <a:t>의 원소 수 * </a:t>
            </a:r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Node </a:t>
            </a:r>
            <a:r>
              <a:rPr lang="en-US" altLang="ko-KR" sz="1500" i="1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500" i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500" dirty="0">
                <a:solidFill>
                  <a:schemeClr val="tx1"/>
                </a:solidFill>
                <a:latin typeface="+mn-ea"/>
              </a:rPr>
              <a:t>Information Gain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C02A283-31FA-1A9B-6C00-0E37B32AF643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38E5BC-12AE-450B-7D11-FA244BB87E8A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" name="내용 개체 틀 11">
              <a:extLst>
                <a:ext uri="{FF2B5EF4-FFF2-40B4-BE49-F238E27FC236}">
                  <a16:creationId xmlns:a16="http://schemas.microsoft.com/office/drawing/2014/main" id="{0FC8B5ED-8DA6-42D1-70AE-AE3131F804D6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6934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교통 안전 공단에서 일하는 동현이는 교통 사고의 피해를 줄이기 위해 치명적인 사고가 발생하는 지역에 안전 표지판을 설치하고</a:t>
            </a:r>
            <a:r>
              <a:rPr lang="en-US" altLang="ko-KR" dirty="0"/>
              <a:t>, </a:t>
            </a:r>
            <a:r>
              <a:rPr lang="ko-KR" altLang="en-US" dirty="0"/>
              <a:t>운전자들에게 안전 가이드를 주려고 한다</a:t>
            </a:r>
            <a:r>
              <a:rPr lang="en-US" altLang="ko-KR" dirty="0"/>
              <a:t>. </a:t>
            </a:r>
            <a:r>
              <a:rPr lang="ko-KR" altLang="en-US" dirty="0"/>
              <a:t>도로의 상황</a:t>
            </a:r>
            <a:r>
              <a:rPr lang="en-US" altLang="ko-KR" dirty="0"/>
              <a:t>, </a:t>
            </a:r>
            <a:r>
              <a:rPr lang="ko-KR" altLang="en-US" dirty="0"/>
              <a:t>제한 속도</a:t>
            </a:r>
            <a:r>
              <a:rPr lang="en-US" altLang="ko-KR" dirty="0"/>
              <a:t>, </a:t>
            </a:r>
            <a:r>
              <a:rPr lang="ko-KR" altLang="en-US" dirty="0"/>
              <a:t>라이트 밝기 등의 운전 환경에 따라 어떠한 상황에 치명적인 사고가 더 많이 나는지 분석하는</a:t>
            </a:r>
            <a:r>
              <a:rPr lang="en-US" altLang="ko-KR" dirty="0"/>
              <a:t> Tree </a:t>
            </a:r>
            <a:r>
              <a:rPr lang="ko-KR" altLang="en-US" dirty="0"/>
              <a:t>기반 분류기 모델을 만들어보자</a:t>
            </a:r>
            <a:r>
              <a:rPr lang="en-US" altLang="ko-KR" dirty="0"/>
              <a:t>. (seed:</a:t>
            </a:r>
            <a:r>
              <a:rPr lang="ko-KR" altLang="en-US" dirty="0"/>
              <a:t> </a:t>
            </a:r>
            <a:r>
              <a:rPr lang="en-US" altLang="ko-KR" dirty="0"/>
              <a:t>1234)</a:t>
            </a: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운전 환경에 따른 교통 사고 심각도 분석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441584" y="711480"/>
            <a:ext cx="205980" cy="205980"/>
            <a:chOff x="459196" y="97413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59196" y="97413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24354" y="1051731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8" name="직사각형 14">
            <a:extLst>
              <a:ext uri="{FF2B5EF4-FFF2-40B4-BE49-F238E27FC236}">
                <a16:creationId xmlns:a16="http://schemas.microsoft.com/office/drawing/2014/main" id="{D3FE4185-C7B6-4FE0-B236-068AF31A0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273" y="1880736"/>
            <a:ext cx="1621631" cy="253604"/>
          </a:xfrm>
          <a:prstGeom prst="rect">
            <a:avLst/>
          </a:prstGeom>
          <a:solidFill>
            <a:srgbClr val="16419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10000"/>
              </a:lnSpc>
              <a:spcBef>
                <a:spcPct val="30000"/>
              </a:spcBef>
              <a:buSzPct val="80000"/>
              <a:buFont typeface="Wingdings" panose="05000000000000000000" pitchFamily="2" charset="2"/>
              <a:buBlip>
                <a:blip r:embed="rId2"/>
              </a:buBlip>
              <a:defRPr kumimoji="1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lnSpc>
                <a:spcPct val="11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lnSpc>
                <a:spcPct val="11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defTabSz="6858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ko-KR" sz="1200" dirty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2FEEC2-E5F7-4C77-BEA7-5A46156D7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140" y="2180768"/>
            <a:ext cx="2301294" cy="42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lnSpc>
                <a:spcPct val="110000"/>
              </a:lnSpc>
              <a:spcBef>
                <a:spcPct val="30000"/>
              </a:spcBef>
              <a:buSzPct val="80000"/>
              <a:buFont typeface="Wingdings" pitchFamily="2" charset="2"/>
              <a:buBlip>
                <a:blip r:embed="rId2"/>
              </a:buBlip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lnSpc>
                <a:spcPct val="110000"/>
              </a:lnSpc>
              <a:spcBef>
                <a:spcPct val="30000"/>
              </a:spcBef>
              <a:buFont typeface="맑은 고딕" pitchFamily="50" charset="-127"/>
              <a:buChar char="－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lnSpc>
                <a:spcPct val="11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  <a:latin typeface="나눔고딕"/>
              </a:rPr>
              <a:t>60_car_accident_2016_train.csv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  <a:latin typeface="나눔고딕"/>
              </a:rPr>
              <a:t>60_car_accident_2016_test.csv</a:t>
            </a:r>
            <a:endParaRPr lang="en-US" altLang="ko-KR" sz="900" b="0" dirty="0">
              <a:solidFill>
                <a:srgbClr val="000000"/>
              </a:solidFill>
              <a:latin typeface="나눔고딕"/>
              <a:ea typeface="나눔고딕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D71381-A678-424B-A210-A0BF69653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162" y="1881501"/>
            <a:ext cx="1621631" cy="253603"/>
          </a:xfrm>
          <a:prstGeom prst="rect">
            <a:avLst/>
          </a:prstGeom>
          <a:solidFill>
            <a:srgbClr val="16419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110000"/>
              </a:lnSpc>
              <a:spcBef>
                <a:spcPct val="30000"/>
              </a:spcBef>
              <a:buSzPct val="80000"/>
              <a:buFont typeface="Wingdings" panose="05000000000000000000" pitchFamily="2" charset="2"/>
              <a:buBlip>
                <a:blip r:embed="rId2"/>
              </a:buBlip>
              <a:defRPr kumimoji="1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lnSpc>
                <a:spcPct val="11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lnSpc>
                <a:spcPct val="11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defTabSz="6858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ko-KR" sz="1200" dirty="0">
                <a:solidFill>
                  <a:srgbClr val="FFFFFF"/>
                </a:solidFill>
              </a:rPr>
              <a:t>Data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65" y="3758528"/>
            <a:ext cx="6637103" cy="1320236"/>
          </a:xfrm>
          <a:prstGeom prst="rect">
            <a:avLst/>
          </a:prstGeom>
        </p:spPr>
      </p:pic>
      <p:sp>
        <p:nvSpPr>
          <p:cNvPr id="23" name="직사각형 18">
            <a:extLst>
              <a:ext uri="{FF2B5EF4-FFF2-40B4-BE49-F238E27FC236}">
                <a16:creationId xmlns:a16="http://schemas.microsoft.com/office/drawing/2014/main" id="{192FEEC2-E5F7-4C77-BEA7-5A46156D7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162" y="2180768"/>
            <a:ext cx="5140688" cy="15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lnSpc>
                <a:spcPct val="110000"/>
              </a:lnSpc>
              <a:spcBef>
                <a:spcPct val="30000"/>
              </a:spcBef>
              <a:buSzPct val="80000"/>
              <a:buFont typeface="Wingdings" pitchFamily="2" charset="2"/>
              <a:buBlip>
                <a:blip r:embed="rId2"/>
              </a:buBlip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lnSpc>
                <a:spcPct val="110000"/>
              </a:lnSpc>
              <a:spcBef>
                <a:spcPct val="30000"/>
              </a:spcBef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lnSpc>
                <a:spcPct val="110000"/>
              </a:lnSpc>
              <a:spcBef>
                <a:spcPct val="30000"/>
              </a:spcBef>
              <a:buFont typeface="맑은 고딕" pitchFamily="50" charset="-127"/>
              <a:buChar char="－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lnSpc>
                <a:spcPct val="11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Accident_Severity</a:t>
            </a:r>
            <a:r>
              <a:rPr lang="en-US" altLang="ko-KR" sz="900" b="0" dirty="0">
                <a:solidFill>
                  <a:srgbClr val="000000"/>
                </a:solidFill>
              </a:rPr>
              <a:t>(</a:t>
            </a:r>
            <a:r>
              <a:rPr lang="en-US" altLang="ko-KR" sz="900" b="0" dirty="0">
                <a:solidFill>
                  <a:srgbClr val="FF0000"/>
                </a:solidFill>
              </a:rPr>
              <a:t>Integer</a:t>
            </a:r>
            <a:r>
              <a:rPr lang="en-US" altLang="ko-KR" sz="900" b="0" dirty="0">
                <a:solidFill>
                  <a:srgbClr val="000000"/>
                </a:solidFill>
              </a:rPr>
              <a:t>) : </a:t>
            </a:r>
            <a:r>
              <a:rPr lang="ko-KR" altLang="en-US" sz="900" b="0" dirty="0">
                <a:solidFill>
                  <a:srgbClr val="000000"/>
                </a:solidFill>
              </a:rPr>
              <a:t>사고 심각도</a:t>
            </a:r>
            <a:r>
              <a:rPr lang="en-US" altLang="ko-KR" sz="900" b="0" dirty="0">
                <a:solidFill>
                  <a:srgbClr val="000000"/>
                </a:solidFill>
              </a:rPr>
              <a:t>(0:</a:t>
            </a:r>
            <a:r>
              <a:rPr lang="ko-KR" altLang="en-US" sz="900" b="0" dirty="0">
                <a:solidFill>
                  <a:srgbClr val="000000"/>
                </a:solidFill>
              </a:rPr>
              <a:t>경미</a:t>
            </a:r>
            <a:r>
              <a:rPr lang="en-US" altLang="ko-KR" sz="900" b="0" dirty="0">
                <a:solidFill>
                  <a:srgbClr val="000000"/>
                </a:solidFill>
              </a:rPr>
              <a:t>, 1:</a:t>
            </a:r>
            <a:r>
              <a:rPr lang="ko-KR" altLang="en-US" sz="900" b="0" dirty="0">
                <a:solidFill>
                  <a:srgbClr val="000000"/>
                </a:solidFill>
              </a:rPr>
              <a:t>심각</a:t>
            </a:r>
            <a:r>
              <a:rPr lang="en-US" altLang="ko-KR" sz="900" b="0" dirty="0">
                <a:solidFill>
                  <a:srgbClr val="000000"/>
                </a:solidFill>
              </a:rPr>
              <a:t>) </a:t>
            </a:r>
            <a:r>
              <a:rPr lang="en-US" altLang="ko-KR" sz="900" dirty="0">
                <a:solidFill>
                  <a:srgbClr val="000000"/>
                </a:solidFill>
              </a:rPr>
              <a:t>(</a:t>
            </a:r>
            <a:r>
              <a:rPr lang="ko-KR" altLang="en-US" sz="900" dirty="0">
                <a:solidFill>
                  <a:srgbClr val="000000"/>
                </a:solidFill>
              </a:rPr>
              <a:t>타겟 변수</a:t>
            </a:r>
            <a:r>
              <a:rPr lang="en-US" altLang="ko-KR" sz="900" dirty="0">
                <a:solidFill>
                  <a:srgbClr val="000000"/>
                </a:solidFill>
              </a:rPr>
              <a:t>)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First_Road_Class</a:t>
            </a:r>
            <a:r>
              <a:rPr lang="en-US" altLang="ko-KR" sz="900" b="0" dirty="0">
                <a:solidFill>
                  <a:srgbClr val="000000"/>
                </a:solidFill>
              </a:rPr>
              <a:t>(</a:t>
            </a:r>
            <a:r>
              <a:rPr lang="en-US" altLang="ko-KR" sz="900" b="0" dirty="0">
                <a:solidFill>
                  <a:srgbClr val="FF0000"/>
                </a:solidFill>
              </a:rPr>
              <a:t>Integer</a:t>
            </a:r>
            <a:r>
              <a:rPr lang="en-US" altLang="ko-KR" sz="900" b="0" dirty="0">
                <a:solidFill>
                  <a:srgbClr val="000000"/>
                </a:solidFill>
              </a:rPr>
              <a:t>) : </a:t>
            </a:r>
            <a:r>
              <a:rPr lang="ko-KR" altLang="en-US" sz="900" b="0" dirty="0">
                <a:solidFill>
                  <a:srgbClr val="000000"/>
                </a:solidFill>
              </a:rPr>
              <a:t>도로 수준</a:t>
            </a:r>
            <a:r>
              <a:rPr lang="en-US" altLang="ko-KR" sz="900" b="0" dirty="0">
                <a:solidFill>
                  <a:srgbClr val="000000"/>
                </a:solidFill>
              </a:rPr>
              <a:t>(1-</a:t>
            </a:r>
            <a:r>
              <a:rPr lang="ko-KR" altLang="en-US" sz="900" b="0" dirty="0">
                <a:solidFill>
                  <a:srgbClr val="000000"/>
                </a:solidFill>
              </a:rPr>
              <a:t>고속도로 </a:t>
            </a:r>
            <a:r>
              <a:rPr lang="en-US" altLang="ko-KR" sz="900" b="0" dirty="0">
                <a:solidFill>
                  <a:srgbClr val="000000"/>
                </a:solidFill>
              </a:rPr>
              <a:t>~ 5-</a:t>
            </a:r>
            <a:r>
              <a:rPr lang="ko-KR" altLang="en-US" sz="900" b="0" dirty="0">
                <a:solidFill>
                  <a:srgbClr val="000000"/>
                </a:solidFill>
              </a:rPr>
              <a:t>골목길 </a:t>
            </a:r>
            <a:r>
              <a:rPr lang="en-US" altLang="ko-KR" sz="900" b="0" dirty="0">
                <a:solidFill>
                  <a:srgbClr val="000000"/>
                </a:solidFill>
              </a:rPr>
              <a:t>: 1</a:t>
            </a:r>
            <a:r>
              <a:rPr lang="ko-KR" altLang="en-US" sz="900" b="0" dirty="0">
                <a:solidFill>
                  <a:srgbClr val="000000"/>
                </a:solidFill>
              </a:rPr>
              <a:t>일수록 넓고 빠른 길</a:t>
            </a:r>
            <a:r>
              <a:rPr lang="en-US" altLang="ko-KR" sz="900" b="0" dirty="0">
                <a:solidFill>
                  <a:srgbClr val="000000"/>
                </a:solidFill>
              </a:rPr>
              <a:t>)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Speed_limit</a:t>
            </a:r>
            <a:r>
              <a:rPr lang="en-US" altLang="ko-KR" sz="900" b="0" dirty="0">
                <a:solidFill>
                  <a:srgbClr val="000000"/>
                </a:solidFill>
              </a:rPr>
              <a:t>(Double) : </a:t>
            </a:r>
            <a:r>
              <a:rPr lang="ko-KR" altLang="en-US" sz="900" b="0" dirty="0">
                <a:solidFill>
                  <a:srgbClr val="000000"/>
                </a:solidFill>
              </a:rPr>
              <a:t>제한 속도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ko-KR" altLang="en-US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Light_Conditions</a:t>
            </a:r>
            <a:r>
              <a:rPr lang="en-US" altLang="ko-KR" sz="900" b="0" dirty="0">
                <a:solidFill>
                  <a:srgbClr val="000000"/>
                </a:solidFill>
              </a:rPr>
              <a:t>(</a:t>
            </a:r>
            <a:r>
              <a:rPr lang="en-US" altLang="ko-KR" sz="900" b="0" dirty="0">
                <a:solidFill>
                  <a:srgbClr val="FF0000"/>
                </a:solidFill>
              </a:rPr>
              <a:t>Integer</a:t>
            </a:r>
            <a:r>
              <a:rPr lang="en-US" altLang="ko-KR" sz="900" b="0" dirty="0">
                <a:solidFill>
                  <a:srgbClr val="000000"/>
                </a:solidFill>
              </a:rPr>
              <a:t>) : </a:t>
            </a:r>
            <a:r>
              <a:rPr lang="ko-KR" altLang="en-US" sz="900" b="0" dirty="0">
                <a:solidFill>
                  <a:srgbClr val="000000"/>
                </a:solidFill>
              </a:rPr>
              <a:t>도로 밝기</a:t>
            </a:r>
            <a:r>
              <a:rPr lang="en-US" altLang="ko-KR" sz="900" b="0" dirty="0">
                <a:solidFill>
                  <a:srgbClr val="000000"/>
                </a:solidFill>
              </a:rPr>
              <a:t>(1-</a:t>
            </a:r>
            <a:r>
              <a:rPr lang="ko-KR" altLang="en-US" sz="900" b="0" dirty="0">
                <a:solidFill>
                  <a:srgbClr val="000000"/>
                </a:solidFill>
              </a:rPr>
              <a:t>밝음 </a:t>
            </a:r>
            <a:r>
              <a:rPr lang="en-US" altLang="ko-KR" sz="900" b="0" dirty="0">
                <a:solidFill>
                  <a:srgbClr val="000000"/>
                </a:solidFill>
              </a:rPr>
              <a:t>~ 6-</a:t>
            </a:r>
            <a:r>
              <a:rPr lang="ko-KR" altLang="en-US" sz="900" b="0" dirty="0">
                <a:solidFill>
                  <a:srgbClr val="000000"/>
                </a:solidFill>
              </a:rPr>
              <a:t>매우 어두움</a:t>
            </a:r>
            <a:r>
              <a:rPr lang="en-US" altLang="ko-KR" sz="900" b="0" dirty="0">
                <a:solidFill>
                  <a:srgbClr val="000000"/>
                </a:solidFill>
              </a:rPr>
              <a:t>)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Weather_Conditions</a:t>
            </a:r>
            <a:r>
              <a:rPr lang="en-US" altLang="ko-KR" sz="900" b="0" dirty="0">
                <a:solidFill>
                  <a:srgbClr val="000000"/>
                </a:solidFill>
              </a:rPr>
              <a:t>(</a:t>
            </a:r>
            <a:r>
              <a:rPr lang="en-US" altLang="ko-KR" sz="900" b="0" dirty="0">
                <a:solidFill>
                  <a:srgbClr val="FF0000"/>
                </a:solidFill>
              </a:rPr>
              <a:t>Integer</a:t>
            </a:r>
            <a:r>
              <a:rPr lang="en-US" altLang="ko-KR" sz="900" b="0" dirty="0">
                <a:solidFill>
                  <a:srgbClr val="000000"/>
                </a:solidFill>
              </a:rPr>
              <a:t>) : </a:t>
            </a:r>
            <a:r>
              <a:rPr lang="ko-KR" altLang="en-US" sz="900" b="0" dirty="0">
                <a:solidFill>
                  <a:srgbClr val="000000"/>
                </a:solidFill>
              </a:rPr>
              <a:t>도로 날씨</a:t>
            </a:r>
            <a:r>
              <a:rPr lang="en-US" altLang="ko-KR" sz="900" b="0" dirty="0">
                <a:solidFill>
                  <a:srgbClr val="000000"/>
                </a:solidFill>
              </a:rPr>
              <a:t>(1-</a:t>
            </a:r>
            <a:r>
              <a:rPr lang="ko-KR" altLang="en-US" sz="900" b="0" dirty="0">
                <a:solidFill>
                  <a:srgbClr val="000000"/>
                </a:solidFill>
              </a:rPr>
              <a:t>맑음 </a:t>
            </a:r>
            <a:r>
              <a:rPr lang="en-US" altLang="ko-KR" sz="900" b="0" dirty="0">
                <a:solidFill>
                  <a:srgbClr val="000000"/>
                </a:solidFill>
              </a:rPr>
              <a:t>~ 9-</a:t>
            </a:r>
            <a:r>
              <a:rPr lang="ko-KR" altLang="en-US" sz="900" b="0" dirty="0">
                <a:solidFill>
                  <a:srgbClr val="000000"/>
                </a:solidFill>
              </a:rPr>
              <a:t>비 또는 눈</a:t>
            </a:r>
            <a:r>
              <a:rPr lang="en-US" altLang="ko-KR" sz="900" b="0" dirty="0">
                <a:solidFill>
                  <a:srgbClr val="000000"/>
                </a:solidFill>
              </a:rPr>
              <a:t>)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en-US" altLang="ko-KR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Road_Type</a:t>
            </a:r>
            <a:r>
              <a:rPr lang="en-US" altLang="ko-KR" sz="900" b="0" dirty="0">
                <a:solidFill>
                  <a:srgbClr val="000000"/>
                </a:solidFill>
              </a:rPr>
              <a:t>(String) : </a:t>
            </a:r>
            <a:r>
              <a:rPr lang="ko-KR" altLang="en-US" sz="900" b="0" dirty="0">
                <a:solidFill>
                  <a:srgbClr val="000000"/>
                </a:solidFill>
              </a:rPr>
              <a:t>길 타입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ko-KR" altLang="en-US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Road_Surface_Conditions</a:t>
            </a:r>
            <a:r>
              <a:rPr lang="en-US" altLang="ko-KR" sz="900" b="0" dirty="0">
                <a:solidFill>
                  <a:srgbClr val="000000"/>
                </a:solidFill>
              </a:rPr>
              <a:t>(String) : </a:t>
            </a:r>
            <a:r>
              <a:rPr lang="ko-KR" altLang="en-US" sz="900" b="0" dirty="0">
                <a:solidFill>
                  <a:srgbClr val="000000"/>
                </a:solidFill>
              </a:rPr>
              <a:t>도로 상태</a:t>
            </a:r>
          </a:p>
          <a:p>
            <a:pPr defTabSz="685800" eaLnBrk="0" fontAlgn="base" hangingPunct="0">
              <a:spcAft>
                <a:spcPct val="0"/>
              </a:spcAft>
              <a:defRPr/>
            </a:pPr>
            <a:r>
              <a:rPr lang="ko-KR" altLang="en-US" sz="900" b="0" dirty="0">
                <a:solidFill>
                  <a:srgbClr val="000000"/>
                </a:solidFill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</a:rPr>
              <a:t>Urban_or_Rural_Area</a:t>
            </a:r>
            <a:r>
              <a:rPr lang="en-US" altLang="ko-KR" sz="900" b="0" dirty="0">
                <a:solidFill>
                  <a:srgbClr val="000000"/>
                </a:solidFill>
              </a:rPr>
              <a:t>(String) : </a:t>
            </a:r>
            <a:r>
              <a:rPr lang="ko-KR" altLang="en-US" sz="900" b="0" dirty="0">
                <a:solidFill>
                  <a:srgbClr val="000000"/>
                </a:solidFill>
              </a:rPr>
              <a:t>도시 또는 시골 여부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6536215-719A-E2E0-779C-BFB53AB5A311}"/>
              </a:ext>
            </a:extLst>
          </p:cNvPr>
          <p:cNvGrpSpPr/>
          <p:nvPr/>
        </p:nvGrpSpPr>
        <p:grpSpPr>
          <a:xfrm>
            <a:off x="7803555" y="48511"/>
            <a:ext cx="1268945" cy="373930"/>
            <a:chOff x="8021972" y="64681"/>
            <a:chExt cx="1491380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83D6EAA-D94B-90EB-6B1A-5C49563BCBF1}"/>
                </a:ext>
              </a:extLst>
            </p:cNvPr>
            <p:cNvSpPr txBox="1"/>
            <p:nvPr/>
          </p:nvSpPr>
          <p:spPr>
            <a:xfrm>
              <a:off x="8463920" y="363541"/>
              <a:ext cx="1034314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4. Decision Tree 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A5F48F1D-89A7-15F0-0600-85B6670FACFD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□□□■□□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9904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Classification Wrap-Up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3595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요약</a:t>
            </a:r>
            <a:r>
              <a:rPr lang="en-US" altLang="ko-KR" dirty="0"/>
              <a:t>) Classification Process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69" name="Picture 2" descr="K:\내꺼\각종스크랩자료\작업소스기타\중간라인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2" r="16377"/>
          <a:stretch/>
        </p:blipFill>
        <p:spPr bwMode="auto">
          <a:xfrm>
            <a:off x="3284712" y="1028524"/>
            <a:ext cx="317534" cy="2149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Rectangle 215"/>
          <p:cNvSpPr>
            <a:spLocks noChangeArrowheads="1"/>
          </p:cNvSpPr>
          <p:nvPr/>
        </p:nvSpPr>
        <p:spPr bwMode="auto">
          <a:xfrm>
            <a:off x="1165669" y="803687"/>
            <a:ext cx="2251238" cy="355642"/>
          </a:xfrm>
          <a:prstGeom prst="rect">
            <a:avLst/>
          </a:prstGeom>
          <a:solidFill>
            <a:srgbClr val="16419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ko-KR" altLang="en-US" sz="15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전처리</a:t>
            </a:r>
            <a:endParaRPr lang="ko-KR" altLang="ko-KR" sz="1500" b="1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Segoe UI" panose="020B0502040204020203" pitchFamily="34" charset="0"/>
            </a:endParaRPr>
          </a:p>
        </p:txBody>
      </p:sp>
      <p:pic>
        <p:nvPicPr>
          <p:cNvPr id="71" name="Picture 2" descr="K:\내꺼\각종스크랩자료\작업소스기타\중간라인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2" r="16377"/>
          <a:stretch/>
        </p:blipFill>
        <p:spPr bwMode="auto">
          <a:xfrm>
            <a:off x="5565257" y="1028524"/>
            <a:ext cx="317534" cy="2149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Rectangle 215"/>
          <p:cNvSpPr>
            <a:spLocks noChangeArrowheads="1"/>
          </p:cNvSpPr>
          <p:nvPr/>
        </p:nvSpPr>
        <p:spPr bwMode="auto">
          <a:xfrm>
            <a:off x="3443428" y="803687"/>
            <a:ext cx="2251238" cy="355642"/>
          </a:xfrm>
          <a:prstGeom prst="rect">
            <a:avLst/>
          </a:prstGeom>
          <a:solidFill>
            <a:srgbClr val="16419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Model</a:t>
            </a:r>
            <a:r>
              <a:rPr lang="ko-KR" altLang="en-US" sz="1500" b="1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생성</a:t>
            </a:r>
            <a:endParaRPr lang="en-US" altLang="ko-KR" sz="1500" b="1" kern="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Rectangle 215"/>
          <p:cNvSpPr>
            <a:spLocks noChangeArrowheads="1"/>
          </p:cNvSpPr>
          <p:nvPr/>
        </p:nvSpPr>
        <p:spPr bwMode="auto">
          <a:xfrm>
            <a:off x="5721187" y="803687"/>
            <a:ext cx="2251238" cy="355642"/>
          </a:xfrm>
          <a:prstGeom prst="rect">
            <a:avLst/>
          </a:prstGeom>
          <a:solidFill>
            <a:srgbClr val="16419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Model</a:t>
            </a:r>
            <a:r>
              <a:rPr lang="ko-KR" altLang="en-US" sz="15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 평가</a:t>
            </a:r>
            <a:endParaRPr lang="ko-KR" altLang="ko-KR" sz="1500" b="1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Segoe UI" panose="020B0502040204020203" pitchFamily="34" charset="0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1485230" y="1565910"/>
            <a:ext cx="1349893" cy="450710"/>
          </a:xfrm>
          <a:prstGeom prst="roundRect">
            <a:avLst/>
          </a:prstGeom>
          <a:solidFill>
            <a:srgbClr val="FFFF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/>
            <a:r>
              <a:rPr lang="en-US" altLang="ko-KR" sz="1500" b="1" kern="0" dirty="0"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Train Set</a:t>
            </a:r>
            <a:endParaRPr lang="ko-KR" altLang="en-US" sz="1500" b="1" kern="0" dirty="0">
              <a:latin typeface="맑은 고딕" pitchFamily="50" charset="-127"/>
              <a:ea typeface="맑은 고딕" pitchFamily="50" charset="-127"/>
              <a:cs typeface="Segoe UI" panose="020B0502040204020203" pitchFamily="34" charset="0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1485230" y="2535911"/>
            <a:ext cx="1349893" cy="381000"/>
          </a:xfrm>
          <a:prstGeom prst="roundRect">
            <a:avLst/>
          </a:prstGeom>
          <a:solidFill>
            <a:srgbClr val="FFC000"/>
          </a:solidFill>
          <a:ln w="2540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/>
            <a:r>
              <a:rPr lang="en-US" altLang="ko-KR" sz="1500" b="1" kern="0" dirty="0"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Test</a:t>
            </a:r>
            <a:r>
              <a:rPr lang="ko-KR" altLang="en-US" sz="1500" b="1" kern="0" dirty="0"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500" b="1" kern="0" dirty="0"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Set</a:t>
            </a:r>
            <a:endParaRPr lang="ko-KR" altLang="en-US" sz="1500" b="1" kern="0" dirty="0">
              <a:latin typeface="맑은 고딕" pitchFamily="50" charset="-127"/>
              <a:ea typeface="맑은 고딕" pitchFamily="50" charset="-127"/>
              <a:cs typeface="Segoe UI" panose="020B0502040204020203" pitchFamily="34" charset="0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3686175" y="1565910"/>
            <a:ext cx="1349893" cy="450710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164191"/>
                </a:solidFill>
                <a:latin typeface="맑은 고딕" pitchFamily="50" charset="-127"/>
                <a:ea typeface="맑은 고딕" pitchFamily="50" charset="-127"/>
              </a:rPr>
              <a:t>Train Function</a:t>
            </a:r>
            <a:endParaRPr lang="ko-KR" altLang="en-US" sz="1500" b="1" kern="0" dirty="0">
              <a:solidFill>
                <a:srgbClr val="16419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6053404" y="2239674"/>
            <a:ext cx="1349893" cy="450710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164191"/>
                </a:solidFill>
                <a:latin typeface="맑은 고딕" pitchFamily="50" charset="-127"/>
                <a:ea typeface="맑은 고딕" pitchFamily="50" charset="-127"/>
              </a:rPr>
              <a:t>Predict Function</a:t>
            </a:r>
            <a:endParaRPr lang="ko-KR" altLang="en-US" sz="1500" b="1" kern="0" dirty="0">
              <a:solidFill>
                <a:srgbClr val="16419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6769217" y="3080135"/>
            <a:ext cx="1349893" cy="450710"/>
          </a:xfrm>
          <a:prstGeom prst="roundRect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164191"/>
                </a:solidFill>
                <a:latin typeface="맑은 고딕" pitchFamily="50" charset="-127"/>
                <a:ea typeface="맑은 고딕" pitchFamily="50" charset="-127"/>
              </a:rPr>
              <a:t>Evaluate Function</a:t>
            </a:r>
            <a:endParaRPr lang="ko-KR" altLang="en-US" sz="1500" b="1" kern="0" dirty="0">
              <a:solidFill>
                <a:srgbClr val="16419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9" name="직선 화살표 연결선 78"/>
          <p:cNvCxnSpPr>
            <a:stCxn id="74" idx="3"/>
            <a:endCxn id="76" idx="1"/>
          </p:cNvCxnSpPr>
          <p:nvPr/>
        </p:nvCxnSpPr>
        <p:spPr>
          <a:xfrm>
            <a:off x="2835123" y="1791265"/>
            <a:ext cx="851053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80" name="직선 화살표 연결선 27"/>
          <p:cNvCxnSpPr>
            <a:stCxn id="75" idx="3"/>
            <a:endCxn id="77" idx="1"/>
          </p:cNvCxnSpPr>
          <p:nvPr/>
        </p:nvCxnSpPr>
        <p:spPr>
          <a:xfrm flipV="1">
            <a:off x="2835122" y="2465029"/>
            <a:ext cx="3218282" cy="26138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81" name="직선 화살표 연결선 80"/>
          <p:cNvCxnSpPr>
            <a:stCxn id="76" idx="3"/>
            <a:endCxn id="77" idx="0"/>
          </p:cNvCxnSpPr>
          <p:nvPr/>
        </p:nvCxnSpPr>
        <p:spPr>
          <a:xfrm>
            <a:off x="5036068" y="1791265"/>
            <a:ext cx="1692283" cy="448409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82" name="직선 화살표 연결선 27"/>
          <p:cNvCxnSpPr>
            <a:stCxn id="77" idx="3"/>
          </p:cNvCxnSpPr>
          <p:nvPr/>
        </p:nvCxnSpPr>
        <p:spPr>
          <a:xfrm>
            <a:off x="7403297" y="2465029"/>
            <a:ext cx="274321" cy="615106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sp>
        <p:nvSpPr>
          <p:cNvPr id="83" name="내용 개체 틀 2"/>
          <p:cNvSpPr txBox="1">
            <a:spLocks/>
          </p:cNvSpPr>
          <p:nvPr/>
        </p:nvSpPr>
        <p:spPr bwMode="auto">
          <a:xfrm>
            <a:off x="1064467" y="3492580"/>
            <a:ext cx="6893719" cy="8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285750" indent="-285750" algn="l" rtl="0" eaLnBrk="0" fontAlgn="base" latinLnBrk="1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§"/>
              <a:defRPr kumimoji="1" lang="ko-KR" altLang="en-US" sz="2000" b="1" kern="1200">
                <a:solidFill>
                  <a:schemeClr val="tx1"/>
                </a:solidFill>
                <a:latin typeface="+mn-lt"/>
                <a:ea typeface="나눔고딕" pitchFamily="50" charset="-127"/>
                <a:cs typeface="+mn-cs"/>
              </a:defRPr>
            </a:lvl1pPr>
            <a:lvl2pPr marL="60325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en-US" altLang="ko-KR" kern="1200" dirty="0">
                <a:solidFill>
                  <a:schemeClr val="tx1"/>
                </a:solidFill>
                <a:latin typeface="+mn-lt"/>
                <a:ea typeface="나눔고딕" pitchFamily="50" charset="-127"/>
                <a:cs typeface="+mn-cs"/>
              </a:defRPr>
            </a:lvl2pPr>
            <a:lvl3pPr marL="885825" indent="-2095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맑은 고딕" panose="020B0503020000020004" pitchFamily="50" charset="-127"/>
              <a:buChar char="－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117600" indent="-215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defTabSz="685800">
              <a:buClr>
                <a:srgbClr val="164191"/>
              </a:buClr>
              <a:buFont typeface="Wingdings" panose="05000000000000000000" pitchFamily="2" charset="2"/>
              <a:buChar char="l"/>
              <a:defRPr/>
            </a:pPr>
            <a:r>
              <a:rPr lang="en-US" altLang="ko-KR" sz="1500" b="0" dirty="0">
                <a:solidFill>
                  <a:srgbClr val="000000"/>
                </a:solidFill>
                <a:latin typeface="나눔고딕"/>
              </a:rPr>
              <a:t>Train function and Predict Function are related</a:t>
            </a:r>
          </a:p>
          <a:p>
            <a:pPr defTabSz="685800">
              <a:buClr>
                <a:srgbClr val="164191"/>
              </a:buClr>
              <a:buFont typeface="Wingdings" panose="05000000000000000000" pitchFamily="2" charset="2"/>
              <a:buChar char="l"/>
              <a:defRPr/>
            </a:pPr>
            <a:r>
              <a:rPr lang="en-US" altLang="ko-KR" sz="1500" b="0" dirty="0">
                <a:solidFill>
                  <a:srgbClr val="000000"/>
                </a:solidFill>
                <a:latin typeface="나눔고딕"/>
              </a:rPr>
              <a:t>Evaluate Function is almost same for ML area.</a:t>
            </a:r>
            <a:endParaRPr lang="en-US" altLang="en-US" sz="1500" b="0" dirty="0">
              <a:solidFill>
                <a:srgbClr val="000000"/>
              </a:solidFill>
              <a:latin typeface="나눔고딕"/>
            </a:endParaRPr>
          </a:p>
        </p:txBody>
      </p:sp>
      <p:graphicFrame>
        <p:nvGraphicFramePr>
          <p:cNvPr id="84" name="개체 83"/>
          <p:cNvGraphicFramePr>
            <a:graphicFrameLocks noChangeAspect="1"/>
          </p:cNvGraphicFramePr>
          <p:nvPr/>
        </p:nvGraphicFramePr>
        <p:xfrm>
          <a:off x="1739885" y="2103032"/>
          <a:ext cx="827484" cy="24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3" imgW="761760" imgH="228600" progId="Equation.3">
                  <p:embed/>
                </p:oleObj>
              </mc:Choice>
              <mc:Fallback>
                <p:oleObj name="수식" r:id="rId3" imgW="761760" imgH="228600" progId="Equation.3">
                  <p:embed/>
                  <p:pic>
                    <p:nvPicPr>
                      <p:cNvPr id="84" name="개체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885" y="2103032"/>
                        <a:ext cx="827484" cy="248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개체 84"/>
          <p:cNvGraphicFramePr>
            <a:graphicFrameLocks noChangeAspect="1"/>
          </p:cNvGraphicFramePr>
          <p:nvPr/>
        </p:nvGraphicFramePr>
        <p:xfrm>
          <a:off x="3947773" y="2055436"/>
          <a:ext cx="992981" cy="24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5" imgW="914400" imgH="228600" progId="Equation.3">
                  <p:embed/>
                </p:oleObj>
              </mc:Choice>
              <mc:Fallback>
                <p:oleObj name="수식" r:id="rId5" imgW="914400" imgH="228600" progId="Equation.3">
                  <p:embed/>
                  <p:pic>
                    <p:nvPicPr>
                      <p:cNvPr id="85" name="개체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773" y="2055436"/>
                        <a:ext cx="992981" cy="248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개체 85"/>
          <p:cNvGraphicFramePr>
            <a:graphicFrameLocks noChangeAspect="1"/>
          </p:cNvGraphicFramePr>
          <p:nvPr/>
        </p:nvGraphicFramePr>
        <p:xfrm>
          <a:off x="6444771" y="2772581"/>
          <a:ext cx="648891" cy="27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7" imgW="596880" imgH="253800" progId="Equation.3">
                  <p:embed/>
                </p:oleObj>
              </mc:Choice>
              <mc:Fallback>
                <p:oleObj name="수식" r:id="rId7" imgW="596880" imgH="253800" progId="Equation.3">
                  <p:embed/>
                  <p:pic>
                    <p:nvPicPr>
                      <p:cNvPr id="86" name="개체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771" y="2772581"/>
                        <a:ext cx="648891" cy="277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개체 86"/>
          <p:cNvGraphicFramePr>
            <a:graphicFrameLocks noChangeAspect="1"/>
          </p:cNvGraphicFramePr>
          <p:nvPr/>
        </p:nvGraphicFramePr>
        <p:xfrm>
          <a:off x="1794654" y="3059432"/>
          <a:ext cx="731044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9" imgW="672840" imgH="228600" progId="Equation.3">
                  <p:embed/>
                </p:oleObj>
              </mc:Choice>
              <mc:Fallback>
                <p:oleObj name="수식" r:id="rId9" imgW="672840" imgH="228600" progId="Equation.3">
                  <p:embed/>
                  <p:pic>
                    <p:nvPicPr>
                      <p:cNvPr id="87" name="개체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654" y="3059432"/>
                        <a:ext cx="731044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개체 87"/>
          <p:cNvGraphicFramePr>
            <a:graphicFrameLocks noChangeAspect="1"/>
          </p:cNvGraphicFramePr>
          <p:nvPr/>
        </p:nvGraphicFramePr>
        <p:xfrm>
          <a:off x="6685350" y="3629849"/>
          <a:ext cx="1435894" cy="221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11" imgW="1320480" imgH="203040" progId="Equation.3">
                  <p:embed/>
                </p:oleObj>
              </mc:Choice>
              <mc:Fallback>
                <p:oleObj name="수식" r:id="rId11" imgW="1320480" imgH="203040" progId="Equation.3">
                  <p:embed/>
                  <p:pic>
                    <p:nvPicPr>
                      <p:cNvPr id="88" name="개체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5350" y="3629849"/>
                        <a:ext cx="1435894" cy="221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그룹 31"/>
          <p:cNvGrpSpPr/>
          <p:nvPr/>
        </p:nvGrpSpPr>
        <p:grpSpPr>
          <a:xfrm>
            <a:off x="7737164" y="48511"/>
            <a:ext cx="1335336" cy="373930"/>
            <a:chOff x="7943943" y="64681"/>
            <a:chExt cx="1569409" cy="498573"/>
          </a:xfrm>
        </p:grpSpPr>
        <p:sp>
          <p:nvSpPr>
            <p:cNvPr id="33" name="TextBox 32"/>
            <p:cNvSpPr txBox="1"/>
            <p:nvPr/>
          </p:nvSpPr>
          <p:spPr>
            <a:xfrm>
              <a:off x="7943943" y="363541"/>
              <a:ext cx="1554297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5. Classification Wrap-Up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4" name="내용 개체 틀 11"/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□□□□■□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9" name="Rectangle 215"/>
          <p:cNvSpPr>
            <a:spLocks noChangeArrowheads="1"/>
          </p:cNvSpPr>
          <p:nvPr/>
        </p:nvSpPr>
        <p:spPr bwMode="auto">
          <a:xfrm>
            <a:off x="1689765" y="4539972"/>
            <a:ext cx="990268" cy="230549"/>
          </a:xfrm>
          <a:prstGeom prst="rect">
            <a:avLst/>
          </a:prstGeom>
          <a:solidFill>
            <a:srgbClr val="16419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05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Segoe UI" panose="020B0502040204020203" pitchFamily="34" charset="0"/>
              </a:rPr>
              <a:t>Brightics Tip</a:t>
            </a:r>
            <a:endParaRPr lang="ko-KR" altLang="ko-KR" sz="1050" b="1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95796" y="4531628"/>
            <a:ext cx="4794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Split Data </a:t>
            </a:r>
            <a:r>
              <a:rPr lang="ko-KR" altLang="en-US" sz="1200" dirty="0">
                <a:solidFill>
                  <a:srgbClr val="FF0000"/>
                </a:solidFill>
              </a:rPr>
              <a:t>로부터 나온 </a:t>
            </a:r>
            <a:r>
              <a:rPr lang="en-US" altLang="ko-KR" sz="1200" dirty="0">
                <a:solidFill>
                  <a:srgbClr val="FF0000"/>
                </a:solidFill>
              </a:rPr>
              <a:t>Output </a:t>
            </a:r>
            <a:r>
              <a:rPr lang="ko-KR" altLang="en-US" sz="1200" dirty="0">
                <a:solidFill>
                  <a:srgbClr val="FF0000"/>
                </a:solidFill>
              </a:rPr>
              <a:t>을 </a:t>
            </a:r>
            <a:r>
              <a:rPr lang="en-US" altLang="ko-KR" sz="1200" dirty="0">
                <a:solidFill>
                  <a:srgbClr val="FF0000"/>
                </a:solidFill>
              </a:rPr>
              <a:t>Predict </a:t>
            </a:r>
            <a:r>
              <a:rPr lang="ko-KR" altLang="en-US" sz="1200" dirty="0">
                <a:solidFill>
                  <a:srgbClr val="FF0000"/>
                </a:solidFill>
              </a:rPr>
              <a:t>함수에 연결할 때 주의하세요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두번째 </a:t>
            </a:r>
            <a:r>
              <a:rPr lang="en-US" altLang="ko-KR" sz="1200" dirty="0">
                <a:solidFill>
                  <a:srgbClr val="FF0000"/>
                </a:solidFill>
              </a:rPr>
              <a:t>Output </a:t>
            </a:r>
            <a:r>
              <a:rPr lang="ko-KR" altLang="en-US" sz="1200" dirty="0">
                <a:solidFill>
                  <a:srgbClr val="FF0000"/>
                </a:solidFill>
              </a:rPr>
              <a:t>으로 명시적으로 변경해 주어야 합니다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848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요약</a:t>
            </a:r>
            <a:r>
              <a:rPr lang="en-US" altLang="ko-KR" dirty="0"/>
              <a:t>) Classification Algorithm  </a:t>
            </a:r>
            <a:r>
              <a:rPr lang="ko-KR" altLang="en-US" dirty="0"/>
              <a:t>특징</a:t>
            </a:r>
            <a:r>
              <a:rPr lang="en-US" altLang="ko-KR" dirty="0"/>
              <a:t>(1/2)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34" name="개체 33"/>
          <p:cNvGraphicFramePr>
            <a:graphicFrameLocks noChangeAspect="1"/>
          </p:cNvGraphicFramePr>
          <p:nvPr/>
        </p:nvGraphicFramePr>
        <p:xfrm>
          <a:off x="1249315" y="899277"/>
          <a:ext cx="1894445" cy="34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409400" imgH="253800" progId="Equation.3">
                  <p:embed/>
                </p:oleObj>
              </mc:Choice>
              <mc:Fallback>
                <p:oleObj name="수식" r:id="rId2" imgW="1409400" imgH="253800" progId="Equation.3">
                  <p:embed/>
                  <p:pic>
                    <p:nvPicPr>
                      <p:cNvPr id="34" name="개체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15" y="899277"/>
                        <a:ext cx="1894445" cy="34100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rgbClr val="00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모서리가 둥근 직사각형 34"/>
          <p:cNvSpPr/>
          <p:nvPr/>
        </p:nvSpPr>
        <p:spPr>
          <a:xfrm>
            <a:off x="3648901" y="1920458"/>
            <a:ext cx="2332796" cy="47440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Logistic Regression</a:t>
            </a:r>
            <a:endParaRPr lang="ko-KR" altLang="en-US" sz="15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3648901" y="3325962"/>
            <a:ext cx="2332796" cy="47440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Naïve Bayes</a:t>
            </a:r>
            <a:endParaRPr lang="ko-KR" altLang="en-US" sz="15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3648901" y="2586299"/>
            <a:ext cx="2332796" cy="548226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k-Nearest Neighbors</a:t>
            </a:r>
            <a:endParaRPr lang="ko-KR" altLang="en-US" sz="15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3648901" y="3991805"/>
            <a:ext cx="2332796" cy="474405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en-US" altLang="ko-KR" sz="1500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Decision Tree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4683" y="1534978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ko-KR" altLang="en-US" u="sng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독립 변수</a:t>
            </a:r>
            <a:r>
              <a:rPr lang="en-US" altLang="ko-KR" u="sng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(X)</a:t>
            </a:r>
            <a:endParaRPr lang="ko-KR" altLang="en-US" u="sng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74682" y="1516879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221">
              <a:defRPr/>
            </a:pPr>
            <a:r>
              <a:rPr lang="ko-KR" altLang="en-US" u="sng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종속 변수</a:t>
            </a:r>
            <a:r>
              <a:rPr lang="en-US" altLang="ko-KR" u="sng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(Y)</a:t>
            </a:r>
            <a:endParaRPr lang="ko-KR" altLang="en-US" u="sng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310104" y="2290877"/>
            <a:ext cx="1579011" cy="503124"/>
          </a:xfrm>
          <a:prstGeom prst="rect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ko-KR" altLang="en-US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숫자형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310104" y="3696383"/>
            <a:ext cx="1579011" cy="503124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ko-KR" altLang="en-US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범주형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419378" y="2290877"/>
            <a:ext cx="1579011" cy="503124"/>
          </a:xfrm>
          <a:prstGeom prst="rect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ko-KR" altLang="en-US" b="1" kern="0" dirty="0">
                <a:solidFill>
                  <a:srgbClr val="FFFFFF">
                    <a:lumMod val="50000"/>
                  </a:srgbClr>
                </a:solidFill>
                <a:latin typeface="맑은 고딕" pitchFamily="50" charset="-127"/>
                <a:ea typeface="맑은 고딕" pitchFamily="50" charset="-127"/>
              </a:rPr>
              <a:t>숫자형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6419378" y="3696383"/>
            <a:ext cx="1579011" cy="503124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221" latinLnBrk="0">
              <a:defRPr/>
            </a:pPr>
            <a:r>
              <a:rPr lang="ko-KR" altLang="en-US" b="1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범주형</a:t>
            </a:r>
          </a:p>
        </p:txBody>
      </p:sp>
      <p:cxnSp>
        <p:nvCxnSpPr>
          <p:cNvPr id="45" name="직선 화살표 연결선 44"/>
          <p:cNvCxnSpPr>
            <a:stCxn id="41" idx="3"/>
            <a:endCxn id="35" idx="1"/>
          </p:cNvCxnSpPr>
          <p:nvPr/>
        </p:nvCxnSpPr>
        <p:spPr>
          <a:xfrm flipV="1">
            <a:off x="2889115" y="2157661"/>
            <a:ext cx="759787" cy="384779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46" name="직선 화살표 연결선 45"/>
          <p:cNvCxnSpPr>
            <a:stCxn id="41" idx="3"/>
            <a:endCxn id="37" idx="1"/>
          </p:cNvCxnSpPr>
          <p:nvPr/>
        </p:nvCxnSpPr>
        <p:spPr>
          <a:xfrm>
            <a:off x="2889115" y="2542439"/>
            <a:ext cx="759787" cy="31797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47" name="직선 화살표 연결선 46"/>
          <p:cNvCxnSpPr>
            <a:stCxn id="41" idx="3"/>
            <a:endCxn id="38" idx="1"/>
          </p:cNvCxnSpPr>
          <p:nvPr/>
        </p:nvCxnSpPr>
        <p:spPr>
          <a:xfrm>
            <a:off x="2889115" y="2542440"/>
            <a:ext cx="759787" cy="168656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48" name="직선 화살표 연결선 47"/>
          <p:cNvCxnSpPr>
            <a:stCxn id="42" idx="3"/>
            <a:endCxn id="35" idx="1"/>
          </p:cNvCxnSpPr>
          <p:nvPr/>
        </p:nvCxnSpPr>
        <p:spPr>
          <a:xfrm flipV="1">
            <a:off x="2889115" y="2157660"/>
            <a:ext cx="759787" cy="1790285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49" name="직선 화살표 연결선 48"/>
          <p:cNvCxnSpPr>
            <a:stCxn id="42" idx="3"/>
            <a:endCxn id="36" idx="1"/>
          </p:cNvCxnSpPr>
          <p:nvPr/>
        </p:nvCxnSpPr>
        <p:spPr>
          <a:xfrm flipV="1">
            <a:off x="2889115" y="3563165"/>
            <a:ext cx="759787" cy="38478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50" name="직선 화살표 연결선 49"/>
          <p:cNvCxnSpPr>
            <a:stCxn id="42" idx="3"/>
            <a:endCxn id="38" idx="1"/>
          </p:cNvCxnSpPr>
          <p:nvPr/>
        </p:nvCxnSpPr>
        <p:spPr>
          <a:xfrm>
            <a:off x="2889115" y="3947944"/>
            <a:ext cx="759787" cy="281063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51" name="직선 화살표 연결선 50"/>
          <p:cNvCxnSpPr>
            <a:stCxn id="44" idx="1"/>
            <a:endCxn id="38" idx="3"/>
          </p:cNvCxnSpPr>
          <p:nvPr/>
        </p:nvCxnSpPr>
        <p:spPr>
          <a:xfrm flipH="1">
            <a:off x="5981698" y="3947944"/>
            <a:ext cx="437681" cy="281063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52" name="직선 화살표 연결선 51"/>
          <p:cNvCxnSpPr>
            <a:stCxn id="44" idx="1"/>
            <a:endCxn id="36" idx="3"/>
          </p:cNvCxnSpPr>
          <p:nvPr/>
        </p:nvCxnSpPr>
        <p:spPr>
          <a:xfrm flipH="1" flipV="1">
            <a:off x="5981698" y="3563165"/>
            <a:ext cx="437681" cy="38478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53" name="직선 화살표 연결선 52"/>
          <p:cNvCxnSpPr>
            <a:stCxn id="44" idx="1"/>
            <a:endCxn id="37" idx="3"/>
          </p:cNvCxnSpPr>
          <p:nvPr/>
        </p:nvCxnSpPr>
        <p:spPr>
          <a:xfrm flipH="1" flipV="1">
            <a:off x="5981698" y="2860413"/>
            <a:ext cx="437681" cy="1087532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54" name="직선 화살표 연결선 53"/>
          <p:cNvCxnSpPr>
            <a:stCxn id="44" idx="1"/>
            <a:endCxn id="35" idx="3"/>
          </p:cNvCxnSpPr>
          <p:nvPr/>
        </p:nvCxnSpPr>
        <p:spPr>
          <a:xfrm flipH="1" flipV="1">
            <a:off x="5981698" y="2157660"/>
            <a:ext cx="437681" cy="1790285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headEnd type="diamond" w="med" len="med"/>
            <a:tailEnd type="triangle" w="med" len="med"/>
          </a:ln>
          <a:effectLst/>
        </p:spPr>
      </p:cxnSp>
      <p:cxnSp>
        <p:nvCxnSpPr>
          <p:cNvPr id="55" name="직선 화살표 연결선 54"/>
          <p:cNvCxnSpPr>
            <a:stCxn id="43" idx="1"/>
            <a:endCxn id="37" idx="3"/>
          </p:cNvCxnSpPr>
          <p:nvPr/>
        </p:nvCxnSpPr>
        <p:spPr>
          <a:xfrm flipH="1">
            <a:off x="5981698" y="2542439"/>
            <a:ext cx="437681" cy="31797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dash"/>
            <a:headEnd type="diamond" w="med" len="med"/>
            <a:tailEnd type="triangle" w="med" len="med"/>
          </a:ln>
          <a:effectLst/>
        </p:spPr>
      </p:cxnSp>
      <p:cxnSp>
        <p:nvCxnSpPr>
          <p:cNvPr id="56" name="직선 화살표 연결선 55"/>
          <p:cNvCxnSpPr>
            <a:stCxn id="43" idx="1"/>
            <a:endCxn id="38" idx="3"/>
          </p:cNvCxnSpPr>
          <p:nvPr/>
        </p:nvCxnSpPr>
        <p:spPr>
          <a:xfrm flipH="1">
            <a:off x="5981698" y="2542440"/>
            <a:ext cx="437681" cy="1686568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dash"/>
            <a:headEnd type="diamond" w="med" len="med"/>
            <a:tailEnd type="triangle" w="med" len="med"/>
          </a:ln>
          <a:effectLst/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7CFF70-7285-D82B-6B7A-FDDE1A720EDB}"/>
              </a:ext>
            </a:extLst>
          </p:cNvPr>
          <p:cNvGrpSpPr/>
          <p:nvPr/>
        </p:nvGrpSpPr>
        <p:grpSpPr>
          <a:xfrm>
            <a:off x="7737164" y="48511"/>
            <a:ext cx="1335336" cy="373930"/>
            <a:chOff x="7943943" y="64681"/>
            <a:chExt cx="1569409" cy="4985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6E9E120-C9DB-F5D9-7567-A9F24ADBD3EC}"/>
                </a:ext>
              </a:extLst>
            </p:cNvPr>
            <p:cNvSpPr txBox="1"/>
            <p:nvPr/>
          </p:nvSpPr>
          <p:spPr>
            <a:xfrm>
              <a:off x="7943943" y="363541"/>
              <a:ext cx="1554297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5. Classification Wrap-Up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5" name="내용 개체 틀 11">
              <a:extLst>
                <a:ext uri="{FF2B5EF4-FFF2-40B4-BE49-F238E27FC236}">
                  <a16:creationId xmlns:a16="http://schemas.microsoft.com/office/drawing/2014/main" id="{53765BE5-ED36-4182-53B4-9B0BAF28943F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□□□□■□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7547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Type Restriction in Brightics(in case of Classification)</a:t>
            </a:r>
          </a:p>
          <a:p>
            <a:pPr lvl="1"/>
            <a:r>
              <a:rPr lang="en-US" altLang="ko-KR" dirty="0"/>
              <a:t>Numeric: Integer, Double, Long</a:t>
            </a:r>
          </a:p>
          <a:p>
            <a:pPr lvl="1"/>
            <a:r>
              <a:rPr lang="en-US" altLang="ko-KR" dirty="0"/>
              <a:t>Char: String, Boolean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요약</a:t>
            </a:r>
            <a:r>
              <a:rPr lang="en-US" altLang="ko-KR" dirty="0"/>
              <a:t>) Classification Algorithm  </a:t>
            </a:r>
            <a:r>
              <a:rPr lang="ko-KR" altLang="en-US" dirty="0"/>
              <a:t>특징</a:t>
            </a:r>
            <a:r>
              <a:rPr lang="en-US" altLang="ko-KR" dirty="0"/>
              <a:t>(2/2)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206683" y="1789889"/>
          <a:ext cx="6760491" cy="2076782"/>
        </p:xfrm>
        <a:graphic>
          <a:graphicData uri="http://schemas.openxmlformats.org/drawingml/2006/table">
            <a:tbl>
              <a:tblPr/>
              <a:tblGrid>
                <a:gridCol w="1975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31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</a:t>
                      </a:r>
                      <a:endParaRPr lang="ko-KR" alt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</a:t>
                      </a:r>
                      <a:endParaRPr lang="ko-KR" alt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Numeric</a:t>
                      </a:r>
                      <a:endParaRPr lang="ko-KR" alt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String</a:t>
                      </a:r>
                      <a:endParaRPr lang="ko-KR" alt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Numeric</a:t>
                      </a:r>
                      <a:endParaRPr lang="ko-KR" alt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String</a:t>
                      </a:r>
                      <a:endParaRPr lang="ko-KR" alt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Logistic Regression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Decision Tree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kNN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Naïve Bayes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Yes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F4F4E448-3C4D-6D88-EEC4-F0BDF3EAEAFA}"/>
              </a:ext>
            </a:extLst>
          </p:cNvPr>
          <p:cNvGrpSpPr/>
          <p:nvPr/>
        </p:nvGrpSpPr>
        <p:grpSpPr>
          <a:xfrm>
            <a:off x="441584" y="691584"/>
            <a:ext cx="205980" cy="205980"/>
            <a:chOff x="1206683" y="691584"/>
            <a:chExt cx="205980" cy="205980"/>
          </a:xfrm>
        </p:grpSpPr>
        <p:sp>
          <p:nvSpPr>
            <p:cNvPr id="9" name="타원 8"/>
            <p:cNvSpPr/>
            <p:nvPr/>
          </p:nvSpPr>
          <p:spPr>
            <a:xfrm>
              <a:off x="1206683" y="691584"/>
              <a:ext cx="205980" cy="20598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0" name="L 도형 9"/>
            <p:cNvSpPr/>
            <p:nvPr/>
          </p:nvSpPr>
          <p:spPr>
            <a:xfrm rot="13500000">
              <a:off x="1255552" y="749780"/>
              <a:ext cx="89588" cy="89588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F03CC95-8BF0-2AF0-E579-1095CD69C30C}"/>
              </a:ext>
            </a:extLst>
          </p:cNvPr>
          <p:cNvGrpSpPr/>
          <p:nvPr/>
        </p:nvGrpSpPr>
        <p:grpSpPr>
          <a:xfrm>
            <a:off x="7737164" y="48511"/>
            <a:ext cx="1335336" cy="373930"/>
            <a:chOff x="7943943" y="64681"/>
            <a:chExt cx="1569409" cy="4985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261B8B-2D33-7CC0-8008-2E2DDA73DF64}"/>
                </a:ext>
              </a:extLst>
            </p:cNvPr>
            <p:cNvSpPr txBox="1"/>
            <p:nvPr/>
          </p:nvSpPr>
          <p:spPr>
            <a:xfrm>
              <a:off x="7943943" y="363541"/>
              <a:ext cx="1554297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5. Classification Wrap-Up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" name="내용 개체 틀 11">
              <a:extLst>
                <a:ext uri="{FF2B5EF4-FFF2-40B4-BE49-F238E27FC236}">
                  <a16:creationId xmlns:a16="http://schemas.microsoft.com/office/drawing/2014/main" id="{424F1030-3F93-2AA0-DA22-ED38F9F70D29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□□□□■□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186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dirty="0"/>
              <a:t>참고</a:t>
            </a:r>
            <a:r>
              <a:rPr lang="en-US" altLang="ko-KR" dirty="0"/>
              <a:t>. Classification Algorithm </a:t>
            </a:r>
            <a:r>
              <a:rPr lang="ko-KR" altLang="en-US" dirty="0"/>
              <a:t>비교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199593" y="4653977"/>
            <a:ext cx="54276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221"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출처</a:t>
            </a:r>
            <a:r>
              <a:rPr lang="en-US" altLang="ko-KR" sz="900" dirty="0">
                <a:solidFill>
                  <a:srgbClr val="000000"/>
                </a:solidFill>
                <a:latin typeface="맑은 고딕"/>
                <a:ea typeface="맑은 고딕" panose="020B0503020000020004" pitchFamily="50" charset="-127"/>
              </a:rPr>
              <a:t>) Supervised Machine Learning: A Review of Classification Techniques, S. B. Kotsiantis</a:t>
            </a:r>
            <a:endParaRPr lang="ko-KR" altLang="en-US" sz="900" dirty="0">
              <a:solidFill>
                <a:srgbClr val="00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45711"/>
              </p:ext>
            </p:extLst>
          </p:nvPr>
        </p:nvGraphicFramePr>
        <p:xfrm>
          <a:off x="683568" y="670072"/>
          <a:ext cx="7902833" cy="3953906"/>
        </p:xfrm>
        <a:graphic>
          <a:graphicData uri="http://schemas.openxmlformats.org/drawingml/2006/table">
            <a:tbl>
              <a:tblPr/>
              <a:tblGrid>
                <a:gridCol w="385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123"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※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stars represent the best and </a:t>
                      </a:r>
                      <a:b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 </a:t>
                      </a:r>
                      <a:r>
                        <a:rPr lang="en-US" altLang="ko-KR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 the worst performance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  <a:t>Decision 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  <a:t>Trees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  <a:t>Naïve </a:t>
                      </a:r>
                      <a:b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  <a:t>Bayes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/>
                        </a:rPr>
                        <a:t>kNN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Accuracy in general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5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Speed of learning with respect to number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of attributes and the number of instances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Speed of classification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Tolerance to missing values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Tolerance to irrelevant attributes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Tolerance to redundant attributes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Tolerance to highly interdependent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attributes (e.g. parity problems)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6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Dealing with discrete/binary/continuous attributes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  <a:b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(not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continuous)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(not directly discrete)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Tolerance to noise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Dealing with danger of overfitting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Attempts for incremental learning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2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Explanation ability/transparency of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knowledge/classifications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Model parameter handling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☆☆☆</a:t>
                      </a:r>
                    </a:p>
                  </a:txBody>
                  <a:tcPr marL="4726" marR="4726" marT="47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4C1A3091-4544-DDFC-FD4E-43BA286606E6}"/>
              </a:ext>
            </a:extLst>
          </p:cNvPr>
          <p:cNvGrpSpPr/>
          <p:nvPr/>
        </p:nvGrpSpPr>
        <p:grpSpPr>
          <a:xfrm>
            <a:off x="7737164" y="48511"/>
            <a:ext cx="1335336" cy="373930"/>
            <a:chOff x="7943943" y="64681"/>
            <a:chExt cx="1569409" cy="4985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FB21DF-E347-EFFD-B6FA-6FB441F3A9AA}"/>
                </a:ext>
              </a:extLst>
            </p:cNvPr>
            <p:cNvSpPr txBox="1"/>
            <p:nvPr/>
          </p:nvSpPr>
          <p:spPr>
            <a:xfrm>
              <a:off x="7943943" y="363541"/>
              <a:ext cx="1554297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5. Classification Wrap-Up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6" name="내용 개체 틀 11">
              <a:extLst>
                <a:ext uri="{FF2B5EF4-FFF2-40B4-BE49-F238E27FC236}">
                  <a16:creationId xmlns:a16="http://schemas.microsoft.com/office/drawing/2014/main" id="{93C26F41-F8F4-24B2-F311-ECBAF2669172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□□□□■□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4493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6. </a:t>
            </a:r>
            <a:r>
              <a:rPr lang="ko-KR" altLang="en-US" dirty="0">
                <a:latin typeface="+mn-ea"/>
                <a:ea typeface="+mn-ea"/>
              </a:rPr>
              <a:t>군집분석 </a:t>
            </a:r>
            <a:r>
              <a:rPr lang="en-US" altLang="ko-KR" dirty="0">
                <a:latin typeface="+mn-ea"/>
                <a:ea typeface="+mn-ea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852925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Clustering : </a:t>
            </a:r>
            <a:r>
              <a:rPr lang="ko-KR" altLang="en-US" dirty="0"/>
              <a:t>군집분석</a:t>
            </a:r>
          </a:p>
          <a:p>
            <a:pPr lvl="1"/>
            <a:r>
              <a:rPr lang="ko-KR" altLang="en-US" dirty="0"/>
              <a:t>주어진 입력 값</a:t>
            </a:r>
            <a:r>
              <a:rPr lang="en-US" altLang="ko-KR" dirty="0"/>
              <a:t>(</a:t>
            </a:r>
            <a:r>
              <a:rPr lang="ko-KR" altLang="en-US" dirty="0"/>
              <a:t>들</a:t>
            </a:r>
            <a:r>
              <a:rPr lang="en-US" altLang="ko-KR" dirty="0"/>
              <a:t>)</a:t>
            </a:r>
            <a:r>
              <a:rPr lang="ko-KR" altLang="en-US" dirty="0"/>
              <a:t>을 바탕으로 유사한 </a:t>
            </a:r>
            <a:r>
              <a:rPr lang="en-US" altLang="ko-KR" dirty="0"/>
              <a:t>(</a:t>
            </a:r>
            <a:r>
              <a:rPr lang="ko-KR" altLang="en-US" dirty="0"/>
              <a:t>거리가 가까운</a:t>
            </a:r>
            <a:r>
              <a:rPr lang="en-US" altLang="ko-KR" dirty="0"/>
              <a:t>)</a:t>
            </a:r>
            <a:r>
              <a:rPr lang="ko-KR" altLang="en-US" dirty="0"/>
              <a:t>값들로 </a:t>
            </a:r>
            <a:br>
              <a:rPr lang="ko-KR" altLang="en-US" dirty="0"/>
            </a:br>
            <a:r>
              <a:rPr lang="ko-KR" altLang="en-US" dirty="0"/>
              <a:t>데이터를 몇 개의 그룹으로 묶어주는 것</a:t>
            </a:r>
          </a:p>
          <a:p>
            <a:pPr lvl="2"/>
            <a:r>
              <a:rPr lang="ko-KR" altLang="en-US" dirty="0"/>
              <a:t>유사한 제품 군</a:t>
            </a:r>
            <a:r>
              <a:rPr lang="en-US" altLang="ko-KR" dirty="0"/>
              <a:t>, </a:t>
            </a:r>
            <a:r>
              <a:rPr lang="ko-KR" altLang="en-US" dirty="0"/>
              <a:t>몇 개의 그룹으로 전체 데이터를 </a:t>
            </a:r>
            <a:r>
              <a:rPr lang="en-US" altLang="ko-KR" dirty="0"/>
              <a:t>Classify</a:t>
            </a:r>
          </a:p>
          <a:p>
            <a:pPr lvl="1"/>
            <a:r>
              <a:rPr lang="ko-KR" altLang="en-US" dirty="0"/>
              <a:t>임의로 주어진 </a:t>
            </a:r>
            <a:r>
              <a:rPr lang="en-US" altLang="ko-KR" dirty="0"/>
              <a:t>k</a:t>
            </a:r>
            <a:r>
              <a:rPr lang="ko-KR" altLang="en-US" dirty="0"/>
              <a:t>값에 따라</a:t>
            </a:r>
            <a:r>
              <a:rPr lang="en-US" altLang="ko-KR" dirty="0"/>
              <a:t>, k</a:t>
            </a:r>
            <a:r>
              <a:rPr lang="ko-KR" altLang="en-US" dirty="0"/>
              <a:t>개의 그룹으로 분류</a:t>
            </a:r>
          </a:p>
          <a:p>
            <a:pPr lvl="2"/>
            <a:r>
              <a:rPr lang="ko-KR" altLang="en-US" dirty="0"/>
              <a:t>비지도학습의 하나로 분석가의 해석이 중요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사용목적</a:t>
            </a:r>
          </a:p>
          <a:p>
            <a:pPr lvl="1"/>
            <a:r>
              <a:rPr lang="ko-KR" altLang="en-US" dirty="0"/>
              <a:t>점포 세분화</a:t>
            </a:r>
            <a:r>
              <a:rPr lang="en-US" altLang="ko-KR" dirty="0"/>
              <a:t>, </a:t>
            </a:r>
            <a:r>
              <a:rPr lang="ko-KR" altLang="en-US" dirty="0"/>
              <a:t>고객관리를 위한 구분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군집분석 개요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41584" y="707916"/>
            <a:ext cx="205980" cy="205980"/>
            <a:chOff x="465911" y="943888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43888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21484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41584" y="2401774"/>
            <a:ext cx="205980" cy="205980"/>
            <a:chOff x="464513" y="3640373"/>
            <a:chExt cx="274640" cy="274640"/>
          </a:xfrm>
        </p:grpSpPr>
        <p:sp>
          <p:nvSpPr>
            <p:cNvPr id="14" name="타원 13"/>
            <p:cNvSpPr/>
            <p:nvPr/>
          </p:nvSpPr>
          <p:spPr>
            <a:xfrm>
              <a:off x="464513" y="3640373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5" name="L 도형 14"/>
            <p:cNvSpPr/>
            <p:nvPr/>
          </p:nvSpPr>
          <p:spPr>
            <a:xfrm rot="13500000">
              <a:off x="529671" y="3717969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Picture 2" descr="clustering에 대한 이미지 검색결과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2"/>
          <a:stretch/>
        </p:blipFill>
        <p:spPr bwMode="auto">
          <a:xfrm>
            <a:off x="5256076" y="1679078"/>
            <a:ext cx="3570626" cy="307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그룹 19"/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21" name="TextBox 20"/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22" name="내용 개체 틀 11"/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0026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Clustering </a:t>
            </a:r>
            <a:r>
              <a:rPr lang="ko-KR" altLang="en-US" dirty="0"/>
              <a:t>원리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거리</a:t>
            </a:r>
            <a:r>
              <a:rPr lang="ko-KR" altLang="en-US" dirty="0"/>
              <a:t>가 가까운 </a:t>
            </a:r>
            <a:r>
              <a:rPr lang="en-US" altLang="ko-KR" dirty="0"/>
              <a:t>(=</a:t>
            </a:r>
            <a:r>
              <a:rPr lang="ko-KR" altLang="en-US" dirty="0"/>
              <a:t>유사도 높은</a:t>
            </a:r>
            <a:r>
              <a:rPr lang="en-US" altLang="ko-KR" dirty="0"/>
              <a:t>) </a:t>
            </a:r>
            <a:r>
              <a:rPr lang="ko-KR" altLang="en-US" dirty="0"/>
              <a:t>데이터끼리 묶어줌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거리 </a:t>
            </a:r>
            <a:r>
              <a:rPr lang="en-US" altLang="ko-KR" dirty="0"/>
              <a:t>Distance </a:t>
            </a:r>
            <a:r>
              <a:rPr lang="ko-KR" altLang="en-US" dirty="0"/>
              <a:t>감소 </a:t>
            </a:r>
            <a:r>
              <a:rPr lang="en-US" altLang="ko-KR" dirty="0"/>
              <a:t>= </a:t>
            </a:r>
            <a:r>
              <a:rPr lang="ko-KR" altLang="en-US" dirty="0"/>
              <a:t>유사도 </a:t>
            </a:r>
            <a:r>
              <a:rPr lang="en-US" altLang="ko-KR" dirty="0"/>
              <a:t>Similarity </a:t>
            </a:r>
            <a:r>
              <a:rPr lang="ko-KR" altLang="en-US" dirty="0"/>
              <a:t>증가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서로 다른 배타적인 집단으로 나누는 것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군집분석 원리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41584" y="673582"/>
            <a:ext cx="205980" cy="205980"/>
            <a:chOff x="465911" y="952680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5268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3027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301193" y="2183821"/>
            <a:ext cx="4060856" cy="2293994"/>
            <a:chOff x="5673080" y="2923339"/>
            <a:chExt cx="3738150" cy="2565847"/>
          </a:xfrm>
        </p:grpSpPr>
        <p:pic>
          <p:nvPicPr>
            <p:cNvPr id="18" name="Picture 2" descr="군집분석 원리에 대한 이미지 검색결과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3080" y="3072414"/>
              <a:ext cx="3612952" cy="2416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8097636" y="2923339"/>
              <a:ext cx="1313594" cy="3356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altLang="ko-KR" sz="1350" b="1" dirty="0">
                  <a:solidFill>
                    <a:srgbClr val="FF0000"/>
                  </a:solidFill>
                  <a:latin typeface="+mn-ea"/>
                </a:rPr>
                <a:t>Max</a:t>
              </a:r>
              <a:r>
                <a:rPr lang="en-US" altLang="ko-KR" sz="1050" dirty="0">
                  <a:solidFill>
                    <a:srgbClr val="FF0000"/>
                  </a:solidFill>
                  <a:latin typeface="+mn-ea"/>
                </a:rPr>
                <a:t>imize Distance</a:t>
              </a:r>
              <a:endParaRPr lang="ko-KR" altLang="en-US" sz="105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14672" y="3124871"/>
              <a:ext cx="1164556" cy="3356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altLang="ko-KR" sz="1350" b="1" dirty="0">
                  <a:solidFill>
                    <a:srgbClr val="0070C0"/>
                  </a:solidFill>
                  <a:latin typeface="+mn-ea"/>
                </a:rPr>
                <a:t>Min</a:t>
              </a:r>
              <a:r>
                <a:rPr lang="en-US" altLang="ko-KR" sz="900" dirty="0">
                  <a:solidFill>
                    <a:srgbClr val="0070C0"/>
                  </a:solidFill>
                  <a:latin typeface="+mn-ea"/>
                </a:rPr>
                <a:t>imize Distance</a:t>
              </a:r>
              <a:endParaRPr lang="ko-KR" altLang="en-US" sz="9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361711" y="2460820"/>
            <a:ext cx="45397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ko-KR" altLang="en-US" sz="1050" dirty="0">
                <a:solidFill>
                  <a:srgbClr val="000000"/>
                </a:solidFill>
                <a:latin typeface="+mn-ea"/>
              </a:rPr>
              <a:t>수입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8237" y="4435313"/>
            <a:ext cx="45397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ko-KR" altLang="en-US" sz="1050" dirty="0">
                <a:solidFill>
                  <a:srgbClr val="000000"/>
                </a:solidFill>
                <a:latin typeface="+mn-ea"/>
              </a:rPr>
              <a:t>지출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CA62E56-457E-E020-9616-70E50B72D2EE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8B6A36-B7E1-60EC-E08B-2271B2F22F88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" name="내용 개체 틀 11">
              <a:extLst>
                <a:ext uri="{FF2B5EF4-FFF2-40B4-BE49-F238E27FC236}">
                  <a16:creationId xmlns:a16="http://schemas.microsoft.com/office/drawing/2014/main" id="{9A8847DF-A19C-777A-4E1D-05D1F533D7F9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445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장점</a:t>
            </a:r>
          </a:p>
          <a:p>
            <a:pPr lvl="1"/>
            <a:r>
              <a:rPr lang="ko-KR" altLang="en-US" dirty="0"/>
              <a:t>대용량 데이터에 대한 탐색적 분석</a:t>
            </a:r>
          </a:p>
          <a:p>
            <a:pPr lvl="1"/>
            <a:r>
              <a:rPr lang="ko-KR" altLang="en-US" dirty="0"/>
              <a:t>적용이 용이하고 수행이 빠름</a:t>
            </a:r>
          </a:p>
          <a:p>
            <a:pPr lvl="1"/>
            <a:r>
              <a:rPr lang="ko-KR" altLang="en-US" dirty="0"/>
              <a:t>언제나 </a:t>
            </a:r>
            <a:r>
              <a:rPr lang="en-US" altLang="ko-KR" dirty="0"/>
              <a:t>Cluster</a:t>
            </a:r>
            <a:r>
              <a:rPr lang="ko-KR" altLang="en-US" dirty="0"/>
              <a:t>가 나누어짐</a:t>
            </a:r>
            <a:br>
              <a:rPr lang="ko-KR" altLang="en-US" dirty="0"/>
            </a:br>
            <a:endParaRPr lang="ko-KR" altLang="en-US" dirty="0"/>
          </a:p>
          <a:p>
            <a:r>
              <a:rPr lang="ko-KR" altLang="en-US" dirty="0"/>
              <a:t>단점</a:t>
            </a:r>
          </a:p>
          <a:p>
            <a:pPr lvl="1"/>
            <a:r>
              <a:rPr lang="ko-KR" altLang="en-US" dirty="0"/>
              <a:t>의미 없는 </a:t>
            </a:r>
            <a:r>
              <a:rPr lang="en-US" altLang="ko-KR" dirty="0"/>
              <a:t>Cluster</a:t>
            </a:r>
            <a:r>
              <a:rPr lang="ko-KR" altLang="en-US" dirty="0"/>
              <a:t>가 형성될 수 있음</a:t>
            </a:r>
          </a:p>
          <a:p>
            <a:pPr lvl="1"/>
            <a:r>
              <a:rPr lang="ko-KR" altLang="en-US" dirty="0"/>
              <a:t>결과 해석이 어려움</a:t>
            </a:r>
          </a:p>
          <a:p>
            <a:pPr lvl="1"/>
            <a:r>
              <a:rPr lang="ko-KR" altLang="en-US" dirty="0"/>
              <a:t>목적에 맞는 변수를 제공해야 함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군집분석 특징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31540" y="663538"/>
            <a:ext cx="205980" cy="205980"/>
            <a:chOff x="465911" y="93509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3509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12692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31540" y="1959682"/>
            <a:ext cx="205980" cy="205980"/>
            <a:chOff x="465911" y="2919808"/>
            <a:chExt cx="274640" cy="274640"/>
          </a:xfrm>
        </p:grpSpPr>
        <p:sp>
          <p:nvSpPr>
            <p:cNvPr id="15" name="타원 14"/>
            <p:cNvSpPr/>
            <p:nvPr/>
          </p:nvSpPr>
          <p:spPr>
            <a:xfrm>
              <a:off x="465911" y="2919808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6" name="L 도형 15"/>
            <p:cNvSpPr/>
            <p:nvPr/>
          </p:nvSpPr>
          <p:spPr>
            <a:xfrm rot="13500000">
              <a:off x="531069" y="2997404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60418" name="Picture 2" descr="In Depth: k-Means Clustering | Python Data Science Hand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71" y="2115861"/>
            <a:ext cx="2422565" cy="17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865952" y="3830711"/>
            <a:ext cx="3714750" cy="196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675" dirty="0"/>
              <a:t>출처</a:t>
            </a:r>
            <a:r>
              <a:rPr lang="en-US" altLang="ko-KR" sz="675" dirty="0"/>
              <a:t>: https://jakevdp.github.io/PythonDataScienceHandbook/05.11-k-means.html</a:t>
            </a:r>
            <a:endParaRPr lang="ko-KR" altLang="en-US" sz="675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E3C8DE-7743-C9D4-B1CD-AFEFCD9FCA1D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DCD6A4-89BA-8CFC-0D54-394B41F1A1C5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9" name="내용 개체 틀 11">
              <a:extLst>
                <a:ext uri="{FF2B5EF4-FFF2-40B4-BE49-F238E27FC236}">
                  <a16:creationId xmlns:a16="http://schemas.microsoft.com/office/drawing/2014/main" id="{8FAFBCF8-DCA1-BC65-2B1D-CE3EDC970333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444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“</a:t>
            </a:r>
            <a:r>
              <a:rPr lang="ko-KR" altLang="en-US" sz="1800" dirty="0"/>
              <a:t>유사도</a:t>
            </a:r>
            <a:r>
              <a:rPr lang="en-US" altLang="ko-KR" sz="1800" dirty="0"/>
              <a:t>＂</a:t>
            </a:r>
            <a:r>
              <a:rPr lang="ko-KR" altLang="en-US" sz="1800" dirty="0"/>
              <a:t>를 어떻게 정의할 것인가</a:t>
            </a:r>
            <a:r>
              <a:rPr lang="en-US" altLang="ko-KR" sz="1800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Recall that the goal is to group together “</a:t>
            </a:r>
            <a:r>
              <a:rPr lang="en-US" altLang="ko-KR" b="1" dirty="0">
                <a:solidFill>
                  <a:srgbClr val="0070C0"/>
                </a:solidFill>
              </a:rPr>
              <a:t>similar</a:t>
            </a:r>
            <a:r>
              <a:rPr lang="en-US" altLang="ko-KR" dirty="0"/>
              <a:t>” data – but what does this mean?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No single answer – it depends on what we want to find or emphasize in the data; this is one reason why </a:t>
            </a:r>
            <a:r>
              <a:rPr lang="en-US" altLang="ko-KR" u="sng" dirty="0"/>
              <a:t>clustering is an </a:t>
            </a:r>
            <a:r>
              <a:rPr lang="en-US" altLang="ko-KR" i="1" u="sng" dirty="0"/>
              <a:t>“</a:t>
            </a:r>
            <a:r>
              <a:rPr lang="en-US" altLang="ko-KR" b="1" i="1" u="sng" dirty="0">
                <a:solidFill>
                  <a:srgbClr val="FF0000"/>
                </a:solidFill>
              </a:rPr>
              <a:t>art</a:t>
            </a:r>
            <a:r>
              <a:rPr lang="en-US" altLang="ko-KR" i="1" u="sng" dirty="0"/>
              <a:t>”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The </a:t>
            </a:r>
            <a:r>
              <a:rPr lang="en-US" altLang="ko-KR" b="1" u="sng" dirty="0">
                <a:solidFill>
                  <a:srgbClr val="0070C0"/>
                </a:solidFill>
              </a:rPr>
              <a:t>similarity measure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en-US" altLang="ko-KR" dirty="0"/>
              <a:t>is often more important than the clustering algorithm used – don’t overlook this choice!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</a:t>
            </a:r>
            <a:r>
              <a:rPr lang="en-US" altLang="ko-KR" dirty="0"/>
              <a:t>. </a:t>
            </a:r>
            <a:r>
              <a:rPr lang="ko-KR" altLang="en-US" dirty="0"/>
              <a:t>유사도 척도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31540" y="699542"/>
            <a:ext cx="205980" cy="205980"/>
            <a:chOff x="465911" y="970264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70264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47860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8183248-D422-0353-335D-36B756FD4543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0629F2-88DF-BA0A-AA97-7EF8681C5CCA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" name="내용 개체 틀 11">
              <a:extLst>
                <a:ext uri="{FF2B5EF4-FFF2-40B4-BE49-F238E27FC236}">
                  <a16:creationId xmlns:a16="http://schemas.microsoft.com/office/drawing/2014/main" id="{F47B610D-0042-7595-96D0-AF28EA30BD92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8822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Distance (</a:t>
            </a:r>
            <a:r>
              <a:rPr lang="ko-KR" altLang="en-US" dirty="0"/>
              <a:t>특성변수간의 차이를 기초로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Euclidean Distance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Manhattan Distance</a:t>
            </a:r>
            <a:br>
              <a:rPr lang="en-US" altLang="ko-KR" dirty="0"/>
            </a:br>
            <a:r>
              <a:rPr lang="en-US" altLang="ko-KR" dirty="0"/>
              <a:t>= City-block Distance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Minkowski Distance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Distance Measures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441584" y="699542"/>
            <a:ext cx="205980" cy="205980"/>
            <a:chOff x="465911" y="943888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43888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21484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7" name="개체 16"/>
          <p:cNvGraphicFramePr>
            <a:graphicFrameLocks noChangeAspect="1"/>
          </p:cNvGraphicFramePr>
          <p:nvPr/>
        </p:nvGraphicFramePr>
        <p:xfrm>
          <a:off x="3877944" y="1026144"/>
          <a:ext cx="2174810" cy="691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4" imgH="444307" progId="Equation.3">
                  <p:embed/>
                </p:oleObj>
              </mc:Choice>
              <mc:Fallback>
                <p:oleObj name="Equation" r:id="rId2" imgW="1396394" imgH="444307" progId="Equation.3">
                  <p:embed/>
                  <p:pic>
                    <p:nvPicPr>
                      <p:cNvPr id="17" name="개체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944" y="1026144"/>
                        <a:ext cx="2174810" cy="691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/>
          <p:cNvGraphicFramePr>
            <a:graphicFrameLocks noChangeAspect="1"/>
          </p:cNvGraphicFramePr>
          <p:nvPr/>
        </p:nvGraphicFramePr>
        <p:xfrm>
          <a:off x="3855348" y="1910179"/>
          <a:ext cx="2116032" cy="655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449" imgH="393529" progId="Equation.3">
                  <p:embed/>
                </p:oleObj>
              </mc:Choice>
              <mc:Fallback>
                <p:oleObj name="Equation" r:id="rId4" imgW="1269449" imgH="393529" progId="Equation.3">
                  <p:embed/>
                  <p:pic>
                    <p:nvPicPr>
                      <p:cNvPr id="18" name="개체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5348" y="1910179"/>
                        <a:ext cx="2116032" cy="655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개체 18"/>
          <p:cNvGraphicFramePr>
            <a:graphicFrameLocks noChangeAspect="1"/>
          </p:cNvGraphicFramePr>
          <p:nvPr/>
        </p:nvGraphicFramePr>
        <p:xfrm>
          <a:off x="3855348" y="2737537"/>
          <a:ext cx="2213996" cy="691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400" imgH="444500" progId="Equation.3">
                  <p:embed/>
                </p:oleObj>
              </mc:Choice>
              <mc:Fallback>
                <p:oleObj name="Equation" r:id="rId6" imgW="1422400" imgH="444500" progId="Equation.3">
                  <p:embed/>
                  <p:pic>
                    <p:nvPicPr>
                      <p:cNvPr id="19" name="개체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5348" y="2737537"/>
                        <a:ext cx="2213996" cy="691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E38C5BB7-72E3-9550-A078-78F5DC44409C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9413EC-0412-96C5-F22C-A7259774489A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" name="내용 개체 틀 11">
              <a:extLst>
                <a:ext uri="{FF2B5EF4-FFF2-40B4-BE49-F238E27FC236}">
                  <a16:creationId xmlns:a16="http://schemas.microsoft.com/office/drawing/2014/main" id="{15047D1B-BD04-4C22-7ABA-3BD0DCA95FFF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531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Similarity</a:t>
            </a:r>
          </a:p>
          <a:p>
            <a:pPr lvl="1"/>
            <a:r>
              <a:rPr lang="en-US" altLang="ko-KR" dirty="0"/>
              <a:t>Cosine Similarity                                          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Dissimilarity measure                                                     </a:t>
            </a:r>
            <a:br>
              <a:rPr lang="en-US" altLang="ko-KR" dirty="0"/>
            </a:br>
            <a:r>
              <a:rPr lang="en-US" altLang="ko-KR" dirty="0"/>
              <a:t>(0~1)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Similarity Measures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441584" y="663538"/>
            <a:ext cx="205980" cy="205980"/>
            <a:chOff x="465911" y="952680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5268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3027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Picture 16" descr="cosine similarity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679" y="1289360"/>
            <a:ext cx="3367553" cy="118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4110927" y="3103011"/>
            <a:ext cx="2502466" cy="96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8" name="개체 17"/>
          <p:cNvGraphicFramePr>
            <a:graphicFrameLocks noChangeAspect="1"/>
          </p:cNvGraphicFramePr>
          <p:nvPr/>
        </p:nvGraphicFramePr>
        <p:xfrm>
          <a:off x="2288691" y="3269109"/>
          <a:ext cx="1404157" cy="55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393529" progId="Equation.3">
                  <p:embed/>
                </p:oleObj>
              </mc:Choice>
              <mc:Fallback>
                <p:oleObj name="Equation" r:id="rId4" imgW="990170" imgH="393529" progId="Equation.3">
                  <p:embed/>
                  <p:pic>
                    <p:nvPicPr>
                      <p:cNvPr id="18" name="개체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691" y="3269109"/>
                        <a:ext cx="1404157" cy="55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9" t="50000" r="63982"/>
          <a:stretch/>
        </p:blipFill>
        <p:spPr bwMode="auto">
          <a:xfrm>
            <a:off x="7003247" y="3103011"/>
            <a:ext cx="942333" cy="99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801" y="1289360"/>
            <a:ext cx="1641232" cy="1060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6FA0B70-9E72-DBD0-B991-423EC33C6599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D0BC97-1651-DCB7-8535-2B44DCE0E227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" name="내용 개체 틀 11">
              <a:extLst>
                <a:ext uri="{FF2B5EF4-FFF2-40B4-BE49-F238E27FC236}">
                  <a16:creationId xmlns:a16="http://schemas.microsoft.com/office/drawing/2014/main" id="{184F03B5-415A-DB5C-42BC-59E4209331F4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703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03238" y="681553"/>
            <a:ext cx="7383219" cy="846421"/>
          </a:xfrm>
        </p:spPr>
        <p:txBody>
          <a:bodyPr>
            <a:normAutofit/>
          </a:bodyPr>
          <a:lstStyle/>
          <a:p>
            <a:r>
              <a:rPr lang="ko-KR" altLang="en-US" sz="1650" dirty="0"/>
              <a:t>추상적 거리</a:t>
            </a:r>
          </a:p>
          <a:p>
            <a:pPr marL="0" indent="0">
              <a:buNone/>
            </a:pPr>
            <a:r>
              <a:rPr lang="ko-KR" altLang="en-US" sz="1650" dirty="0"/>
              <a:t>    예</a:t>
            </a:r>
            <a:r>
              <a:rPr lang="en-US" altLang="ko-KR" sz="1650" dirty="0"/>
              <a:t>) Arizona Public Service</a:t>
            </a:r>
            <a:r>
              <a:rPr lang="ko-KR" altLang="en-US" sz="1650" dirty="0"/>
              <a:t>와 </a:t>
            </a:r>
            <a:r>
              <a:rPr lang="en-US" altLang="ko-KR" sz="1650" dirty="0"/>
              <a:t>Boston Edison Co.</a:t>
            </a:r>
            <a:r>
              <a:rPr lang="ko-KR" altLang="en-US" sz="1650" dirty="0"/>
              <a:t>와의 유클리디언 거리 </a:t>
            </a:r>
          </a:p>
          <a:p>
            <a:endParaRPr lang="ko-KR" altLang="en-US" sz="1650" dirty="0"/>
          </a:p>
          <a:p>
            <a:endParaRPr lang="ko-KR" altLang="en-US" sz="1650" dirty="0"/>
          </a:p>
          <a:p>
            <a:endParaRPr lang="ko-KR" altLang="en-US" sz="1650" dirty="0"/>
          </a:p>
          <a:p>
            <a:endParaRPr lang="ko-KR" altLang="en-US" sz="1650" dirty="0"/>
          </a:p>
          <a:p>
            <a:endParaRPr lang="ko-KR" altLang="en-US" sz="1650" dirty="0"/>
          </a:p>
          <a:p>
            <a:endParaRPr lang="ko-KR" altLang="en-US" sz="1650" dirty="0"/>
          </a:p>
          <a:p>
            <a:endParaRPr lang="ko-KR" altLang="en-US" sz="1650" dirty="0"/>
          </a:p>
          <a:p>
            <a:endParaRPr lang="ko-KR" altLang="en-US" sz="1650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거리 예제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31540" y="699542"/>
            <a:ext cx="205980" cy="205980"/>
            <a:chOff x="465911" y="952680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52680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30276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078" y="2543409"/>
            <a:ext cx="5182165" cy="594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위로 굽은 화살표 22"/>
          <p:cNvSpPr/>
          <p:nvPr/>
        </p:nvSpPr>
        <p:spPr>
          <a:xfrm rot="5400000">
            <a:off x="1950343" y="2562030"/>
            <a:ext cx="253265" cy="303559"/>
          </a:xfrm>
          <a:prstGeom prst="bent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ko-KR" altLang="en-US" sz="13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952605" y="1459762"/>
            <a:ext cx="567063" cy="803378"/>
          </a:xfrm>
          <a:prstGeom prst="roundRect">
            <a:avLst/>
          </a:prstGeom>
          <a:solidFill>
            <a:srgbClr val="F5A200">
              <a:alpha val="14118"/>
            </a:srgbClr>
          </a:solidFill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ko-KR" altLang="en-US" sz="105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6223434" y="2263140"/>
            <a:ext cx="0" cy="810000"/>
          </a:xfrm>
          <a:prstGeom prst="straightConnector1">
            <a:avLst/>
          </a:prstGeom>
          <a:ln w="6350"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50083" y="3083432"/>
            <a:ext cx="2223686" cy="507831"/>
          </a:xfrm>
          <a:prstGeom prst="rect">
            <a:avLst/>
          </a:prstGeom>
          <a:solidFill>
            <a:srgbClr val="F5A200">
              <a:alpha val="14118"/>
            </a:srgbClr>
          </a:solidFill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ko-KR" sz="1350" b="1" dirty="0">
                <a:solidFill>
                  <a:srgbClr val="C00000"/>
                </a:solidFill>
                <a:latin typeface="+mn-ea"/>
              </a:rPr>
              <a:t>9077 – 5088 = 3989</a:t>
            </a:r>
          </a:p>
          <a:p>
            <a:pPr defTabSz="685800">
              <a:defRPr/>
            </a:pPr>
            <a:r>
              <a:rPr lang="en-US" altLang="ko-KR" sz="1350" b="1" dirty="0">
                <a:solidFill>
                  <a:srgbClr val="C00000"/>
                </a:solidFill>
                <a:latin typeface="+mn-ea"/>
              </a:rPr>
              <a:t>Sales </a:t>
            </a:r>
            <a:r>
              <a:rPr lang="ko-KR" altLang="en-US" sz="1350" b="1" dirty="0">
                <a:solidFill>
                  <a:srgbClr val="C00000"/>
                </a:solidFill>
                <a:latin typeface="+mn-ea"/>
              </a:rPr>
              <a:t>만으로 거리 결정됨</a:t>
            </a:r>
            <a:r>
              <a:rPr lang="en-US" altLang="ko-KR" sz="1350" b="1" dirty="0">
                <a:solidFill>
                  <a:srgbClr val="C00000"/>
                </a:solidFill>
                <a:latin typeface="+mn-e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717" y="3555229"/>
            <a:ext cx="17259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altLang="ko-KR" sz="1350" b="1" i="1" dirty="0">
                <a:solidFill>
                  <a:srgbClr val="FF0000"/>
                </a:solidFill>
                <a:latin typeface="+mn-ea"/>
              </a:rPr>
              <a:t>Something wrong!</a:t>
            </a:r>
            <a:endParaRPr lang="ko-KR" altLang="en-US" sz="1350" b="1" i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998586"/>
              </p:ext>
            </p:extLst>
          </p:nvPr>
        </p:nvGraphicFramePr>
        <p:xfrm>
          <a:off x="1443104" y="1527973"/>
          <a:ext cx="6178253" cy="600153"/>
        </p:xfrm>
        <a:graphic>
          <a:graphicData uri="http://schemas.openxmlformats.org/drawingml/2006/table">
            <a:tbl>
              <a:tblPr/>
              <a:tblGrid>
                <a:gridCol w="142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6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00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Company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Fixed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RoR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Cost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Load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Demand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Sales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Nuclear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Fuel cost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Arizona Public Service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1.06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9.2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151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9,077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0.628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Boston Edison Co.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5,088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1.555 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360792" y="4025172"/>
            <a:ext cx="64609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※</a:t>
            </a:r>
            <a:r>
              <a:rPr lang="en-US" altLang="ko-KR" dirty="0"/>
              <a:t> </a:t>
            </a:r>
            <a:r>
              <a:rPr lang="ko-KR" altLang="en-US" dirty="0"/>
              <a:t>원시 척도는 각 변수의 단위 크기에 영향을 받기 때문에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값이 큰 변수는 총 거리에 매우 큰 영향을 줌 → </a:t>
            </a:r>
            <a:r>
              <a:rPr lang="ko-KR" altLang="en-US" b="1" dirty="0">
                <a:solidFill>
                  <a:srgbClr val="FF0000"/>
                </a:solidFill>
              </a:rPr>
              <a:t>표준화 필요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F71AEE2-3BF9-67CC-D225-D28129C69D7A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12EDB1-F444-20CB-68C7-BEC3D78FA155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" name="내용 개체 틀 11">
              <a:extLst>
                <a:ext uri="{FF2B5EF4-FFF2-40B4-BE49-F238E27FC236}">
                  <a16:creationId xmlns:a16="http://schemas.microsoft.com/office/drawing/2014/main" id="{11601862-102D-3AB1-222E-C24FB03BAEB3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366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7" grpId="0"/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표준화 방법</a:t>
            </a:r>
            <a:endParaRPr lang="en-US" altLang="ko-KR" sz="375" dirty="0"/>
          </a:p>
          <a:p>
            <a:pPr lvl="1"/>
            <a:r>
              <a:rPr lang="en-US" altLang="ko-KR" dirty="0"/>
              <a:t>Min-Max : </a:t>
            </a:r>
            <a:r>
              <a:rPr lang="ko-KR" altLang="en-US" dirty="0"/>
              <a:t>최대값</a:t>
            </a:r>
            <a:r>
              <a:rPr lang="en-US" altLang="ko-KR" dirty="0"/>
              <a:t>, </a:t>
            </a:r>
            <a:r>
              <a:rPr lang="ko-KR" altLang="en-US" dirty="0"/>
              <a:t>최소값을 </a:t>
            </a:r>
            <a:r>
              <a:rPr lang="en-US" altLang="ko-KR" dirty="0"/>
              <a:t>0~1 Scale</a:t>
            </a:r>
            <a:r>
              <a:rPr lang="ko-KR" altLang="en-US" dirty="0"/>
              <a:t>로 조정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675" dirty="0"/>
          </a:p>
          <a:p>
            <a:pPr lvl="1"/>
            <a:endParaRPr lang="en-US" altLang="ko-KR" sz="675" dirty="0"/>
          </a:p>
          <a:p>
            <a:pPr lvl="1"/>
            <a:r>
              <a:rPr lang="en-US" altLang="ko-KR" dirty="0"/>
              <a:t>Z-score/Standard : </a:t>
            </a:r>
            <a:r>
              <a:rPr lang="ko-KR" altLang="en-US" dirty="0"/>
              <a:t>정규화 </a:t>
            </a:r>
            <a:r>
              <a:rPr lang="en-US" altLang="ko-KR" dirty="0"/>
              <a:t>z-score</a:t>
            </a:r>
            <a:r>
              <a:rPr lang="ko-KR" altLang="en-US" dirty="0"/>
              <a:t>로 변경함 </a:t>
            </a:r>
          </a:p>
          <a:p>
            <a:pPr lvl="2"/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수치형 척도의 표준화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31540" y="699542"/>
            <a:ext cx="205980" cy="205980"/>
            <a:chOff x="465911" y="97905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65911" y="97905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31069" y="1056652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Picture 2" descr="z normalization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544" y="2889430"/>
            <a:ext cx="3159351" cy="150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54226" y="1321334"/>
                <a:ext cx="3564396" cy="60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14:m>
                  <m:oMath xmlns:m="http://schemas.openxmlformats.org/officeDocument/2006/math"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𝑆𝑡𝑎𝑛𝑑𝑎𝑟𝑑𝑖𝑧𝑒𝑑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𝑣𝑎𝑙𝑢𝑒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ko-KR" sz="1350" dirty="0">
                    <a:solidFill>
                      <a:srgbClr val="C00000"/>
                    </a:solidFill>
                    <a:latin typeface="Times New Roman"/>
                    <a:ea typeface="돋움체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𝑂𝑟𝑖𝑔𝑖𝑛𝑎𝑙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−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𝑀𝑖𝑛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</m:num>
                      <m:den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𝑀𝑎𝑥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−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𝑀𝑖𝑛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</m:den>
                    </m:f>
                  </m:oMath>
                </a14:m>
                <a:endParaRPr lang="ko-KR" altLang="en-US" sz="1350" dirty="0">
                  <a:solidFill>
                    <a:srgbClr val="C00000"/>
                  </a:solidFill>
                  <a:latin typeface="Times New Roman"/>
                  <a:ea typeface="돋움체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226" y="1321334"/>
                <a:ext cx="3564396" cy="602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54226" y="2715766"/>
                <a:ext cx="3564396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defRPr/>
                </a:pPr>
                <a14:m>
                  <m:oMath xmlns:m="http://schemas.openxmlformats.org/officeDocument/2006/math"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𝑍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−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𝑠𝑐𝑜𝑟𝑒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𝑣𝑎𝑙𝑢𝑒</m:t>
                    </m:r>
                    <m:r>
                      <a:rPr lang="en-US" altLang="ko-KR" sz="1350" i="1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ko-KR" sz="1350" dirty="0">
                    <a:solidFill>
                      <a:srgbClr val="C00000"/>
                    </a:solidFill>
                    <a:latin typeface="Times New Roman"/>
                    <a:ea typeface="돋움체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𝑂𝑟𝑖𝑔𝑖𝑛𝑎𝑙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−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𝑀𝑒𝑎𝑛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</m:num>
                      <m:den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𝑆𝑡𝑎𝑛𝑑𝑎𝑟𝑑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𝑑𝑒𝑣𝑖𝑎𝑡𝑖𝑜𝑛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ko-KR" sz="1350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𝑣𝑎𝑙𝑢𝑒</m:t>
                        </m:r>
                      </m:den>
                    </m:f>
                  </m:oMath>
                </a14:m>
                <a:endParaRPr lang="ko-KR" altLang="en-US" sz="1350" dirty="0">
                  <a:solidFill>
                    <a:srgbClr val="C00000"/>
                  </a:solidFill>
                  <a:latin typeface="Times New Roman"/>
                  <a:ea typeface="돋움체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226" y="2715766"/>
                <a:ext cx="3564396" cy="394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/>
          <p:cNvGrpSpPr/>
          <p:nvPr/>
        </p:nvGrpSpPr>
        <p:grpSpPr>
          <a:xfrm>
            <a:off x="5950669" y="1232743"/>
            <a:ext cx="1974197" cy="1109891"/>
            <a:chOff x="6897216" y="1520788"/>
            <a:chExt cx="2484276" cy="133214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6897216" y="1520788"/>
              <a:ext cx="2484276" cy="1332148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ko-KR" altLang="en-US" sz="1350" dirty="0">
                <a:solidFill>
                  <a:srgbClr val="000000"/>
                </a:solidFill>
                <a:latin typeface="Times New Roman"/>
                <a:ea typeface="돋움체"/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7725309" y="2390401"/>
              <a:ext cx="939335" cy="373989"/>
              <a:chOff x="7333708" y="2312876"/>
              <a:chExt cx="2002820" cy="373989"/>
            </a:xfrm>
          </p:grpSpPr>
          <p:cxnSp>
            <p:nvCxnSpPr>
              <p:cNvPr id="32" name="직선 연결선 31"/>
              <p:cNvCxnSpPr/>
              <p:nvPr/>
            </p:nvCxnSpPr>
            <p:spPr>
              <a:xfrm>
                <a:off x="7545288" y="2312876"/>
                <a:ext cx="122413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7333708" y="2354396"/>
                <a:ext cx="701917" cy="332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altLang="ko-KR" sz="1200" dirty="0">
                    <a:solidFill>
                      <a:srgbClr val="000000"/>
                    </a:solidFill>
                    <a:latin typeface="Times New Roman"/>
                    <a:ea typeface="돋움체"/>
                  </a:rPr>
                  <a:t>0</a:t>
                </a:r>
                <a:endParaRPr lang="ko-KR" altLang="en-US" sz="1200" dirty="0">
                  <a:solidFill>
                    <a:srgbClr val="000000"/>
                  </a:solidFill>
                  <a:latin typeface="Times New Roman"/>
                  <a:ea typeface="돋움체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634611" y="2354396"/>
                <a:ext cx="701917" cy="332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altLang="ko-KR" sz="1200" dirty="0">
                    <a:solidFill>
                      <a:srgbClr val="000000"/>
                    </a:solidFill>
                    <a:latin typeface="Times New Roman"/>
                    <a:ea typeface="돋움체"/>
                  </a:rPr>
                  <a:t>1</a:t>
                </a:r>
                <a:endParaRPr lang="ko-KR" altLang="en-US" sz="1200" dirty="0">
                  <a:solidFill>
                    <a:srgbClr val="000000"/>
                  </a:solidFill>
                  <a:latin typeface="Times New Roman"/>
                  <a:ea typeface="돋움체"/>
                </a:endParaRPr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>
              <a:off x="7208492" y="1880828"/>
              <a:ext cx="2114681" cy="373989"/>
              <a:chOff x="7257264" y="2312876"/>
              <a:chExt cx="1907083" cy="373989"/>
            </a:xfrm>
          </p:grpSpPr>
          <p:cxnSp>
            <p:nvCxnSpPr>
              <p:cNvPr id="29" name="직선 연결선 28"/>
              <p:cNvCxnSpPr/>
              <p:nvPr/>
            </p:nvCxnSpPr>
            <p:spPr>
              <a:xfrm>
                <a:off x="7545288" y="2312876"/>
                <a:ext cx="122413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7257264" y="2354396"/>
                <a:ext cx="500629" cy="332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altLang="ko-KR" sz="1200" dirty="0">
                    <a:solidFill>
                      <a:srgbClr val="000000"/>
                    </a:solidFill>
                    <a:latin typeface="Times New Roman"/>
                    <a:ea typeface="돋움체"/>
                  </a:rPr>
                  <a:t>Min</a:t>
                </a:r>
                <a:endParaRPr lang="ko-KR" altLang="en-US" sz="1200" dirty="0">
                  <a:solidFill>
                    <a:srgbClr val="000000"/>
                  </a:solidFill>
                  <a:latin typeface="Times New Roman"/>
                  <a:ea typeface="돋움체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8634611" y="2354396"/>
                <a:ext cx="529736" cy="332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defRPr/>
                </a:pPr>
                <a:r>
                  <a:rPr lang="en-US" altLang="ko-KR" sz="1200" dirty="0">
                    <a:solidFill>
                      <a:srgbClr val="000000"/>
                    </a:solidFill>
                    <a:latin typeface="Times New Roman"/>
                    <a:ea typeface="돋움체"/>
                  </a:rPr>
                  <a:t>Max</a:t>
                </a:r>
                <a:endParaRPr lang="ko-KR" altLang="en-US" sz="1200" dirty="0">
                  <a:solidFill>
                    <a:srgbClr val="000000"/>
                  </a:solidFill>
                  <a:latin typeface="Times New Roman"/>
                  <a:ea typeface="돋움체"/>
                </a:endParaRPr>
              </a:p>
            </p:txBody>
          </p:sp>
        </p:grpSp>
        <p:cxnSp>
          <p:nvCxnSpPr>
            <p:cNvPr id="26" name="직선 화살표 연결선 25"/>
            <p:cNvCxnSpPr/>
            <p:nvPr/>
          </p:nvCxnSpPr>
          <p:spPr>
            <a:xfrm>
              <a:off x="7548589" y="1880828"/>
              <a:ext cx="239949" cy="509573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 flipH="1">
              <a:off x="8461898" y="1880828"/>
              <a:ext cx="423368" cy="509573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/>
            <p:nvPr/>
          </p:nvCxnSpPr>
          <p:spPr>
            <a:xfrm flipH="1">
              <a:off x="8199344" y="1880828"/>
              <a:ext cx="105842" cy="509573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4F1A72C-E4C5-23D6-96F8-529E2E4B9C99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86504F-9D6C-CF88-6E14-ACBDE041F8C3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7" name="내용 개체 틀 11">
              <a:extLst>
                <a:ext uri="{FF2B5EF4-FFF2-40B4-BE49-F238E27FC236}">
                  <a16:creationId xmlns:a16="http://schemas.microsoft.com/office/drawing/2014/main" id="{7C37263B-7E61-DB8A-FA68-1DA9FFE4E8E6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5367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type="body" idx="1"/>
          </p:nvPr>
        </p:nvSpPr>
        <p:spPr>
          <a:xfrm>
            <a:off x="543753" y="681553"/>
            <a:ext cx="7582978" cy="4077443"/>
          </a:xfrm>
        </p:spPr>
        <p:txBody>
          <a:bodyPr>
            <a:normAutofit/>
          </a:bodyPr>
          <a:lstStyle/>
          <a:p>
            <a:r>
              <a:rPr lang="en-US" altLang="ko-KR" dirty="0"/>
              <a:t>Data : fish.csv</a:t>
            </a:r>
            <a:br>
              <a:rPr lang="en-US" altLang="ko-KR" dirty="0"/>
            </a:br>
            <a:r>
              <a:rPr lang="en-US" altLang="ko-KR" dirty="0"/>
              <a:t> </a:t>
            </a:r>
          </a:p>
          <a:p>
            <a:r>
              <a:rPr lang="en-US" altLang="ko-KR" dirty="0"/>
              <a:t>Brightics </a:t>
            </a:r>
            <a:r>
              <a:rPr lang="ko-KR" altLang="en-US" dirty="0"/>
              <a:t>를 사용하여 다음을 실습 하시오</a:t>
            </a:r>
            <a:endParaRPr lang="en-US" altLang="ko-KR" dirty="0"/>
          </a:p>
          <a:p>
            <a:pPr lvl="1"/>
            <a:r>
              <a:rPr lang="ko-KR" altLang="en-US" dirty="0"/>
              <a:t>길이</a:t>
            </a:r>
            <a:r>
              <a:rPr lang="en-US" altLang="ko-KR" dirty="0"/>
              <a:t>(Height)</a:t>
            </a:r>
            <a:r>
              <a:rPr lang="ko-KR" altLang="en-US" dirty="0"/>
              <a:t>와 무게</a:t>
            </a:r>
            <a:r>
              <a:rPr lang="en-US" altLang="ko-KR" dirty="0"/>
              <a:t>(Weight)</a:t>
            </a:r>
            <a:r>
              <a:rPr lang="ko-KR" altLang="en-US" dirty="0"/>
              <a:t> 변수를 </a:t>
            </a:r>
            <a:r>
              <a:rPr lang="en-US" altLang="ko-KR" dirty="0" err="1">
                <a:solidFill>
                  <a:srgbClr val="C00000"/>
                </a:solidFill>
              </a:rPr>
              <a:t>min_max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및 </a:t>
            </a:r>
            <a:r>
              <a:rPr lang="en-US" altLang="ko-KR" dirty="0">
                <a:solidFill>
                  <a:srgbClr val="C00000"/>
                </a:solidFill>
              </a:rPr>
              <a:t>z-score</a:t>
            </a:r>
            <a:r>
              <a:rPr lang="ko-KR" altLang="en-US" dirty="0"/>
              <a:t>를 이용하여 </a:t>
            </a:r>
            <a:r>
              <a:rPr lang="en-US" altLang="ko-KR" dirty="0">
                <a:solidFill>
                  <a:srgbClr val="C00000"/>
                </a:solidFill>
              </a:rPr>
              <a:t>Normalization</a:t>
            </a:r>
            <a:r>
              <a:rPr lang="en-US" altLang="ko-KR" dirty="0"/>
              <a:t> </a:t>
            </a:r>
            <a:r>
              <a:rPr lang="ko-KR" altLang="en-US" dirty="0"/>
              <a:t>하시오</a:t>
            </a:r>
            <a:endParaRPr lang="en-US" altLang="ko-KR" dirty="0"/>
          </a:p>
          <a:p>
            <a:pPr lvl="1"/>
            <a:r>
              <a:rPr lang="en-US" altLang="ko-KR" dirty="0"/>
              <a:t>X=Height, Y=Weight, Color By=Species </a:t>
            </a:r>
            <a:r>
              <a:rPr lang="ko-KR" altLang="en-US" dirty="0"/>
              <a:t>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Scatter Plot</a:t>
            </a:r>
            <a:r>
              <a:rPr lang="ko-KR" altLang="en-US" dirty="0"/>
              <a:t>을 그리시오</a:t>
            </a:r>
            <a:endParaRPr lang="en-US" altLang="ko-KR" dirty="0"/>
          </a:p>
          <a:p>
            <a:pPr lvl="1"/>
            <a:r>
              <a:rPr lang="en-US" altLang="ko-KR" dirty="0"/>
              <a:t>Normalize</a:t>
            </a:r>
            <a:r>
              <a:rPr lang="ko-KR" altLang="en-US" dirty="0"/>
              <a:t>한 데이터로 </a:t>
            </a:r>
            <a:r>
              <a:rPr lang="en-US" altLang="ko-KR" dirty="0"/>
              <a:t>Scatter Plot</a:t>
            </a:r>
            <a:r>
              <a:rPr lang="ko-KR" altLang="en-US" dirty="0"/>
              <a:t>을 그리시오</a:t>
            </a:r>
            <a:endParaRPr lang="en-US" altLang="ko-KR" dirty="0"/>
          </a:p>
          <a:p>
            <a:pPr lvl="2"/>
            <a:r>
              <a:rPr lang="en-US" altLang="ko-KR" dirty="0"/>
              <a:t>Height vs Weight</a:t>
            </a:r>
          </a:p>
          <a:p>
            <a:pPr lvl="2"/>
            <a:r>
              <a:rPr lang="en-US" altLang="ko-KR" dirty="0" err="1"/>
              <a:t>Height_MinMax</a:t>
            </a:r>
            <a:r>
              <a:rPr lang="en-US" altLang="ko-KR" dirty="0"/>
              <a:t> vs </a:t>
            </a:r>
            <a:r>
              <a:rPr lang="en-US" altLang="ko-KR" dirty="0" err="1"/>
              <a:t>Weight_MaxMax</a:t>
            </a:r>
            <a:endParaRPr lang="en-US" altLang="ko-KR" dirty="0"/>
          </a:p>
          <a:p>
            <a:pPr lvl="2"/>
            <a:r>
              <a:rPr lang="en-US" altLang="ko-KR" dirty="0" err="1"/>
              <a:t>Height_Zscore</a:t>
            </a:r>
            <a:r>
              <a:rPr lang="en-US" altLang="ko-KR" dirty="0"/>
              <a:t> vs </a:t>
            </a:r>
            <a:r>
              <a:rPr lang="en-US" altLang="ko-KR" dirty="0" err="1"/>
              <a:t>Weight_Zscore</a:t>
            </a:r>
            <a:endParaRPr lang="en-US" altLang="ko-KR" dirty="0"/>
          </a:p>
          <a:p>
            <a:pPr lvl="2"/>
            <a:r>
              <a:rPr lang="ko-KR" altLang="en-US" dirty="0"/>
              <a:t>그래프 모양</a:t>
            </a:r>
            <a:r>
              <a:rPr lang="en-US" altLang="ko-KR" dirty="0"/>
              <a:t>/</a:t>
            </a:r>
            <a:r>
              <a:rPr lang="ko-KR" altLang="en-US" dirty="0"/>
              <a:t>축이 같은지 혹은 </a:t>
            </a:r>
            <a:r>
              <a:rPr lang="ko-KR" altLang="en-US" dirty="0" err="1"/>
              <a:t>다른지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동일한</a:t>
            </a:r>
            <a:r>
              <a:rPr lang="en-US" altLang="ko-KR" dirty="0"/>
              <a:t> </a:t>
            </a:r>
            <a:r>
              <a:rPr lang="ko-KR" altLang="en-US" dirty="0"/>
              <a:t>데이터로 </a:t>
            </a:r>
            <a:r>
              <a:rPr lang="en-US" altLang="ko-KR" dirty="0"/>
              <a:t>Box plot </a:t>
            </a:r>
            <a:r>
              <a:rPr lang="ko-KR" altLang="en-US" dirty="0"/>
              <a:t>을 그려 비교해 보시오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>
                <a:solidFill>
                  <a:srgbClr val="000000"/>
                </a:solidFill>
              </a:rPr>
              <a:t>6</a:t>
            </a:r>
            <a:r>
              <a:rPr lang="ko-KR" altLang="en-US" dirty="0">
                <a:solidFill>
                  <a:srgbClr val="000000"/>
                </a:solidFill>
              </a:rPr>
              <a:t>개의 변수에 대해 </a:t>
            </a:r>
            <a:r>
              <a:rPr lang="en-US" altLang="ko-KR" dirty="0">
                <a:solidFill>
                  <a:srgbClr val="000000"/>
                </a:solidFill>
              </a:rPr>
              <a:t>Correlation </a:t>
            </a:r>
            <a:r>
              <a:rPr lang="ko-KR" altLang="en-US" dirty="0">
                <a:solidFill>
                  <a:srgbClr val="000000"/>
                </a:solidFill>
              </a:rPr>
              <a:t>분석을 수행하라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lvl="2">
              <a:defRPr/>
            </a:pPr>
            <a:r>
              <a:rPr lang="ko-KR" altLang="en-US" dirty="0">
                <a:solidFill>
                  <a:srgbClr val="000000"/>
                </a:solidFill>
              </a:rPr>
              <a:t>표준화하기 이전과 이후에 변화가 있는가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254125" algn="l"/>
              </a:tabLst>
            </a:pPr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군집을 위한 변수 표준화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41584" y="712404"/>
            <a:ext cx="205980" cy="205980"/>
            <a:chOff x="448327" y="979056"/>
            <a:chExt cx="274640" cy="274640"/>
          </a:xfrm>
        </p:grpSpPr>
        <p:sp>
          <p:nvSpPr>
            <p:cNvPr id="12" name="타원 11"/>
            <p:cNvSpPr/>
            <p:nvPr/>
          </p:nvSpPr>
          <p:spPr>
            <a:xfrm>
              <a:off x="448327" y="979056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L 도형 12"/>
            <p:cNvSpPr/>
            <p:nvPr/>
          </p:nvSpPr>
          <p:spPr>
            <a:xfrm rot="13500000">
              <a:off x="513485" y="1056652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41584" y="1167594"/>
            <a:ext cx="205980" cy="205980"/>
            <a:chOff x="444575" y="1341768"/>
            <a:chExt cx="274640" cy="274640"/>
          </a:xfrm>
        </p:grpSpPr>
        <p:sp>
          <p:nvSpPr>
            <p:cNvPr id="16" name="타원 15"/>
            <p:cNvSpPr/>
            <p:nvPr/>
          </p:nvSpPr>
          <p:spPr>
            <a:xfrm>
              <a:off x="444575" y="1341768"/>
              <a:ext cx="274640" cy="274640"/>
            </a:xfrm>
            <a:prstGeom prst="ellipse">
              <a:avLst/>
            </a:prstGeom>
            <a:solidFill>
              <a:srgbClr val="1641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7" name="L 도형 16"/>
            <p:cNvSpPr/>
            <p:nvPr/>
          </p:nvSpPr>
          <p:spPr>
            <a:xfrm rot="13500000">
              <a:off x="509733" y="1419364"/>
              <a:ext cx="119450" cy="119450"/>
            </a:xfrm>
            <a:prstGeom prst="corner">
              <a:avLst>
                <a:gd name="adj1" fmla="val 38060"/>
                <a:gd name="adj2" fmla="val 360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68" tIns="34284" rIns="68568" bIns="34284" rtlCol="0" anchor="ctr"/>
            <a:lstStyle/>
            <a:p>
              <a:pPr algn="ctr" defTabSz="685097">
                <a:defRPr/>
              </a:pPr>
              <a:endParaRPr lang="ko-KR" altLang="en-US" sz="12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709492" y="2235526"/>
            <a:ext cx="1909497" cy="5078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ko-KR" altLang="en-US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패턴</a:t>
            </a:r>
            <a:r>
              <a:rPr lang="en-US" altLang="ko-KR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특성</a:t>
            </a:r>
            <a:r>
              <a:rPr lang="en-US" altLang="ko-KR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스케일은</a:t>
            </a:r>
            <a:endParaRPr lang="en-US" altLang="ko-KR" sz="13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어떻게 달라지는가</a:t>
            </a:r>
            <a:r>
              <a:rPr lang="en-US" altLang="ko-KR" sz="13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??</a:t>
            </a:r>
            <a:endParaRPr lang="ko-KR" altLang="en-US" sz="13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E2C6891-875D-B3FF-3520-971EE84F43D7}"/>
              </a:ext>
            </a:extLst>
          </p:cNvPr>
          <p:cNvGrpSpPr/>
          <p:nvPr/>
        </p:nvGrpSpPr>
        <p:grpSpPr>
          <a:xfrm>
            <a:off x="7803554" y="48511"/>
            <a:ext cx="1268946" cy="373930"/>
            <a:chOff x="8021972" y="64681"/>
            <a:chExt cx="1491380" cy="49857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AD5C04-AC47-3D30-4886-8E5FC3439838}"/>
                </a:ext>
              </a:extLst>
            </p:cNvPr>
            <p:cNvSpPr txBox="1"/>
            <p:nvPr/>
          </p:nvSpPr>
          <p:spPr>
            <a:xfrm>
              <a:off x="8190750" y="363541"/>
              <a:ext cx="1307492" cy="199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6. </a:t>
              </a:r>
              <a:r>
                <a:rPr lang="ko-KR" altLang="en-US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군집분석 </a:t>
              </a:r>
              <a:r>
                <a:rPr lang="en-US" altLang="ko-KR" sz="90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Overview</a:t>
              </a:r>
              <a:endParaRPr lang="ko-KR" altLang="en-US" sz="900" dirty="0">
                <a:solidFill>
                  <a:srgbClr val="164191"/>
                </a:solidFill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8" name="내용 개체 틀 11">
              <a:extLst>
                <a:ext uri="{FF2B5EF4-FFF2-40B4-BE49-F238E27FC236}">
                  <a16:creationId xmlns:a16="http://schemas.microsoft.com/office/drawing/2014/main" id="{E9642138-58C9-BDF1-1034-3469FC3DB88D}"/>
                </a:ext>
              </a:extLst>
            </p:cNvPr>
            <p:cNvSpPr txBox="1">
              <a:spLocks/>
            </p:cNvSpPr>
            <p:nvPr/>
          </p:nvSpPr>
          <p:spPr>
            <a:xfrm>
              <a:off x="8021972" y="64681"/>
              <a:ext cx="1491380" cy="298930"/>
            </a:xfrm>
            <a:prstGeom prst="rect">
              <a:avLst/>
            </a:prstGeom>
          </p:spPr>
          <p:txBody>
            <a:bodyPr lIns="0" tIns="0" rIns="0" bIns="0" anchor="ctr">
              <a:noAutofit/>
            </a:bodyPr>
            <a:lstStyle>
              <a:defPPr>
                <a:defRPr lang="ko-KR"/>
              </a:defPPr>
              <a:lvl1pPr indent="0" algn="r" defTabSz="914400">
                <a:spcBef>
                  <a:spcPct val="20000"/>
                </a:spcBef>
                <a:buFont typeface="Arial" pitchFamily="34" charset="0"/>
                <a:buNone/>
                <a:defRPr sz="1000" b="1">
                  <a:solidFill>
                    <a:srgbClr val="039BE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defRPr>
              </a:lvl1pPr>
              <a:lvl2pPr marL="742950" indent="-28575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2pPr>
              <a:lvl3pPr marL="1143000" indent="-228600" algn="r" defTabSz="914400">
                <a:spcBef>
                  <a:spcPct val="20000"/>
                </a:spcBef>
                <a:buFont typeface="Arial" pitchFamily="34" charset="0"/>
                <a:buChar char="•"/>
                <a:defRPr sz="1200">
                  <a:solidFill>
                    <a:srgbClr val="039BE7"/>
                  </a:solidFill>
                </a:defRPr>
              </a:lvl3pPr>
              <a:lvl4pPr marL="1600200" indent="-228600" algn="r" defTabSz="914400">
                <a:spcBef>
                  <a:spcPct val="20000"/>
                </a:spcBef>
                <a:buFont typeface="Arial" pitchFamily="34" charset="0"/>
                <a:buChar char="–"/>
                <a:defRPr sz="1200">
                  <a:solidFill>
                    <a:srgbClr val="039BE7"/>
                  </a:solidFill>
                </a:defRPr>
              </a:lvl4pPr>
              <a:lvl5pPr marL="2057400" indent="-228600" algn="r" defTabSz="914400">
                <a:spcBef>
                  <a:spcPct val="20000"/>
                </a:spcBef>
                <a:buFont typeface="Arial" pitchFamily="34" charset="0"/>
                <a:buChar char="»"/>
                <a:defRPr sz="1200">
                  <a:solidFill>
                    <a:srgbClr val="039BE7"/>
                  </a:solidFill>
                </a:defRPr>
              </a:lvl5pPr>
              <a:lvl6pPr marL="25146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 defTabSz="9144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ko-KR" altLang="en-US" sz="900" b="0" dirty="0">
                  <a:solidFill>
                    <a:srgbClr val="164191"/>
                  </a:solidFill>
                  <a:latin typeface="+mn-ea"/>
                  <a:cs typeface="Arial" panose="020B0604020202020204" pitchFamily="34" charset="0"/>
                </a:rPr>
                <a:t>□□□□□■</a:t>
              </a:r>
              <a:endParaRPr lang="ko-KR" altLang="en-US" sz="900" b="0" dirty="0">
                <a:solidFill>
                  <a:srgbClr val="16419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06707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40802" y="2044936"/>
            <a:ext cx="3465500" cy="92890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684552">
              <a:lnSpc>
                <a:spcPct val="110000"/>
              </a:lnSpc>
              <a:spcAft>
                <a:spcPts val="1125"/>
              </a:spcAft>
              <a:defRPr/>
            </a:pPr>
            <a:r>
              <a:rPr lang="en-US" altLang="ko-KR" sz="5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2147062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13221</TotalTime>
  <Words>4351</Words>
  <Application>Microsoft Office PowerPoint</Application>
  <PresentationFormat>화면 슬라이드 쇼(16:9)</PresentationFormat>
  <Paragraphs>919</Paragraphs>
  <Slides>53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53</vt:i4>
      </vt:variant>
    </vt:vector>
  </HeadingPairs>
  <TitlesOfParts>
    <vt:vector size="69" baseType="lpstr">
      <vt:lpstr>Apple SD Gothic Neo</vt:lpstr>
      <vt:lpstr>Söhne</vt:lpstr>
      <vt:lpstr>나눔고딕</vt:lpstr>
      <vt:lpstr>나눔고딕 ExtraBold</vt:lpstr>
      <vt:lpstr>나눔손글씨 붓</vt:lpstr>
      <vt:lpstr>나눔스퀘어</vt:lpstr>
      <vt:lpstr>나눔스퀘어 Bold</vt:lpstr>
      <vt:lpstr>나눔스퀘어 ExtraBold</vt:lpstr>
      <vt:lpstr>맑은 고딕</vt:lpstr>
      <vt:lpstr>Arial</vt:lpstr>
      <vt:lpstr>Cambria Math</vt:lpstr>
      <vt:lpstr>Times New Roman</vt:lpstr>
      <vt:lpstr>Wingdings</vt:lpstr>
      <vt:lpstr>4_Office 테마</vt:lpstr>
      <vt:lpstr>수식</vt:lpstr>
      <vt:lpstr>Equation</vt:lpstr>
      <vt:lpstr>PowerPoint 프레젠테이션</vt:lpstr>
      <vt:lpstr>PowerPoint 프레젠테이션</vt:lpstr>
      <vt:lpstr>PowerPoint 프레젠테이션</vt:lpstr>
      <vt:lpstr>1. Logistic Regression</vt:lpstr>
      <vt:lpstr>로지스틱 회귀분석 개요(1/2) </vt:lpstr>
      <vt:lpstr>로지스틱 회귀분석 개요(2/2) </vt:lpstr>
      <vt:lpstr>로지스틱 회귀분석 원리</vt:lpstr>
      <vt:lpstr>(Remind) Classification Measures 정의</vt:lpstr>
      <vt:lpstr>(Remind) AUC-ROC</vt:lpstr>
      <vt:lpstr>[실습1] 도미 구매하기: 문제 설명</vt:lpstr>
      <vt:lpstr>2. k-Nearest Neighbor</vt:lpstr>
      <vt:lpstr>k-NN (k-Nearest Neighbor)(1/3)</vt:lpstr>
      <vt:lpstr>k-NN (k-Nearest Neighbor)(2/3)</vt:lpstr>
      <vt:lpstr>K-NN (k-Nearest Neighbor)(3/3)</vt:lpstr>
      <vt:lpstr>참고. Normalization</vt:lpstr>
      <vt:lpstr>Pros and Cons</vt:lpstr>
      <vt:lpstr>[실습2] 도미 구매하기</vt:lpstr>
      <vt:lpstr>3. Naïve Bayes</vt:lpstr>
      <vt:lpstr>Naïve Bayes Classification(1/2)</vt:lpstr>
      <vt:lpstr>Naïve Bayes Classification(2/2)</vt:lpstr>
      <vt:lpstr>Naïve Bayes Classification 예시</vt:lpstr>
      <vt:lpstr>4. Decision Tree </vt:lpstr>
      <vt:lpstr>Decision Tree 정의</vt:lpstr>
      <vt:lpstr>Decision Tree의 개념</vt:lpstr>
      <vt:lpstr>Decision Tree 구성 </vt:lpstr>
      <vt:lpstr>Decision Tree 예제 </vt:lpstr>
      <vt:lpstr>Decision Tree의 장단점</vt:lpstr>
      <vt:lpstr>Decision Tree의 형성</vt:lpstr>
      <vt:lpstr>Decision Tree의 과적합</vt:lpstr>
      <vt:lpstr>Decision Tree의 과적합을 피하는 방법</vt:lpstr>
      <vt:lpstr>불순도(Impurity Measure) </vt:lpstr>
      <vt:lpstr>불순도(Impurity Measure) 측정</vt:lpstr>
      <vt:lpstr>Entropy Impurity</vt:lpstr>
      <vt:lpstr>Gini Impurity </vt:lpstr>
      <vt:lpstr>참고. 불순도(Impurity Measure) 측정 예제</vt:lpstr>
      <vt:lpstr>독립 변수의 중요도</vt:lpstr>
      <vt:lpstr>[실습3] 운전 환경에 따른 교통 사고 심각도 분석</vt:lpstr>
      <vt:lpstr>5. Classification Wrap-Up</vt:lpstr>
      <vt:lpstr>(요약) Classification Process</vt:lpstr>
      <vt:lpstr>(요약) Classification Algorithm  특징(1/2)</vt:lpstr>
      <vt:lpstr>(요약) Classification Algorithm  특징(2/2)</vt:lpstr>
      <vt:lpstr>참고. Classification Algorithm 비교</vt:lpstr>
      <vt:lpstr>6. 군집분석 Overview</vt:lpstr>
      <vt:lpstr>군집분석 개요</vt:lpstr>
      <vt:lpstr>군집분석 원리</vt:lpstr>
      <vt:lpstr>군집분석 특징</vt:lpstr>
      <vt:lpstr>참고. 유사도 척도</vt:lpstr>
      <vt:lpstr>Distance Measures</vt:lpstr>
      <vt:lpstr>Similarity Measures</vt:lpstr>
      <vt:lpstr>거리 예제</vt:lpstr>
      <vt:lpstr>수치형 척도의 표준화</vt:lpstr>
      <vt:lpstr>[실습4] 군집을 위한 변수 표준화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freenak@gmail.com</cp:lastModifiedBy>
  <cp:revision>229</cp:revision>
  <cp:lastPrinted>2018-01-15T00:07:17Z</cp:lastPrinted>
  <dcterms:created xsi:type="dcterms:W3CDTF">2018-01-14T23:22:16Z</dcterms:created>
  <dcterms:modified xsi:type="dcterms:W3CDTF">2025-05-24T03:57:17Z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879BAE1E853B17513E3AD7133549D60CDC7F447EFEFF353D36030F5A626F43A91F78586C5C79A84BD584368DDBDE1520CB0AE12E5D4FFDA9FB39A3993042811F</vt:lpwstr>
  </property>
  <property fmtid="{5C58129F-E5B8-477A-9B38-B3E54BFA04C8}" pid="2">
    <vt:lpwstr>41F6058CE601D4D469E30BAD0688911E97A987A8E6412C0976FD1E9BC939D1FA</vt:lpwstr>
  </property>
</Properties>
</file>