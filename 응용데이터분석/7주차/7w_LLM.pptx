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6" r:id="rId1"/>
    <p:sldMasterId id="2147483661" r:id="rId2"/>
  </p:sldMasterIdLst>
  <p:notesMasterIdLst>
    <p:notesMasterId r:id="rId27"/>
  </p:notesMasterIdLst>
  <p:sldIdLst>
    <p:sldId id="1208" r:id="rId3"/>
    <p:sldId id="1207" r:id="rId4"/>
    <p:sldId id="1202" r:id="rId5"/>
    <p:sldId id="1215" r:id="rId6"/>
    <p:sldId id="1216" r:id="rId7"/>
    <p:sldId id="1186" r:id="rId8"/>
    <p:sldId id="1206" r:id="rId9"/>
    <p:sldId id="1187" r:id="rId10"/>
    <p:sldId id="1188" r:id="rId11"/>
    <p:sldId id="1189" r:id="rId12"/>
    <p:sldId id="1190" r:id="rId13"/>
    <p:sldId id="1191" r:id="rId14"/>
    <p:sldId id="1192" r:id="rId15"/>
    <p:sldId id="910" r:id="rId16"/>
    <p:sldId id="1193" r:id="rId17"/>
    <p:sldId id="1204" r:id="rId18"/>
    <p:sldId id="1205" r:id="rId19"/>
    <p:sldId id="1209" r:id="rId20"/>
    <p:sldId id="1210" r:id="rId21"/>
    <p:sldId id="1211" r:id="rId22"/>
    <p:sldId id="1212" r:id="rId23"/>
    <p:sldId id="1213" r:id="rId24"/>
    <p:sldId id="1214" r:id="rId25"/>
    <p:sldId id="562" r:id="rId26"/>
  </p:sldIdLst>
  <p:sldSz cx="9144000" cy="5143500" type="screen16x9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제목 없는 구역" id="{6C344CAC-CB5F-4B14-9438-4A8CD69F5703}">
          <p14:sldIdLst>
            <p14:sldId id="1208"/>
            <p14:sldId id="1207"/>
            <p14:sldId id="1202"/>
            <p14:sldId id="1215"/>
            <p14:sldId id="1216"/>
            <p14:sldId id="1186"/>
            <p14:sldId id="1206"/>
            <p14:sldId id="1187"/>
            <p14:sldId id="1188"/>
            <p14:sldId id="1189"/>
            <p14:sldId id="1190"/>
            <p14:sldId id="1191"/>
            <p14:sldId id="1192"/>
            <p14:sldId id="910"/>
            <p14:sldId id="1193"/>
            <p14:sldId id="1204"/>
            <p14:sldId id="1205"/>
            <p14:sldId id="1209"/>
            <p14:sldId id="1210"/>
            <p14:sldId id="1211"/>
            <p14:sldId id="1212"/>
            <p14:sldId id="1213"/>
            <p14:sldId id="1214"/>
            <p14:sldId id="56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03">
          <p15:clr>
            <a:srgbClr val="A4A3A4"/>
          </p15:clr>
        </p15:guide>
        <p15:guide id="2" orient="horz" pos="849">
          <p15:clr>
            <a:srgbClr val="A4A3A4"/>
          </p15:clr>
        </p15:guide>
        <p15:guide id="3" orient="horz" pos="169">
          <p15:clr>
            <a:srgbClr val="A4A3A4"/>
          </p15:clr>
        </p15:guide>
        <p15:guide id="4" pos="249">
          <p15:clr>
            <a:srgbClr val="A4A3A4"/>
          </p15:clr>
        </p15:guide>
        <p15:guide id="5" pos="5511">
          <p15:clr>
            <a:srgbClr val="A4A3A4"/>
          </p15:clr>
        </p15:guide>
        <p15:guide id="6" pos="2880">
          <p15:clr>
            <a:srgbClr val="A4A3A4"/>
          </p15:clr>
        </p15:guide>
        <p15:guide id="7" pos="2812">
          <p15:clr>
            <a:srgbClr val="A4A3A4"/>
          </p15:clr>
        </p15:guide>
        <p15:guide id="8" pos="294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230D"/>
    <a:srgbClr val="FF42A1"/>
    <a:srgbClr val="FDAE00"/>
    <a:srgbClr val="3B3A3A"/>
    <a:srgbClr val="ED7D31"/>
    <a:srgbClr val="1F4E79"/>
    <a:srgbClr val="92D050"/>
    <a:srgbClr val="D8EAD2"/>
    <a:srgbClr val="C9DBF7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375" autoAdjust="0"/>
    <p:restoredTop sz="94660"/>
  </p:normalViewPr>
  <p:slideViewPr>
    <p:cSldViewPr snapToObjects="1" showGuides="1">
      <p:cViewPr varScale="1">
        <p:scale>
          <a:sx n="126" d="100"/>
          <a:sy n="126" d="100"/>
        </p:scale>
        <p:origin x="414" y="330"/>
      </p:cViewPr>
      <p:guideLst>
        <p:guide orient="horz" pos="3003"/>
        <p:guide orient="horz" pos="849"/>
        <p:guide orient="horz" pos="169"/>
        <p:guide pos="249"/>
        <p:guide pos="5511"/>
        <p:guide pos="2880"/>
        <p:guide pos="2812"/>
        <p:guide pos="294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Objects="1">
      <p:cViewPr varScale="1">
        <p:scale>
          <a:sx n="73" d="100"/>
          <a:sy n="73" d="100"/>
        </p:scale>
        <p:origin x="1944" y="84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C3237-6702-4B75-92E1-739BCADBF775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76788"/>
            <a:ext cx="5438775" cy="39084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BCEDBC-F3CD-4B11-8320-3E65CC2741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20035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3340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4705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Improving reliability at producing a desired output</a:t>
            </a:r>
          </a:p>
          <a:p>
            <a:r>
              <a:rPr lang="en-US" altLang="ko-KR" dirty="0"/>
              <a:t>Correcting failures to follow complex prompts</a:t>
            </a:r>
          </a:p>
          <a:p>
            <a:r>
              <a:rPr lang="en-US" altLang="ko-KR" dirty="0"/>
              <a:t>Handling many edge cases in specific ways</a:t>
            </a:r>
          </a:p>
          <a:p>
            <a:r>
              <a:rPr lang="en-US" altLang="ko-KR" dirty="0"/>
              <a:t>Performing a new skill or task that’s hard to articulate in a prompt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86150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4705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6CEBDC8-2377-40EB-AB22-3319FED627B6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3836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32400"/>
          </a:xfrm>
          <a:prstGeom prst="rect">
            <a:avLst/>
          </a:prstGeom>
          <a:gradFill>
            <a:gsLst>
              <a:gs pos="30000">
                <a:srgbClr val="021861"/>
              </a:gs>
              <a:gs pos="0">
                <a:srgbClr val="3259A8"/>
              </a:gs>
              <a:gs pos="10000">
                <a:srgbClr val="D551AC"/>
              </a:gs>
              <a:gs pos="20000">
                <a:srgbClr val="09AFE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593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55860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 txBox="1">
            <a:spLocks/>
          </p:cNvSpPr>
          <p:nvPr userDrawn="1"/>
        </p:nvSpPr>
        <p:spPr>
          <a:xfrm>
            <a:off x="3691770" y="4801232"/>
            <a:ext cx="1760464" cy="244841"/>
          </a:xfrm>
          <a:prstGeom prst="rect">
            <a:avLst/>
          </a:prstGeom>
        </p:spPr>
        <p:txBody>
          <a:bodyPr lIns="121898" tIns="60948" rIns="121898" bIns="60948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defTabSz="914286">
              <a:defRPr/>
            </a:pPr>
            <a:fld id="{4E2E905B-828D-4F20-A1BB-9606BA51BD13}" type="slidenum">
              <a:rPr lang="ko-KR" altLang="en-US" sz="900" b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pPr algn="ctr" defTabSz="914286">
                <a:defRPr/>
              </a:pPr>
              <a:t>‹#›</a:t>
            </a:fld>
            <a:r>
              <a:rPr lang="ko-KR" altLang="en-US" sz="6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675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 75</a:t>
            </a:r>
            <a:endParaRPr lang="ko-KR" altLang="en-US" sz="675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29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6279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25755" y="557927"/>
            <a:ext cx="8492490" cy="3994785"/>
          </a:xfrm>
        </p:spPr>
        <p:txBody>
          <a:bodyPr>
            <a:normAutofit/>
          </a:bodyPr>
          <a:lstStyle>
            <a:lvl1pPr>
              <a:defRPr sz="1200" b="1"/>
            </a:lvl1pPr>
            <a:lvl2pPr>
              <a:defRPr sz="1050" b="1"/>
            </a:lvl2pPr>
            <a:lvl3pPr>
              <a:defRPr sz="900" b="1"/>
            </a:lvl3pPr>
            <a:lvl4pPr>
              <a:defRPr sz="825" b="1"/>
            </a:lvl4pPr>
            <a:lvl5pPr>
              <a:defRPr sz="825" b="1"/>
            </a:lvl5pPr>
          </a:lstStyle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15"/>
          <p:cNvSpPr>
            <a:spLocks noChangeArrowheads="1"/>
          </p:cNvSpPr>
          <p:nvPr userDrawn="1"/>
        </p:nvSpPr>
        <p:spPr bwMode="auto">
          <a:xfrm>
            <a:off x="4358806" y="4925916"/>
            <a:ext cx="415499" cy="207749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912768"/>
            <a:fld id="{D937E0E5-A56D-4372-A39D-FA63A08071CF}" type="slidenum">
              <a:rPr lang="en-US" altLang="ko-KR" sz="750" b="0" i="0" smtClean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7F7F7F"/>
                </a:solidFill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나눔스퀘어 Bold" panose="020B0502040204020203" pitchFamily="34" charset="0"/>
              </a:rPr>
              <a:pPr algn="ctr" defTabSz="912768"/>
              <a:t>‹#›</a:t>
            </a:fld>
            <a:r>
              <a:rPr lang="en-US" altLang="ko-KR" sz="750" b="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7F7F7F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나눔스퀘어 Bold" panose="020B0502040204020203" pitchFamily="34" charset="0"/>
              </a:rPr>
              <a:t>/</a:t>
            </a:r>
            <a:r>
              <a:rPr lang="en-US" altLang="ko-KR" sz="525" b="0" i="0" dirty="0">
                <a:ln>
                  <a:solidFill>
                    <a:schemeClr val="bg1">
                      <a:alpha val="0"/>
                    </a:schemeClr>
                  </a:solidFill>
                </a:ln>
                <a:solidFill>
                  <a:srgbClr val="7F7F7F"/>
                </a:solidFill>
                <a:latin typeface="나눔스퀘어 Bold" panose="020B0600000101010101" pitchFamily="50" charset="-127"/>
                <a:ea typeface="나눔스퀘어" panose="020B0600000101010101" pitchFamily="50" charset="-127"/>
                <a:cs typeface="나눔스퀘어 Bold" panose="020B0502040204020203" pitchFamily="34" charset="0"/>
              </a:rPr>
              <a:t>10</a:t>
            </a:r>
            <a:endParaRPr lang="en-US" altLang="ko-KR" sz="525" b="0" i="0" dirty="0">
              <a:ln>
                <a:solidFill>
                  <a:schemeClr val="bg1">
                    <a:alpha val="0"/>
                  </a:schemeClr>
                </a:solidFill>
              </a:ln>
              <a:solidFill>
                <a:srgbClr val="7F7F7F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나눔스퀘어 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5657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395288" y="214291"/>
            <a:ext cx="6621462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l">
              <a:defRPr lang="en-US" altLang="ko-KR" sz="20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marL="0" lvl="0" algn="l" defTabSz="914273"/>
            <a:r>
              <a:rPr lang="ko-KR" altLang="en-US" dirty="0"/>
              <a:t>페이지 제목 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20pt)</a:t>
            </a:r>
          </a:p>
        </p:txBody>
      </p:sp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4396475" y="4803999"/>
            <a:ext cx="340158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912791"/>
            <a:fld id="{D937E0E5-A56D-4372-A39D-FA63A08071CF}" type="slidenum">
              <a:rPr lang="en-US" altLang="ko-KR" sz="1050" b="1" spc="-50" smtClea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pPr algn="ctr" defTabSz="912791"/>
              <a:t>‹#›</a:t>
            </a:fld>
            <a:endParaRPr lang="en-US" altLang="ko-KR" sz="900" b="1" spc="-5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내용 개체 틀 2"/>
          <p:cNvSpPr>
            <a:spLocks noGrp="1"/>
          </p:cNvSpPr>
          <p:nvPr>
            <p:ph idx="11" hasCustomPrompt="1"/>
          </p:nvPr>
        </p:nvSpPr>
        <p:spPr>
          <a:xfrm>
            <a:off x="755576" y="699542"/>
            <a:ext cx="7993138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273" rtl="0" eaLnBrk="1" latinLnBrk="1" hangingPunct="1">
              <a:lnSpc>
                <a:spcPct val="105000"/>
              </a:lnSpc>
              <a:spcBef>
                <a:spcPts val="0"/>
              </a:spcBef>
              <a:buFontTx/>
              <a:buNone/>
              <a:defRPr lang="en-US" altLang="ko-KR" sz="15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-5862" y="-22860"/>
            <a:ext cx="9149862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395288" y="725718"/>
            <a:ext cx="181609" cy="112669"/>
            <a:chOff x="412072" y="2422510"/>
            <a:chExt cx="181609" cy="112669"/>
          </a:xfrm>
        </p:grpSpPr>
        <p:sp>
          <p:nvSpPr>
            <p:cNvPr id="8" name="타원 7"/>
            <p:cNvSpPr/>
            <p:nvPr/>
          </p:nvSpPr>
          <p:spPr>
            <a:xfrm>
              <a:off x="481012" y="2422510"/>
              <a:ext cx="112669" cy="112669"/>
            </a:xfrm>
            <a:prstGeom prst="ellipse">
              <a:avLst/>
            </a:prstGeom>
            <a:solidFill>
              <a:srgbClr val="1148B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412072" y="2422510"/>
              <a:ext cx="112669" cy="112669"/>
            </a:xfrm>
            <a:prstGeom prst="ellipse">
              <a:avLst/>
            </a:prstGeom>
            <a:solidFill>
              <a:srgbClr val="00A8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타원 23"/>
            <p:cNvSpPr/>
            <p:nvPr/>
          </p:nvSpPr>
          <p:spPr>
            <a:xfrm>
              <a:off x="481012" y="2435392"/>
              <a:ext cx="43730" cy="86904"/>
            </a:xfrm>
            <a:custGeom>
              <a:avLst/>
              <a:gdLst/>
              <a:ahLst/>
              <a:cxnLst/>
              <a:rect l="l" t="t" r="r" b="b"/>
              <a:pathLst>
                <a:path w="43730" h="86904">
                  <a:moveTo>
                    <a:pt x="21865" y="0"/>
                  </a:moveTo>
                  <a:cubicBezTo>
                    <a:pt x="35400" y="9636"/>
                    <a:pt x="43730" y="25571"/>
                    <a:pt x="43730" y="43452"/>
                  </a:cubicBezTo>
                  <a:cubicBezTo>
                    <a:pt x="43730" y="61333"/>
                    <a:pt x="35400" y="77268"/>
                    <a:pt x="21865" y="86904"/>
                  </a:cubicBezTo>
                  <a:cubicBezTo>
                    <a:pt x="8330" y="77268"/>
                    <a:pt x="0" y="61333"/>
                    <a:pt x="0" y="43452"/>
                  </a:cubicBezTo>
                  <a:cubicBezTo>
                    <a:pt x="0" y="25571"/>
                    <a:pt x="8330" y="9636"/>
                    <a:pt x="21865" y="0"/>
                  </a:cubicBezTo>
                  <a:close/>
                </a:path>
              </a:pathLst>
            </a:custGeom>
            <a:solidFill>
              <a:srgbClr val="022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내용 개체 틀 2"/>
          <p:cNvSpPr>
            <a:spLocks noGrp="1"/>
          </p:cNvSpPr>
          <p:nvPr>
            <p:ph idx="12" hasCustomPrompt="1"/>
          </p:nvPr>
        </p:nvSpPr>
        <p:spPr>
          <a:xfrm>
            <a:off x="395288" y="1275606"/>
            <a:ext cx="7993138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914273" rtl="0" eaLnBrk="1" latinLnBrk="1" hangingPunct="1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lang="en-US" altLang="ko-KR" sz="12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</p:spTree>
    <p:extLst>
      <p:ext uri="{BB962C8B-B14F-4D97-AF65-F5344CB8AC3E}">
        <p14:creationId xmlns:p14="http://schemas.microsoft.com/office/powerpoint/2010/main" val="8764047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본문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0" y="0"/>
            <a:ext cx="9144000" cy="32400"/>
          </a:xfrm>
          <a:prstGeom prst="rect">
            <a:avLst/>
          </a:prstGeom>
          <a:gradFill>
            <a:gsLst>
              <a:gs pos="30000">
                <a:srgbClr val="021861"/>
              </a:gs>
              <a:gs pos="0">
                <a:srgbClr val="3259A8"/>
              </a:gs>
              <a:gs pos="10000">
                <a:srgbClr val="D551AC"/>
              </a:gs>
              <a:gs pos="20000">
                <a:srgbClr val="09AFE8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350" dirty="0">
              <a:solidFill>
                <a:prstClr val="white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5307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3452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5"/>
          <p:cNvSpPr txBox="1">
            <a:spLocks/>
          </p:cNvSpPr>
          <p:nvPr userDrawn="1"/>
        </p:nvSpPr>
        <p:spPr>
          <a:xfrm>
            <a:off x="3691770" y="4801232"/>
            <a:ext cx="1760464" cy="244841"/>
          </a:xfrm>
          <a:prstGeom prst="rect">
            <a:avLst/>
          </a:prstGeom>
        </p:spPr>
        <p:txBody>
          <a:bodyPr lIns="121898" tIns="60948" rIns="121898" bIns="60948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ctr" defTabSz="914286">
              <a:defRPr/>
            </a:pPr>
            <a:fld id="{4E2E905B-828D-4F20-A1BB-9606BA51BD13}" type="slidenum">
              <a:rPr lang="ko-KR" altLang="en-US" sz="900" b="1" smtClean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 Bold" panose="020B0600000101010101" pitchFamily="50" charset="-127"/>
                <a:cs typeface="Arial" panose="020B0604020202020204" pitchFamily="34" charset="0"/>
              </a:rPr>
              <a:pPr algn="ctr" defTabSz="914286">
                <a:defRPr/>
              </a:pPr>
              <a:t>‹#›</a:t>
            </a:fld>
            <a:r>
              <a:rPr lang="ko-KR" altLang="en-US" sz="65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 </a:t>
            </a:r>
            <a:r>
              <a:rPr lang="en-US" altLang="ko-KR" sz="675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>
                    <a:lumMod val="50000"/>
                  </a:prstClr>
                </a:solidFill>
                <a:latin typeface="나눔스퀘어" panose="020B0600000101010101" pitchFamily="50" charset="-127"/>
                <a:ea typeface="나눔스퀘어" panose="020B0600000101010101" pitchFamily="50" charset="-127"/>
                <a:cs typeface="Arial" panose="020B0604020202020204" pitchFamily="34" charset="0"/>
              </a:rPr>
              <a:t>/ 75</a:t>
            </a:r>
            <a:endParaRPr lang="ko-KR" altLang="en-US" sz="675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>
                  <a:lumMod val="50000"/>
                </a:prstClr>
              </a:solidFill>
              <a:latin typeface="나눔스퀘어" panose="020B0600000101010101" pitchFamily="50" charset="-127"/>
              <a:ea typeface="나눔스퀘어" panose="020B0600000101010101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2909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623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395288" y="214292"/>
            <a:ext cx="6621462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l">
              <a:defRPr lang="en-US" altLang="ko-KR" sz="20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marL="0" lvl="0" algn="l" defTabSz="914250"/>
            <a:r>
              <a:rPr lang="ko-KR" altLang="en-US" dirty="0"/>
              <a:t>페이지 제목 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20pt)</a:t>
            </a:r>
          </a:p>
        </p:txBody>
      </p:sp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4396475" y="4804000"/>
            <a:ext cx="340158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marL="0" marR="0" lvl="0" indent="0" algn="ctr" defTabSz="912768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937E0E5-A56D-4372-A39D-FA63A08071CF}" type="slidenum">
              <a:rPr kumimoji="0" lang="en-US" altLang="ko-KR" sz="1050" b="1" i="0" u="none" strike="noStrike" kern="1200" cap="none" spc="-50" normalizeH="0" baseline="0" noProof="0" smtClea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pPr marL="0" marR="0" lvl="0" indent="0" algn="ctr" defTabSz="912768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900" b="1" i="0" u="none" strike="noStrike" kern="1200" cap="none" spc="-50" normalizeH="0" baseline="0" noProof="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내용 개체 틀 2"/>
          <p:cNvSpPr>
            <a:spLocks noGrp="1"/>
          </p:cNvSpPr>
          <p:nvPr>
            <p:ph idx="11" hasCustomPrompt="1"/>
          </p:nvPr>
        </p:nvSpPr>
        <p:spPr>
          <a:xfrm>
            <a:off x="395290" y="596013"/>
            <a:ext cx="8353424" cy="466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250" rtl="0" eaLnBrk="1" latinLnBrk="1" hangingPunct="1">
              <a:lnSpc>
                <a:spcPct val="105000"/>
              </a:lnSpc>
              <a:spcBef>
                <a:spcPts val="0"/>
              </a:spcBef>
              <a:buFontTx/>
              <a:buNone/>
              <a:defRPr lang="en-US" altLang="ko-KR" sz="15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-5862" y="-22860"/>
            <a:ext cx="9149862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6858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4633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395288" y="214292"/>
            <a:ext cx="6621462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l">
              <a:defRPr lang="en-US" altLang="ko-KR" sz="20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marL="0" lvl="0" algn="l" defTabSz="914250"/>
            <a:r>
              <a:rPr lang="ko-KR" altLang="en-US" dirty="0"/>
              <a:t>페이지 제목 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20pt)</a:t>
            </a:r>
          </a:p>
        </p:txBody>
      </p:sp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4396475" y="4804000"/>
            <a:ext cx="340158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912768"/>
            <a:fld id="{D937E0E5-A56D-4372-A39D-FA63A08071CF}" type="slidenum">
              <a:rPr lang="en-US" altLang="ko-KR" sz="1050" b="1" spc="-50" smtClea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pPr algn="ctr" defTabSz="912768"/>
              <a:t>‹#›</a:t>
            </a:fld>
            <a:endParaRPr lang="en-US" altLang="ko-KR" sz="900" b="1" spc="-5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내용 개체 틀 2"/>
          <p:cNvSpPr>
            <a:spLocks noGrp="1"/>
          </p:cNvSpPr>
          <p:nvPr>
            <p:ph idx="11" hasCustomPrompt="1"/>
          </p:nvPr>
        </p:nvSpPr>
        <p:spPr>
          <a:xfrm>
            <a:off x="395290" y="596013"/>
            <a:ext cx="8353424" cy="4660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250" rtl="0" eaLnBrk="1" latinLnBrk="1" hangingPunct="1">
              <a:lnSpc>
                <a:spcPct val="105000"/>
              </a:lnSpc>
              <a:spcBef>
                <a:spcPts val="0"/>
              </a:spcBef>
              <a:buFontTx/>
              <a:buNone/>
              <a:defRPr lang="en-US" altLang="ko-KR" sz="15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50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-5862" y="-22860"/>
            <a:ext cx="9149862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36357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395288" y="214291"/>
            <a:ext cx="6621462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l">
              <a:defRPr lang="en-US" altLang="ko-KR" sz="20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marL="0" lvl="0" algn="l" defTabSz="914273"/>
            <a:r>
              <a:rPr lang="ko-KR" altLang="en-US" dirty="0"/>
              <a:t>페이지 제목 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20pt)</a:t>
            </a:r>
          </a:p>
        </p:txBody>
      </p:sp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4396475" y="4803999"/>
            <a:ext cx="340158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912791"/>
            <a:fld id="{D937E0E5-A56D-4372-A39D-FA63A08071CF}" type="slidenum">
              <a:rPr lang="en-US" altLang="ko-KR" sz="1050" b="1" spc="-50" smtClea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pPr algn="ctr" defTabSz="912791"/>
              <a:t>‹#›</a:t>
            </a:fld>
            <a:endParaRPr lang="en-US" altLang="ko-KR" sz="900" b="1" spc="-5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내용 개체 틀 2"/>
          <p:cNvSpPr>
            <a:spLocks noGrp="1"/>
          </p:cNvSpPr>
          <p:nvPr>
            <p:ph idx="11" hasCustomPrompt="1"/>
          </p:nvPr>
        </p:nvSpPr>
        <p:spPr>
          <a:xfrm>
            <a:off x="395290" y="596013"/>
            <a:ext cx="8353424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273" rtl="0" eaLnBrk="1" latinLnBrk="1" hangingPunct="1">
              <a:lnSpc>
                <a:spcPct val="105000"/>
              </a:lnSpc>
              <a:spcBef>
                <a:spcPts val="0"/>
              </a:spcBef>
              <a:buFontTx/>
              <a:buNone/>
              <a:defRPr lang="en-US" altLang="ko-KR" sz="15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-5862" y="-22860"/>
            <a:ext cx="9149862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3173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03FD15-4BFE-4746-ABFB-7F953F1815B3}" type="datetimeFigureOut">
              <a:rPr lang="ko-KR" altLang="en-US" smtClean="0"/>
              <a:t>2025-04-18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57DAC-5C3E-4D3B-AC03-AE87BD67CF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69082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개체 틀 1"/>
          <p:cNvSpPr>
            <a:spLocks noGrp="1"/>
          </p:cNvSpPr>
          <p:nvPr>
            <p:ph type="title" hasCustomPrompt="1"/>
          </p:nvPr>
        </p:nvSpPr>
        <p:spPr>
          <a:xfrm>
            <a:off x="395288" y="214291"/>
            <a:ext cx="6621462" cy="27699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lvl1pPr algn="l">
              <a:defRPr lang="en-US" altLang="ko-KR" sz="20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</a:lstStyle>
          <a:p>
            <a:pPr marL="0" lvl="0" algn="l" defTabSz="914273"/>
            <a:r>
              <a:rPr lang="ko-KR" altLang="en-US" dirty="0"/>
              <a:t>페이지 제목 </a:t>
            </a:r>
            <a:r>
              <a:rPr lang="en-US" altLang="ko-KR" dirty="0"/>
              <a:t>(</a:t>
            </a:r>
            <a:r>
              <a:rPr lang="ko-KR" altLang="en-US" dirty="0" err="1"/>
              <a:t>맑은고딕</a:t>
            </a:r>
            <a:r>
              <a:rPr lang="en-US" altLang="ko-KR" dirty="0"/>
              <a:t>B</a:t>
            </a:r>
            <a:r>
              <a:rPr lang="ko-KR" altLang="en-US" dirty="0"/>
              <a:t> </a:t>
            </a:r>
            <a:r>
              <a:rPr lang="en-US" altLang="ko-KR" dirty="0"/>
              <a:t>20pt)</a:t>
            </a:r>
          </a:p>
        </p:txBody>
      </p:sp>
      <p:sp>
        <p:nvSpPr>
          <p:cNvPr id="4" name="Rectangle 15"/>
          <p:cNvSpPr>
            <a:spLocks noChangeArrowheads="1"/>
          </p:cNvSpPr>
          <p:nvPr userDrawn="1"/>
        </p:nvSpPr>
        <p:spPr bwMode="auto">
          <a:xfrm>
            <a:off x="4396475" y="4803999"/>
            <a:ext cx="340158" cy="253916"/>
          </a:xfrm>
          <a:prstGeom prst="rect">
            <a:avLst/>
          </a:prstGeom>
        </p:spPr>
        <p:txBody>
          <a:bodyPr wrap="none" anchor="ctr">
            <a:spAutoFit/>
          </a:bodyPr>
          <a:lstStyle/>
          <a:p>
            <a:pPr algn="ctr" defTabSz="912791"/>
            <a:fld id="{D937E0E5-A56D-4372-A39D-FA63A08071CF}" type="slidenum">
              <a:rPr lang="en-US" altLang="ko-KR" sz="1050" b="1" spc="-50" smtClean="0">
                <a:ln>
                  <a:solidFill>
                    <a:srgbClr val="5B9BD5">
                      <a:shade val="50000"/>
                      <a:alpha val="0"/>
                    </a:srgbClr>
                  </a:solidFill>
                </a:ln>
                <a:solidFill>
                  <a:prstClr val="black">
                    <a:lumMod val="50000"/>
                    <a:lumOff val="50000"/>
                  </a:prstClr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pPr algn="ctr" defTabSz="912791"/>
              <a:t>‹#›</a:t>
            </a:fld>
            <a:endParaRPr lang="en-US" altLang="ko-KR" sz="900" b="1" spc="-50" dirty="0">
              <a:ln>
                <a:solidFill>
                  <a:srgbClr val="5B9BD5">
                    <a:shade val="50000"/>
                    <a:alpha val="0"/>
                  </a:srgbClr>
                </a:solidFill>
              </a:ln>
              <a:solidFill>
                <a:prstClr val="black">
                  <a:lumMod val="50000"/>
                  <a:lumOff val="50000"/>
                </a:prstClr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3" name="내용 개체 틀 2"/>
          <p:cNvSpPr>
            <a:spLocks noGrp="1"/>
          </p:cNvSpPr>
          <p:nvPr>
            <p:ph idx="11" hasCustomPrompt="1"/>
          </p:nvPr>
        </p:nvSpPr>
        <p:spPr>
          <a:xfrm>
            <a:off x="755576" y="699542"/>
            <a:ext cx="7993138" cy="48474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l" defTabSz="914273" rtl="0" eaLnBrk="1" latinLnBrk="1" hangingPunct="1">
              <a:lnSpc>
                <a:spcPct val="105000"/>
              </a:lnSpc>
              <a:spcBef>
                <a:spcPts val="0"/>
              </a:spcBef>
              <a:buFontTx/>
              <a:buNone/>
              <a:defRPr lang="en-US" altLang="ko-KR" sz="15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  <p:sp>
        <p:nvSpPr>
          <p:cNvPr id="6" name="직사각형 5"/>
          <p:cNvSpPr/>
          <p:nvPr userDrawn="1"/>
        </p:nvSpPr>
        <p:spPr>
          <a:xfrm>
            <a:off x="-5862" y="-22860"/>
            <a:ext cx="9149862" cy="45719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</a:endParaRPr>
          </a:p>
        </p:txBody>
      </p:sp>
      <p:grpSp>
        <p:nvGrpSpPr>
          <p:cNvPr id="7" name="그룹 6"/>
          <p:cNvGrpSpPr/>
          <p:nvPr userDrawn="1"/>
        </p:nvGrpSpPr>
        <p:grpSpPr>
          <a:xfrm>
            <a:off x="395288" y="725718"/>
            <a:ext cx="181609" cy="112669"/>
            <a:chOff x="412072" y="2422510"/>
            <a:chExt cx="181609" cy="112669"/>
          </a:xfrm>
        </p:grpSpPr>
        <p:sp>
          <p:nvSpPr>
            <p:cNvPr id="8" name="타원 7"/>
            <p:cNvSpPr/>
            <p:nvPr/>
          </p:nvSpPr>
          <p:spPr>
            <a:xfrm>
              <a:off x="481012" y="2422510"/>
              <a:ext cx="112669" cy="112669"/>
            </a:xfrm>
            <a:prstGeom prst="ellipse">
              <a:avLst/>
            </a:prstGeom>
            <a:solidFill>
              <a:srgbClr val="1148B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9" name="타원 8"/>
            <p:cNvSpPr/>
            <p:nvPr/>
          </p:nvSpPr>
          <p:spPr>
            <a:xfrm>
              <a:off x="412072" y="2422510"/>
              <a:ext cx="112669" cy="112669"/>
            </a:xfrm>
            <a:prstGeom prst="ellipse">
              <a:avLst/>
            </a:prstGeom>
            <a:solidFill>
              <a:srgbClr val="00A8E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0" name="타원 23"/>
            <p:cNvSpPr/>
            <p:nvPr/>
          </p:nvSpPr>
          <p:spPr>
            <a:xfrm>
              <a:off x="481012" y="2435392"/>
              <a:ext cx="43730" cy="86904"/>
            </a:xfrm>
            <a:custGeom>
              <a:avLst/>
              <a:gdLst/>
              <a:ahLst/>
              <a:cxnLst/>
              <a:rect l="l" t="t" r="r" b="b"/>
              <a:pathLst>
                <a:path w="43730" h="86904">
                  <a:moveTo>
                    <a:pt x="21865" y="0"/>
                  </a:moveTo>
                  <a:cubicBezTo>
                    <a:pt x="35400" y="9636"/>
                    <a:pt x="43730" y="25571"/>
                    <a:pt x="43730" y="43452"/>
                  </a:cubicBezTo>
                  <a:cubicBezTo>
                    <a:pt x="43730" y="61333"/>
                    <a:pt x="35400" y="77268"/>
                    <a:pt x="21865" y="86904"/>
                  </a:cubicBezTo>
                  <a:cubicBezTo>
                    <a:pt x="8330" y="77268"/>
                    <a:pt x="0" y="61333"/>
                    <a:pt x="0" y="43452"/>
                  </a:cubicBezTo>
                  <a:cubicBezTo>
                    <a:pt x="0" y="25571"/>
                    <a:pt x="8330" y="9636"/>
                    <a:pt x="21865" y="0"/>
                  </a:cubicBezTo>
                  <a:close/>
                </a:path>
              </a:pathLst>
            </a:custGeom>
            <a:solidFill>
              <a:srgbClr val="0228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12" name="내용 개체 틀 2"/>
          <p:cNvSpPr>
            <a:spLocks noGrp="1"/>
          </p:cNvSpPr>
          <p:nvPr>
            <p:ph idx="12" hasCustomPrompt="1"/>
          </p:nvPr>
        </p:nvSpPr>
        <p:spPr>
          <a:xfrm>
            <a:off x="395288" y="1275606"/>
            <a:ext cx="7993138" cy="3877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914273" rtl="0" eaLnBrk="1" latinLnBrk="1" hangingPunct="1">
              <a:lnSpc>
                <a:spcPct val="105000"/>
              </a:lnSpc>
              <a:spcBef>
                <a:spcPts val="0"/>
              </a:spcBef>
              <a:buFont typeface="Wingdings" panose="05000000000000000000" pitchFamily="2" charset="2"/>
              <a:buChar char="§"/>
              <a:defRPr lang="en-US" altLang="ko-KR" sz="12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defRPr>
            </a:lvl1pPr>
            <a:lvl2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2pPr>
            <a:lvl3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3pPr>
            <a:lvl4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4pPr>
            <a:lvl5pPr marL="0" algn="l" defTabSz="914273" rtl="0" eaLnBrk="1" latinLnBrk="1" hangingPunct="1">
              <a:lnSpc>
                <a:spcPct val="110000"/>
              </a:lnSpc>
              <a:spcBef>
                <a:spcPts val="0"/>
              </a:spcBef>
              <a:defRPr lang="ko-KR" altLang="en-US" sz="1800" kern="1200" spc="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ko-KR" altLang="en-US" dirty="0"/>
              <a:t>해당 페이지의 핵심적으로 전달하고자 하는 메시지로 구성하며 최대 </a:t>
            </a:r>
            <a:r>
              <a:rPr lang="en-US" altLang="ko-KR" dirty="0"/>
              <a:t>2</a:t>
            </a:r>
            <a:r>
              <a:rPr lang="ko-KR" altLang="en-US" dirty="0"/>
              <a:t>줄 내 요약정리</a:t>
            </a:r>
            <a:br>
              <a:rPr lang="ko-KR" altLang="en-US" dirty="0"/>
            </a:br>
            <a:r>
              <a:rPr lang="en-US" altLang="ko-KR" dirty="0"/>
              <a:t>(</a:t>
            </a:r>
            <a:r>
              <a:rPr lang="ko-KR" altLang="en-US" dirty="0"/>
              <a:t>폰트 </a:t>
            </a:r>
            <a:r>
              <a:rPr lang="en-US" altLang="ko-KR" dirty="0"/>
              <a:t>: </a:t>
            </a:r>
            <a:r>
              <a:rPr lang="ko-KR" altLang="en-US" dirty="0"/>
              <a:t>국문 맑은 고딕</a:t>
            </a:r>
            <a:r>
              <a:rPr lang="en-US" altLang="ko-KR" dirty="0"/>
              <a:t>, </a:t>
            </a:r>
            <a:r>
              <a:rPr lang="ko-KR" altLang="en-US" dirty="0"/>
              <a:t>색상 블랙</a:t>
            </a:r>
            <a:r>
              <a:rPr lang="en-US" altLang="ko-KR" dirty="0"/>
              <a:t>, </a:t>
            </a:r>
            <a:r>
              <a:rPr lang="ko-KR" altLang="en-US" dirty="0"/>
              <a:t>크기 </a:t>
            </a:r>
            <a:r>
              <a:rPr lang="en-US" altLang="ko-KR" dirty="0"/>
              <a:t>15pt)</a:t>
            </a:r>
          </a:p>
        </p:txBody>
      </p:sp>
    </p:spTree>
    <p:extLst>
      <p:ext uri="{BB962C8B-B14F-4D97-AF65-F5344CB8AC3E}">
        <p14:creationId xmlns:p14="http://schemas.microsoft.com/office/powerpoint/2010/main" val="3900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.xml"/><Relationship Id="rId3" Type="http://schemas.openxmlformats.org/officeDocument/2006/relationships/slideLayout" Target="../slideLayouts/slideLayout9.xml"/><Relationship Id="rId7" Type="http://schemas.openxmlformats.org/officeDocument/2006/relationships/slideLayout" Target="../slideLayouts/slideLayout1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0.xml"/><Relationship Id="rId9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4143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70" r:id="rId5"/>
    <p:sldLayoutId id="2147483672" r:id="rId6"/>
  </p:sldLayoutIdLst>
  <p:hf hdr="0" ftr="0" dt="0"/>
  <p:txStyles>
    <p:titleStyle>
      <a:lvl1pPr algn="l" defTabSz="685783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68951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1" r:id="rId9"/>
  </p:sldLayoutIdLst>
  <p:hf hdr="0" ftr="0" dt="0"/>
  <p:txStyles>
    <p:titleStyle>
      <a:lvl1pPr algn="l" defTabSz="685783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docker.com/engine/install/ubuntu/" TargetMode="Externa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.google.com/compute/docs/gpus/install-drivers-gpu?hl=ko" TargetMode="External"/><Relationship Id="rId2" Type="http://schemas.openxmlformats.org/officeDocument/2006/relationships/hyperlink" Target="https://repo.anaconda.com/miniconda/Miniconda3-py38_23.11.0-2-Linux-x86_64.sh" TargetMode="Externa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Relationship Id="rId4" Type="http://schemas.openxmlformats.org/officeDocument/2006/relationships/hyperlink" Target="https://arxiv.org/abs/2106.09685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13"/>
          <p:cNvSpPr txBox="1"/>
          <p:nvPr/>
        </p:nvSpPr>
        <p:spPr>
          <a:xfrm>
            <a:off x="2310278" y="501104"/>
            <a:ext cx="1572866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Linux &amp; Cloud 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5209" y="402770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2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EE8E18-66E1-B6E2-125F-A4384594FF54}"/>
              </a:ext>
            </a:extLst>
          </p:cNvPr>
          <p:cNvSpPr txBox="1"/>
          <p:nvPr/>
        </p:nvSpPr>
        <p:spPr>
          <a:xfrm>
            <a:off x="1038789" y="1038255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3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E786D3-D35A-87E8-689C-F2CA1E6C6E79}"/>
              </a:ext>
            </a:extLst>
          </p:cNvPr>
          <p:cNvSpPr txBox="1"/>
          <p:nvPr/>
        </p:nvSpPr>
        <p:spPr>
          <a:xfrm>
            <a:off x="1069253" y="1734253"/>
            <a:ext cx="53091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4w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E27FB2-3753-8416-4BBC-F5104C30D4CA}"/>
              </a:ext>
            </a:extLst>
          </p:cNvPr>
          <p:cNvSpPr txBox="1"/>
          <p:nvPr/>
        </p:nvSpPr>
        <p:spPr>
          <a:xfrm>
            <a:off x="1045209" y="2944709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6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E64D53E-D68B-DDB0-9803-3920CD2354AA}"/>
              </a:ext>
            </a:extLst>
          </p:cNvPr>
          <p:cNvSpPr txBox="1"/>
          <p:nvPr/>
        </p:nvSpPr>
        <p:spPr>
          <a:xfrm>
            <a:off x="1045209" y="2369737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5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16F813-1395-17FC-2FB5-AC854D0C5491}"/>
              </a:ext>
            </a:extLst>
          </p:cNvPr>
          <p:cNvSpPr txBox="1"/>
          <p:nvPr/>
        </p:nvSpPr>
        <p:spPr>
          <a:xfrm>
            <a:off x="2310279" y="3662470"/>
            <a:ext cx="2038763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LLM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Fine Tuning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5C60DAB-C1BF-E398-BD2B-57CB9F28BDE1}"/>
              </a:ext>
            </a:extLst>
          </p:cNvPr>
          <p:cNvSpPr txBox="1"/>
          <p:nvPr/>
        </p:nvSpPr>
        <p:spPr>
          <a:xfrm>
            <a:off x="1045209" y="4134992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8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5CE3F-C958-CC78-AC28-7A199CF09F50}"/>
              </a:ext>
            </a:extLst>
          </p:cNvPr>
          <p:cNvSpPr txBox="1"/>
          <p:nvPr/>
        </p:nvSpPr>
        <p:spPr>
          <a:xfrm>
            <a:off x="2310279" y="1082468"/>
            <a:ext cx="3731342" cy="553228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35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Image Classification by SVM </a:t>
            </a:r>
            <a:br>
              <a:rPr kumimoji="0" lang="en-US" altLang="ko-KR" sz="135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</a:b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Deep Learning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실습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 :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Define by run, CNN</a:t>
            </a:r>
            <a:endParaRPr kumimoji="0" lang="en-US" altLang="ko-KR" sz="135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735BFD-964B-ED01-49B1-FF8F65ADEBA7}"/>
              </a:ext>
            </a:extLst>
          </p:cNvPr>
          <p:cNvSpPr txBox="1"/>
          <p:nvPr/>
        </p:nvSpPr>
        <p:spPr>
          <a:xfrm>
            <a:off x="2310279" y="1835103"/>
            <a:ext cx="5931945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Deep Learning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실습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II :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Transformer (BERT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/</a:t>
            </a:r>
            <a:r>
              <a:rPr kumimoji="0" lang="ko-KR" altLang="en-US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Llama), Prompt engineering</a:t>
            </a:r>
            <a:endParaRPr kumimoji="0" lang="en-US" altLang="ko-KR" sz="15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F174E0-E3BC-C9C4-139D-FBC8689A6C4C}"/>
              </a:ext>
            </a:extLst>
          </p:cNvPr>
          <p:cNvSpPr txBox="1"/>
          <p:nvPr/>
        </p:nvSpPr>
        <p:spPr>
          <a:xfrm>
            <a:off x="2310279" y="2499742"/>
            <a:ext cx="3154838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LLM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활용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function call(plug-in), RAG</a:t>
            </a:r>
            <a:endParaRPr kumimoji="0" lang="en-US" altLang="ko-KR" sz="1500" b="1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8D4E4-CD65-DB4C-8913-86314BE07664}"/>
              </a:ext>
            </a:extLst>
          </p:cNvPr>
          <p:cNvSpPr txBox="1"/>
          <p:nvPr/>
        </p:nvSpPr>
        <p:spPr>
          <a:xfrm>
            <a:off x="1045209" y="3539851"/>
            <a:ext cx="579005" cy="50783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5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700" b="0" i="0" u="none" strike="noStrike" kern="1200" cap="none" spc="-30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rgbClr val="23E2FE"/>
                </a:solidFill>
                <a:effectLst/>
                <a:uLnTx/>
                <a:uFillTx/>
                <a:latin typeface="Times New Roman" panose="02020603050405020304" pitchFamily="18" charset="0"/>
                <a:ea typeface="나눔스퀘어 Bold" panose="020B0600000101010101" pitchFamily="50" charset="-127"/>
                <a:cs typeface="Times New Roman" panose="02020603050405020304" pitchFamily="18" charset="0"/>
              </a:rPr>
              <a:t>7 w</a:t>
            </a:r>
            <a:endParaRPr kumimoji="0" lang="en-US" altLang="ko-KR" sz="2700" b="0" i="0" u="none" strike="noStrike" kern="1200" cap="none" spc="0" normalizeH="0" baseline="0" noProof="0" dirty="0">
              <a:ln>
                <a:solidFill>
                  <a:prstClr val="white">
                    <a:alpha val="0"/>
                  </a:prstClr>
                </a:solidFill>
              </a:ln>
              <a:solidFill>
                <a:srgbClr val="23E2FE"/>
              </a:solidFill>
              <a:effectLst/>
              <a:uLnTx/>
              <a:uFillTx/>
              <a:latin typeface="Times New Roman" panose="02020603050405020304" pitchFamily="18" charset="0"/>
              <a:ea typeface="나눔스퀘어 Bold" panose="020B0600000101010101" pitchFamily="50" charset="-127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9F5130-38AF-8582-E425-BBB7E1A85066}"/>
              </a:ext>
            </a:extLst>
          </p:cNvPr>
          <p:cNvSpPr txBox="1"/>
          <p:nvPr/>
        </p:nvSpPr>
        <p:spPr>
          <a:xfrm>
            <a:off x="2310279" y="3081106"/>
            <a:ext cx="1521379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LLM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활용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 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RAG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FB174A-7254-8D50-500A-3357C3E40785}"/>
              </a:ext>
            </a:extLst>
          </p:cNvPr>
          <p:cNvSpPr txBox="1"/>
          <p:nvPr/>
        </p:nvSpPr>
        <p:spPr>
          <a:xfrm>
            <a:off x="2306262" y="4209499"/>
            <a:ext cx="3997889" cy="324704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l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LLM </a:t>
            </a:r>
            <a:r>
              <a:rPr kumimoji="0" lang="ko-KR" altLang="en-US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활용 </a:t>
            </a:r>
            <a:r>
              <a:rPr kumimoji="0" lang="en-US" altLang="ko-KR" sz="15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:</a:t>
            </a:r>
            <a:r>
              <a:rPr kumimoji="0" lang="en-US" altLang="ko-KR" sz="1200" b="1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 Agent, Agentic workflow, Multi-Agent</a:t>
            </a:r>
          </a:p>
        </p:txBody>
      </p:sp>
    </p:spTree>
    <p:extLst>
      <p:ext uri="{BB962C8B-B14F-4D97-AF65-F5344CB8AC3E}">
        <p14:creationId xmlns:p14="http://schemas.microsoft.com/office/powerpoint/2010/main" val="2760899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AAF4A4-854B-42CA-177E-50A37850EC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실습환경 </a:t>
            </a:r>
            <a:r>
              <a:rPr lang="en-US" altLang="ko-KR" dirty="0"/>
              <a:t>docker </a:t>
            </a:r>
            <a:r>
              <a:rPr lang="ko-KR" altLang="en-US" dirty="0"/>
              <a:t>설치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FF86B9-592D-E29D-8E88-C57B7168234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5576" y="699542"/>
            <a:ext cx="7993138" cy="3147593"/>
          </a:xfrm>
        </p:spPr>
        <p:txBody>
          <a:bodyPr/>
          <a:lstStyle/>
          <a:p>
            <a:r>
              <a:rPr lang="en-US" altLang="ko-KR" dirty="0">
                <a:hlinkClick r:id="rId2"/>
              </a:rPr>
              <a:t>https://docs.docker.com/engine/install/ubuntu/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위 페이지의 </a:t>
            </a:r>
            <a:endParaRPr lang="en-US" altLang="ko-KR" dirty="0"/>
          </a:p>
          <a:p>
            <a:r>
              <a:rPr lang="en-US" altLang="ko-KR" dirty="0"/>
              <a:t>Install using the apt repository</a:t>
            </a:r>
          </a:p>
          <a:p>
            <a:r>
              <a:rPr lang="ko-KR" altLang="en-US" dirty="0"/>
              <a:t>아래의 </a:t>
            </a:r>
            <a:r>
              <a:rPr lang="en-US" altLang="ko-KR" dirty="0"/>
              <a:t>1,2</a:t>
            </a:r>
            <a:r>
              <a:rPr lang="ko-KR" altLang="en-US" dirty="0"/>
              <a:t>번 설치 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아래 명령어 수행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sudo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groupadd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docker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sudo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usermod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-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aG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docker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</a:t>
            </a:r>
            <a:r>
              <a:rPr kumimoji="0" lang="ko-KR" altLang="ko-KR" sz="14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$USER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newgrp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docker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</a:t>
            </a:r>
            <a:endParaRPr kumimoji="0" lang="ko-KR" altLang="ko-KR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sudo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rgbClr val="0C0D0E"/>
                </a:solidFill>
                <a:effectLst/>
                <a:latin typeface="Arial Unicode MS"/>
                <a:ea typeface="inherit"/>
              </a:rPr>
              <a:t>reboot</a:t>
            </a:r>
            <a:r>
              <a:rPr kumimoji="0" lang="ko-KR" altLang="ko-KR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ko-KR" altLang="ko-KR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157619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Setup a Python Environment for something</a:t>
            </a:r>
            <a:endParaRPr lang="ko-KR" altLang="en-US" dirty="0"/>
          </a:p>
        </p:txBody>
      </p:sp>
      <p:sp>
        <p:nvSpPr>
          <p:cNvPr id="14" name="텍스트 개체 틀 1"/>
          <p:cNvSpPr txBox="1">
            <a:spLocks/>
          </p:cNvSpPr>
          <p:nvPr/>
        </p:nvSpPr>
        <p:spPr>
          <a:xfrm>
            <a:off x="458134" y="1703401"/>
            <a:ext cx="8255655" cy="21544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09" indent="-176209" defTabSz="685800">
              <a:lnSpc>
                <a:spcPct val="100000"/>
              </a:lnSpc>
              <a:spcBef>
                <a:spcPts val="500"/>
              </a:spcBef>
              <a:defRPr/>
            </a:pPr>
            <a:endParaRPr lang="en-US" altLang="ko-KR" sz="1400" spc="-3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6" name="텍스트 개체 틀 1"/>
          <p:cNvSpPr txBox="1">
            <a:spLocks/>
          </p:cNvSpPr>
          <p:nvPr/>
        </p:nvSpPr>
        <p:spPr>
          <a:xfrm>
            <a:off x="503549" y="1049289"/>
            <a:ext cx="8255655" cy="34322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 marL="1778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SzPct val="130000"/>
              <a:buFont typeface="Wingdings" pitchFamily="2" charset="2"/>
              <a:buChar char="§"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44500" indent="-1778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12800" indent="-190500" algn="l" defTabSz="914400" rtl="0" eaLnBrk="1" latinLnBrk="0" hangingPunct="1">
              <a:lnSpc>
                <a:spcPct val="110000"/>
              </a:lnSpc>
              <a:spcBef>
                <a:spcPct val="20000"/>
              </a:spcBef>
              <a:buFont typeface="맑은 고딕" pitchFamily="50" charset="-127"/>
              <a:buChar char="-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76209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4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miniConda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설치</a:t>
            </a:r>
            <a:endParaRPr lang="en-US" altLang="ko-KR" sz="14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buSzPct val="130000"/>
              <a:defRPr/>
            </a:pPr>
            <a:r>
              <a:rPr lang="da-DK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wget –c </a:t>
            </a:r>
            <a:r>
              <a:rPr lang="da-DK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  <a:hlinkClick r:id="rId2"/>
              </a:rPr>
              <a:t>https://repo.anaconda.com/miniconda/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  <a:hlinkClick r:id="rId2"/>
              </a:rPr>
              <a:t>Miniconda3-py38_23.11.0-2-Linux-x86_64.sh</a:t>
            </a:r>
            <a:endParaRPr lang="en-US" altLang="ko-KR" sz="1000" spc="-3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buSzPct val="130000"/>
              <a:defRPr/>
            </a:pP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chmod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754 Miniconda3-py38_23.11.0-2-Linux-x86_64.sh  </a:t>
            </a: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buSzPct val="130000"/>
              <a:defRPr/>
            </a:pP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./Miniconda3-py38_23.11.0-2-Linux-x86_64.sh</a:t>
            </a: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buSzPct val="130000"/>
              <a:defRPr/>
            </a:pP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source ~/.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bashrc</a:t>
            </a:r>
            <a:endParaRPr lang="en-US" altLang="ko-KR" sz="1000" spc="-3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176209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Create a new environment:</a:t>
            </a:r>
          </a:p>
          <a:p>
            <a:pPr marL="442902" lvl="1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conda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create -n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llm_env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python=</a:t>
            </a:r>
            <a:r>
              <a:rPr lang="en-US" altLang="ko-KR" sz="1000" b="1" spc="-30" dirty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3.9</a:t>
            </a:r>
          </a:p>
          <a:p>
            <a:pPr marL="133350" indent="-133350" defTabSz="685800">
              <a:defRPr/>
            </a:pP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To use, or "activate" the new environment, type the following:</a:t>
            </a:r>
          </a:p>
          <a:p>
            <a:pPr marL="404813" lvl="1" indent="-136922" defTabSz="685800">
              <a:defRPr/>
            </a:pP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conda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 activate 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llm_env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</a:p>
          <a:p>
            <a:pPr marL="176209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To install library at your environments:</a:t>
            </a: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GPU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드라이버 설치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(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앞 실습에서 이미 설치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  <a:hlinkClick r:id="rId3"/>
              </a:rPr>
              <a:t>https://cloud.google.com/compute/docs/gpus/install-drivers-gpu?hl=ko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페이지 참조</a:t>
            </a:r>
            <a:endParaRPr lang="en-US" altLang="ko-KR" sz="1000" spc="-3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lvl="1" indent="-176209">
              <a:lnSpc>
                <a:spcPct val="100000"/>
              </a:lnSpc>
              <a:spcBef>
                <a:spcPts val="500"/>
              </a:spcBef>
              <a:defRPr/>
            </a:pP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가상환경 진입 후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pip install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동일하게 사용</a:t>
            </a:r>
            <a:b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</a:b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pip install pandas scikit-learn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openai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peft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datasets accelerate transformers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bitsandbytes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autogen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jupyterlab</a:t>
            </a:r>
            <a:endParaRPr lang="en-US" altLang="ko-KR" sz="1000" spc="-3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176209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4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Jupyter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lab 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실행</a:t>
            </a:r>
            <a:endParaRPr lang="en-US" altLang="ko-KR" sz="1400" spc="-3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lvl="1" indent="-176209"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jupyter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lab --</a:t>
            </a:r>
            <a:r>
              <a:rPr lang="en-US" altLang="ko-KR" sz="1000" spc="-30" dirty="0" err="1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ip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=0.0.0.0 --port=8888 --no-browser   (GCP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에서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“VPC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네트워크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&gt;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방화벽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”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에서 방화벽 규칙에 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8888 </a:t>
            </a:r>
            <a:r>
              <a:rPr lang="ko-KR" altLang="en-US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포트 추가</a:t>
            </a:r>
            <a:r>
              <a:rPr lang="en-US" altLang="ko-KR" sz="1000" spc="-3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)</a:t>
            </a:r>
          </a:p>
        </p:txBody>
      </p:sp>
      <p:grpSp>
        <p:nvGrpSpPr>
          <p:cNvPr id="18" name="그룹 17"/>
          <p:cNvGrpSpPr/>
          <p:nvPr/>
        </p:nvGrpSpPr>
        <p:grpSpPr>
          <a:xfrm>
            <a:off x="402827" y="703557"/>
            <a:ext cx="6863600" cy="246221"/>
            <a:chOff x="402827" y="1287503"/>
            <a:chExt cx="6863600" cy="246221"/>
          </a:xfrm>
        </p:grpSpPr>
        <p:sp>
          <p:nvSpPr>
            <p:cNvPr id="19" name="TextBox 18"/>
            <p:cNvSpPr txBox="1"/>
            <p:nvPr/>
          </p:nvSpPr>
          <p:spPr>
            <a:xfrm>
              <a:off x="644966" y="1287503"/>
              <a:ext cx="6621461" cy="2462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>
              <a:defPPr>
                <a:defRPr lang="ko-KR"/>
              </a:defPPr>
              <a:lvl2pPr marL="126000" lvl="1" indent="-126000" latinLnBrk="0">
                <a:spcBef>
                  <a:spcPts val="600"/>
                </a:spcBef>
                <a:spcAft>
                  <a:spcPts val="0"/>
                </a:spcAft>
                <a:buFont typeface="Arial" pitchFamily="34" charset="0"/>
                <a:buChar char="•"/>
                <a:defRPr sz="1400" spc="-80">
                  <a:solidFill>
                    <a:srgbClr val="5F5F5F"/>
                  </a:solidFill>
                  <a:latin typeface="맑은 고딕"/>
                </a:defRPr>
              </a:lvl2pPr>
            </a:lstStyle>
            <a:p>
              <a:pPr defTabSz="685800">
                <a:defRPr/>
              </a:pPr>
              <a:r>
                <a:rPr lang="ko-KR" altLang="en-US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실습 환경 </a:t>
              </a:r>
              <a:r>
                <a:rPr lang="en-US" altLang="ko-KR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1) </a:t>
              </a:r>
              <a:r>
                <a:rPr lang="en-US" altLang="ko-KR" sz="1600" dirty="0" err="1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gpu</a:t>
              </a:r>
              <a:r>
                <a:rPr lang="en-US" altLang="ko-KR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ko-KR" altLang="en-US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환경  </a:t>
              </a:r>
              <a:r>
                <a:rPr lang="en-US" altLang="ko-KR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L4 ,  ubuntu, SSD,</a:t>
              </a:r>
              <a:r>
                <a:rPr lang="ko-KR" altLang="en-US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 </a:t>
              </a:r>
              <a:r>
                <a:rPr lang="en-US" altLang="ko-KR" sz="1600" dirty="0">
                  <a:solidFill>
                    <a:prstClr val="black"/>
                  </a:solidFill>
                  <a:latin typeface="Calibri" panose="020F0502020204030204"/>
                  <a:ea typeface="맑은 고딕" panose="020B0503020000020004" pitchFamily="50" charset="-127"/>
                </a:rPr>
                <a:t>200GB</a:t>
              </a:r>
              <a:endParaRPr lang="ko-KR" altLang="en-US" sz="16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endParaRPr>
            </a:p>
          </p:txBody>
        </p:sp>
        <p:grpSp>
          <p:nvGrpSpPr>
            <p:cNvPr id="20" name="그룹 19"/>
            <p:cNvGrpSpPr/>
            <p:nvPr/>
          </p:nvGrpSpPr>
          <p:grpSpPr>
            <a:xfrm>
              <a:off x="402827" y="1371495"/>
              <a:ext cx="181609" cy="112669"/>
              <a:chOff x="412072" y="2422510"/>
              <a:chExt cx="181609" cy="112669"/>
            </a:xfrm>
          </p:grpSpPr>
          <p:sp>
            <p:nvSpPr>
              <p:cNvPr id="21" name="타원 20"/>
              <p:cNvSpPr/>
              <p:nvPr/>
            </p:nvSpPr>
            <p:spPr>
              <a:xfrm>
                <a:off x="481012" y="2422510"/>
                <a:ext cx="112669" cy="112669"/>
              </a:xfrm>
              <a:prstGeom prst="ellipse">
                <a:avLst/>
              </a:prstGeom>
              <a:solidFill>
                <a:srgbClr val="1148B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ko-KR" altLang="en-US">
                  <a:solidFill>
                    <a:prstClr val="white"/>
                  </a:solidFill>
                  <a:latin typeface="Segoe UI" panose="020B0502040204020203" pitchFamily="34" charset="0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22" name="타원 21"/>
              <p:cNvSpPr/>
              <p:nvPr/>
            </p:nvSpPr>
            <p:spPr>
              <a:xfrm>
                <a:off x="412072" y="2422510"/>
                <a:ext cx="112669" cy="112669"/>
              </a:xfrm>
              <a:prstGeom prst="ellipse">
                <a:avLst/>
              </a:prstGeom>
              <a:solidFill>
                <a:srgbClr val="00A8E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ko-KR" altLang="en-US">
                  <a:solidFill>
                    <a:prstClr val="white"/>
                  </a:solidFill>
                  <a:latin typeface="Segoe UI" panose="020B0502040204020203" pitchFamily="34" charset="0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  <p:sp>
            <p:nvSpPr>
              <p:cNvPr id="23" name="타원 23"/>
              <p:cNvSpPr/>
              <p:nvPr/>
            </p:nvSpPr>
            <p:spPr>
              <a:xfrm>
                <a:off x="481012" y="2435392"/>
                <a:ext cx="43730" cy="86904"/>
              </a:xfrm>
              <a:custGeom>
                <a:avLst/>
                <a:gdLst/>
                <a:ahLst/>
                <a:cxnLst/>
                <a:rect l="l" t="t" r="r" b="b"/>
                <a:pathLst>
                  <a:path w="43730" h="86904">
                    <a:moveTo>
                      <a:pt x="21865" y="0"/>
                    </a:moveTo>
                    <a:cubicBezTo>
                      <a:pt x="35400" y="9636"/>
                      <a:pt x="43730" y="25571"/>
                      <a:pt x="43730" y="43452"/>
                    </a:cubicBezTo>
                    <a:cubicBezTo>
                      <a:pt x="43730" y="61333"/>
                      <a:pt x="35400" y="77268"/>
                      <a:pt x="21865" y="86904"/>
                    </a:cubicBezTo>
                    <a:cubicBezTo>
                      <a:pt x="8330" y="77268"/>
                      <a:pt x="0" y="61333"/>
                      <a:pt x="0" y="43452"/>
                    </a:cubicBezTo>
                    <a:cubicBezTo>
                      <a:pt x="0" y="25571"/>
                      <a:pt x="8330" y="9636"/>
                      <a:pt x="21865" y="0"/>
                    </a:cubicBezTo>
                    <a:close/>
                  </a:path>
                </a:pathLst>
              </a:custGeom>
              <a:solidFill>
                <a:srgbClr val="0228A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defRPr/>
                </a:pPr>
                <a:endParaRPr lang="ko-KR" altLang="en-US">
                  <a:solidFill>
                    <a:prstClr val="white"/>
                  </a:solidFill>
                  <a:latin typeface="Segoe UI" panose="020B0502040204020203" pitchFamily="34" charset="0"/>
                  <a:ea typeface="맑은 고딕" panose="020B0503020000020004" pitchFamily="50" charset="-127"/>
                  <a:cs typeface="Segoe UI" panose="020B0502040204020203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8868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98436-C253-C901-AAF4-D26CA024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실습환경 </a:t>
            </a:r>
            <a:r>
              <a:rPr lang="en-US" altLang="ko-KR" dirty="0" err="1"/>
              <a:t>vllm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EA542-90AE-BAA8-48D6-CAA000B56F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5576" y="699542"/>
            <a:ext cx="7993138" cy="215315"/>
          </a:xfrm>
        </p:spPr>
        <p:txBody>
          <a:bodyPr/>
          <a:lstStyle/>
          <a:p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실습 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 </a:t>
            </a:r>
            <a:r>
              <a:rPr lang="en-US" altLang="ko-KR" sz="14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gpu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L4 ,  ubuntu, SSD,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20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0GB</a:t>
            </a:r>
            <a:endParaRPr lang="ko-KR" altLang="en-US" sz="14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310391-2CA0-4708-0F34-915537493D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31540" y="1233125"/>
            <a:ext cx="7993138" cy="3228513"/>
          </a:xfrm>
        </p:spPr>
        <p:txBody>
          <a:bodyPr/>
          <a:lstStyle/>
          <a:p>
            <a:pPr defTabSz="685800">
              <a:lnSpc>
                <a:spcPct val="100000"/>
              </a:lnSpc>
              <a:spcBef>
                <a:spcPts val="500"/>
              </a:spcBef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+mn-cs"/>
              </a:rPr>
              <a:t>Llama 3.1 </a:t>
            </a:r>
            <a:r>
              <a:rPr lang="ko-KR" altLang="en-US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  <a:cs typeface="+mn-cs"/>
              </a:rPr>
              <a:t>을 </a:t>
            </a:r>
            <a:r>
              <a:rPr lang="en-US" altLang="ko-KR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  <a:cs typeface="+mn-cs"/>
              </a:rPr>
              <a:t>local </a:t>
            </a:r>
            <a:r>
              <a:rPr lang="ko-KR" altLang="en-US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  <a:cs typeface="+mn-cs"/>
              </a:rPr>
              <a:t>로 다운로드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맑은 고딕" panose="020B0503020000020004" pitchFamily="50" charset="-127"/>
              <a:cs typeface="+mn-cs"/>
            </a:endParaRPr>
          </a:p>
          <a:p>
            <a:pPr marL="442902" lvl="1" indent="-176209" defTabSz="914400">
              <a:lnSpc>
                <a:spcPct val="100000"/>
              </a:lnSpc>
              <a:spcBef>
                <a:spcPts val="500"/>
              </a:spcBef>
              <a:buSzPct val="130000"/>
              <a:buNone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pip install -U "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huggingface_hub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[cli]"  (</a:t>
            </a:r>
            <a:r>
              <a:rPr lang="en-US" altLang="ko-KR" sz="1000" spc="-30" dirty="0" err="1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conda</a:t>
            </a:r>
            <a:r>
              <a:rPr lang="ko-KR" altLang="en-US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의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base / </a:t>
            </a:r>
            <a:r>
              <a:rPr lang="en-US" altLang="ko-KR" sz="1000" spc="-30" dirty="0" err="1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vllm_env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환경에서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da-DK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mkdir vllm_model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cd</a:t>
            </a:r>
            <a:r>
              <a:rPr kumimoji="0" lang="ko-KR" altLang="en-US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vllm_model</a:t>
            </a:r>
            <a:endParaRPr kumimoji="0" lang="da-DK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da-DK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huggingface-cli login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da-DK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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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lang="da-DK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mkdir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Llama-3.2-3B-Instruct</a:t>
            </a: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lang="da-DK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huggingface-cli download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meta-llama/Llama-3.1-8B-Instruct --local-</a:t>
            </a:r>
            <a:r>
              <a:rPr lang="en-US" altLang="ko-KR" sz="1000" spc="-30" dirty="0" err="1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dir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./Llama-3.1-8B-Instruct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lang="da-DK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huggingface-cli download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meta-llama/Llama-3.2-3B-Instruct --local-</a:t>
            </a:r>
            <a:r>
              <a:rPr lang="en-US" altLang="ko-KR" sz="1000" spc="-30" dirty="0" err="1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dir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./Llama-3.2-3B-Instruct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lang="da-DK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du -sh L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lama-3.1-8B-Instruct</a:t>
            </a: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lang="da-DK" altLang="ko-KR" sz="1000" spc="-30" dirty="0">
              <a:ln>
                <a:noFill/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32CE3EBA-D6FB-5563-770D-3FA8813DD6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0072" y="352789"/>
            <a:ext cx="3497304" cy="27743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72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98436-C253-C901-AAF4-D26CA024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실습환경 </a:t>
            </a:r>
            <a:r>
              <a:rPr lang="en-US" altLang="ko-KR" dirty="0" err="1"/>
              <a:t>vllm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EA542-90AE-BAA8-48D6-CAA000B56F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5576" y="699542"/>
            <a:ext cx="7993138" cy="215315"/>
          </a:xfrm>
        </p:spPr>
        <p:txBody>
          <a:bodyPr/>
          <a:lstStyle/>
          <a:p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실습 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 </a:t>
            </a:r>
            <a:r>
              <a:rPr lang="en-US" altLang="ko-KR" sz="14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gpu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L4 ,  ubuntu, SSD,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00GB</a:t>
            </a:r>
            <a:endParaRPr lang="ko-KR" altLang="en-US" sz="14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310391-2CA0-4708-0F34-915537493D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5288" y="1091273"/>
            <a:ext cx="7993138" cy="1484445"/>
          </a:xfrm>
        </p:spPr>
        <p:txBody>
          <a:bodyPr/>
          <a:lstStyle/>
          <a:p>
            <a:pPr marL="171450" marR="0" lvl="0" indent="-171450" algn="l" defTabSz="6858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Segoe UI" panose="020B0502040204020203" pitchFamily="34" charset="0"/>
              </a:rPr>
              <a:t>Llama 3.1 </a:t>
            </a:r>
            <a:r>
              <a:rPr lang="en-US" altLang="ko-KR" sz="1400" dirty="0" err="1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vllm</a:t>
            </a:r>
            <a:r>
              <a:rPr lang="ko-KR" altLang="en-US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으로 </a:t>
            </a:r>
            <a:r>
              <a:rPr lang="en-US" altLang="ko-KR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serving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conda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create -n 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vllm_env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python=3.9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conda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 activate 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vllm_env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pip install 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serve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Llama-3.2-3B-Instruct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--port 8877 --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dtype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float16 --max-model-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len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2048 --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api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-key token-abc123 --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gpu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-memory-utilization 0.7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endParaRPr lang="ko-KR" alt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A6EED87-584C-38E8-C6DE-567DC37FC3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2243444"/>
            <a:ext cx="6976178" cy="273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06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95850" y="1419622"/>
            <a:ext cx="3355406" cy="162615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LLM </a:t>
            </a:r>
            <a:r>
              <a:rPr kumimoji="0" lang="ko-KR" altLang="en-US" sz="5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활용 </a:t>
            </a:r>
            <a:br>
              <a:rPr kumimoji="0" lang="en-US" altLang="ko-KR" sz="5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</a:br>
            <a:r>
              <a:rPr kumimoji="0" lang="en-US" altLang="ko-KR" sz="40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: Fine Tuning</a:t>
            </a:r>
          </a:p>
        </p:txBody>
      </p:sp>
    </p:spTree>
    <p:extLst>
      <p:ext uri="{BB962C8B-B14F-4D97-AF65-F5344CB8AC3E}">
        <p14:creationId xmlns:p14="http://schemas.microsoft.com/office/powerpoint/2010/main" val="37126907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885865-72D8-FDE2-5D8F-91D0D4064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Tuning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DFD61F-D1FA-5B1F-72BE-BC8C5524F7B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223716"/>
          </a:xfrm>
        </p:spPr>
        <p:txBody>
          <a:bodyPr/>
          <a:lstStyle/>
          <a:p>
            <a:r>
              <a:rPr lang="en-US" altLang="ko-KR" dirty="0"/>
              <a:t>ML Training/Learning  vs  DL Transfer Learning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B63E482-36EF-1395-DB76-3734BDCE94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139" y="1527634"/>
            <a:ext cx="3960439" cy="188178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BF3A35C-BB83-802C-9503-708D03E3C8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4929" y="1095586"/>
            <a:ext cx="4289043" cy="24554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9E7556-E6DB-484F-DDA8-8AF7B8444066}"/>
              </a:ext>
            </a:extLst>
          </p:cNvPr>
          <p:cNvSpPr txBox="1"/>
          <p:nvPr/>
        </p:nvSpPr>
        <p:spPr>
          <a:xfrm>
            <a:off x="840242" y="3909414"/>
            <a:ext cx="30442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ML Training/Learning  vs  DL Transfer Learning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637583-14E6-9730-A50D-70B710431CA0}"/>
              </a:ext>
            </a:extLst>
          </p:cNvPr>
          <p:cNvSpPr txBox="1"/>
          <p:nvPr/>
        </p:nvSpPr>
        <p:spPr>
          <a:xfrm>
            <a:off x="5713570" y="3906047"/>
            <a:ext cx="14507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DL Transfer Learning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99332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03C45AE-1D51-67F5-687A-190B5D49344F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17442" y="827485"/>
            <a:ext cx="6305221" cy="3845268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2CD86806-6A67-5419-B05F-DF1AEBE63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Fine Tuning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01791F-E424-F5DB-41A4-59479751D46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66090"/>
          </a:xfrm>
        </p:spPr>
        <p:txBody>
          <a:bodyPr/>
          <a:lstStyle/>
          <a:p>
            <a:r>
              <a:rPr lang="en-US" altLang="ko-KR" dirty="0"/>
              <a:t>Domain </a:t>
            </a:r>
            <a:r>
              <a:rPr lang="ko-KR" altLang="en-US" dirty="0"/>
              <a:t>특화 지식 추가 학습 필요시</a:t>
            </a:r>
            <a:endParaRPr lang="en-US" altLang="ko-KR" dirty="0"/>
          </a:p>
          <a:p>
            <a:r>
              <a:rPr lang="en-US" altLang="ko-KR" dirty="0"/>
              <a:t>PEFT : Parameter Efficient Fine Tuning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D6538CF6-7B73-62CA-6185-D90A6D18B458}"/>
              </a:ext>
            </a:extLst>
          </p:cNvPr>
          <p:cNvSpPr/>
          <p:nvPr/>
        </p:nvSpPr>
        <p:spPr>
          <a:xfrm>
            <a:off x="5220072" y="827485"/>
            <a:ext cx="2448272" cy="2464345"/>
          </a:xfrm>
          <a:prstGeom prst="rect">
            <a:avLst/>
          </a:prstGeom>
          <a:solidFill>
            <a:schemeClr val="accent1">
              <a:alpha val="2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204A2C-462B-8CD2-2411-FDFEE595992E}"/>
              </a:ext>
            </a:extLst>
          </p:cNvPr>
          <p:cNvSpPr txBox="1"/>
          <p:nvPr/>
        </p:nvSpPr>
        <p:spPr>
          <a:xfrm>
            <a:off x="5366099" y="3068691"/>
            <a:ext cx="1074012" cy="1692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none" lIns="0" tIns="0" rIns="0" bIns="0" rtlCol="0">
            <a:spAutoFit/>
          </a:bodyPr>
          <a:lstStyle/>
          <a:p>
            <a:r>
              <a:rPr lang="en-US" altLang="ko-KR" sz="1100" dirty="0"/>
              <a:t>Domain </a:t>
            </a:r>
            <a:r>
              <a:rPr lang="ko-KR" altLang="en-US" sz="1100" dirty="0"/>
              <a:t>특화 지식</a:t>
            </a:r>
          </a:p>
        </p:txBody>
      </p:sp>
    </p:spTree>
    <p:extLst>
      <p:ext uri="{BB962C8B-B14F-4D97-AF65-F5344CB8AC3E}">
        <p14:creationId xmlns:p14="http://schemas.microsoft.com/office/powerpoint/2010/main" val="3477931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934FE7-03E2-26CE-D1BC-ACB9FB700F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다양한 </a:t>
            </a:r>
            <a:r>
              <a:rPr lang="en-US" altLang="ko-KR" dirty="0"/>
              <a:t>PEFT </a:t>
            </a:r>
            <a:r>
              <a:rPr lang="ko-KR" altLang="en-US" dirty="0"/>
              <a:t>기법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7AFDD9-0A29-1777-29E0-7F06CFAA8D8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66090"/>
          </a:xfrm>
        </p:spPr>
        <p:txBody>
          <a:bodyPr/>
          <a:lstStyle/>
          <a:p>
            <a:r>
              <a:rPr lang="en-US" altLang="ko-KR" dirty="0"/>
              <a:t>Rather than the traditional method of fine tuning where every parameter of the model is updated, PEFT selectively tunes only a small portion of the model's parameters.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BF93F9-8514-7A30-F143-37C67CE7E1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872" y="1203598"/>
            <a:ext cx="6876256" cy="34067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401D3FD-78F0-BDE4-596B-7E125354923B}"/>
              </a:ext>
            </a:extLst>
          </p:cNvPr>
          <p:cNvSpPr txBox="1"/>
          <p:nvPr/>
        </p:nvSpPr>
        <p:spPr>
          <a:xfrm>
            <a:off x="4843249" y="4626158"/>
            <a:ext cx="391485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altLang="ko-KR" sz="900" b="0" i="0" u="none" strike="noStrike" baseline="0" dirty="0">
                <a:latin typeface="Calibri" panose="020F0502020204030204" pitchFamily="34" charset="0"/>
              </a:rPr>
              <a:t>Source : </a:t>
            </a:r>
            <a:r>
              <a:rPr lang="fr-FR" altLang="ko-KR" sz="900" b="0" i="0" u="none" strike="noStrike" baseline="0" dirty="0">
                <a:solidFill>
                  <a:srgbClr val="0000FF"/>
                </a:solidFill>
                <a:latin typeface="Calibri" panose="020F0502020204030204" pitchFamily="34" charset="0"/>
              </a:rPr>
              <a:t>https://www.mercity.ai/blog-post/fine-tuning-llms-using-peft-and-lora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28389623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DAB03C-BDC4-1D68-AF80-4018766DF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Prompt-Tuning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D2198A6-AE76-CC68-9B28-879E360B8EB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950838"/>
          </a:xfrm>
        </p:spPr>
        <p:txBody>
          <a:bodyPr/>
          <a:lstStyle/>
          <a:p>
            <a:r>
              <a:rPr lang="en-US" altLang="ko-KR" dirty="0"/>
              <a:t>In-context learning </a:t>
            </a:r>
            <a:r>
              <a:rPr lang="ko-KR" altLang="en-US" dirty="0"/>
              <a:t>으로 도 표현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Assumption: The LLM may possess the capability to respond in various domains.</a:t>
            </a:r>
          </a:p>
          <a:p>
            <a:r>
              <a:rPr lang="en-US" altLang="ko-KR" dirty="0"/>
              <a:t>                 we simply have not yet mastered the appropriate method of querying.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24E258-95A9-5E75-5306-6CB0CBCBF2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1660" y="1995686"/>
            <a:ext cx="1795713" cy="23291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E8D435A-0BFB-6F54-DB23-C976ED41A21B}"/>
              </a:ext>
            </a:extLst>
          </p:cNvPr>
          <p:cNvSpPr txBox="1"/>
          <p:nvPr/>
        </p:nvSpPr>
        <p:spPr>
          <a:xfrm>
            <a:off x="4376320" y="2400896"/>
            <a:ext cx="290977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/>
              <a:t>LLM </a:t>
            </a:r>
            <a:r>
              <a:rPr lang="ko-KR" altLang="en-US" sz="1600" dirty="0"/>
              <a:t>이 답변을 잘 할 수 있도록 </a:t>
            </a:r>
            <a:endParaRPr lang="en-US" altLang="ko-KR" sz="1600" dirty="0"/>
          </a:p>
          <a:p>
            <a:r>
              <a:rPr lang="en-US" altLang="ko-KR" sz="1600" dirty="0"/>
              <a:t>Prompt </a:t>
            </a:r>
            <a:r>
              <a:rPr lang="ko-KR" altLang="en-US" sz="1600" dirty="0"/>
              <a:t>작성하는 여러 패턴 들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en-US" altLang="ko-KR" sz="1600" dirty="0"/>
              <a:t>Ex) </a:t>
            </a:r>
            <a:r>
              <a:rPr lang="en-US" altLang="ko-KR" sz="1600" dirty="0" err="1"/>
              <a:t>ReAct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770150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C9A610-B987-D3D8-4AA9-782AC88E0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reparameterization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C79E13-1680-3D85-7E19-852B4DD088F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66090"/>
          </a:xfrm>
        </p:spPr>
        <p:txBody>
          <a:bodyPr/>
          <a:lstStyle/>
          <a:p>
            <a:r>
              <a:rPr lang="en-US" altLang="ko-KR" dirty="0"/>
              <a:t>Assumption: Insert an additional layer that helps it operate in a new domain, </a:t>
            </a:r>
          </a:p>
          <a:p>
            <a:r>
              <a:rPr lang="en-US" altLang="ko-KR" dirty="0"/>
              <a:t>                 and only train this layer.</a:t>
            </a:r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CB78080-45E7-6E12-E447-FF3CD509E00A}"/>
              </a:ext>
            </a:extLst>
          </p:cNvPr>
          <p:cNvSpPr txBox="1"/>
          <p:nvPr/>
        </p:nvSpPr>
        <p:spPr>
          <a:xfrm>
            <a:off x="4716016" y="1833086"/>
            <a:ext cx="385124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600" dirty="0"/>
              <a:t>컨셉</a:t>
            </a:r>
            <a:r>
              <a:rPr lang="en-US" altLang="ko-KR" sz="1600" dirty="0"/>
              <a:t>:</a:t>
            </a:r>
          </a:p>
          <a:p>
            <a:r>
              <a:rPr lang="en-US" altLang="ko-KR" sz="1600" dirty="0"/>
              <a:t>Additional Layer </a:t>
            </a:r>
            <a:r>
              <a:rPr lang="ko-KR" altLang="en-US" sz="1600" dirty="0"/>
              <a:t>를 추가해보자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lang="ko-KR" altLang="en-US" sz="1600" dirty="0"/>
              <a:t>콜럼버스의 달걀</a:t>
            </a:r>
            <a:r>
              <a:rPr lang="en-US" altLang="ko-KR" sz="1600" dirty="0"/>
              <a:t>:</a:t>
            </a:r>
          </a:p>
          <a:p>
            <a:r>
              <a:rPr lang="ko-KR" altLang="en-US" sz="1600" dirty="0"/>
              <a:t>추가되는 </a:t>
            </a:r>
            <a:r>
              <a:rPr lang="en-US" altLang="ko-KR" sz="1600" dirty="0"/>
              <a:t>parameter </a:t>
            </a:r>
            <a:r>
              <a:rPr lang="ko-KR" altLang="en-US" sz="1600" dirty="0"/>
              <a:t>를 어떻게 작게 관리</a:t>
            </a:r>
            <a:r>
              <a:rPr lang="en-US" altLang="ko-KR" sz="1600" dirty="0"/>
              <a:t>?</a:t>
            </a:r>
            <a:endParaRPr lang="ko-KR" altLang="en-US" sz="16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BF1202E2-22E6-D28F-110F-087DB259A0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734" y="1440051"/>
            <a:ext cx="2961453" cy="286294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DB06B9-6D1E-5B24-D13F-8D36F4F705E8}"/>
              </a:ext>
            </a:extLst>
          </p:cNvPr>
          <p:cNvSpPr txBox="1"/>
          <p:nvPr/>
        </p:nvSpPr>
        <p:spPr>
          <a:xfrm>
            <a:off x="3419872" y="3435846"/>
            <a:ext cx="8410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/>
              <a:t>추가 </a:t>
            </a:r>
            <a:endParaRPr lang="en-US" altLang="ko-KR" sz="1200" dirty="0"/>
          </a:p>
          <a:p>
            <a:r>
              <a:rPr lang="en-US" altLang="ko-KR" sz="1200" dirty="0"/>
              <a:t>parameter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81145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D8E95-2655-4439-41AC-F0085A05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LoRA</a:t>
            </a:r>
            <a:r>
              <a:rPr lang="en-US" altLang="ko-KR" dirty="0"/>
              <a:t> (Low-Rank Adaptation)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7CBBA4-434B-5F0F-25ED-8806208FF34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708464"/>
          </a:xfrm>
        </p:spPr>
        <p:txBody>
          <a:bodyPr/>
          <a:lstStyle/>
          <a:p>
            <a:r>
              <a:rPr lang="en-US" altLang="ko-KR" dirty="0"/>
              <a:t>Parameter Efficient Fine Tuning</a:t>
            </a:r>
            <a:r>
              <a:rPr lang="ko-KR" altLang="en-US" dirty="0"/>
              <a:t>의 대표 유형</a:t>
            </a:r>
            <a:endParaRPr lang="en-US" altLang="ko-KR" dirty="0"/>
          </a:p>
          <a:p>
            <a:r>
              <a:rPr lang="ko-KR" altLang="en-US" dirty="0"/>
              <a:t> 전체 </a:t>
            </a:r>
            <a:r>
              <a:rPr lang="en-US" altLang="ko-KR" dirty="0"/>
              <a:t>Weight</a:t>
            </a:r>
            <a:r>
              <a:rPr lang="ko-KR" altLang="en-US" dirty="0"/>
              <a:t>의 가중치를 행렬연산 기반의 근사값으로 업데이트 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CBD61-D521-5E17-1E84-9DFA26B4E4F9}"/>
              </a:ext>
            </a:extLst>
          </p:cNvPr>
          <p:cNvSpPr txBox="1"/>
          <p:nvPr/>
        </p:nvSpPr>
        <p:spPr>
          <a:xfrm>
            <a:off x="441960" y="1304477"/>
            <a:ext cx="8306754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en-US" altLang="ko-KR" sz="1100" b="1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LoRA</a:t>
            </a:r>
            <a:r>
              <a:rPr lang="ko-KR" altLang="en-US" sz="1100" b="1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의 장점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10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 </a:t>
            </a:r>
            <a:r>
              <a:rPr lang="ko-KR" altLang="en-US" sz="1100" b="1" i="0" u="sng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업데이트하는 </a:t>
            </a:r>
            <a:r>
              <a:rPr lang="en-US" altLang="ko-KR" sz="1100" b="1" u="sng" dirty="0">
                <a:solidFill>
                  <a:srgbClr val="172B4D"/>
                </a:solidFill>
                <a:highlight>
                  <a:srgbClr val="FFFFFF"/>
                </a:highlight>
                <a:latin typeface="나눔스퀘어" panose="020B0600000101010101" pitchFamily="50" charset="-127"/>
              </a:rPr>
              <a:t>weight</a:t>
            </a:r>
            <a:r>
              <a:rPr lang="ko-KR" altLang="en-US" sz="1100" b="1" u="sng" dirty="0">
                <a:solidFill>
                  <a:srgbClr val="172B4D"/>
                </a:solidFill>
                <a:highlight>
                  <a:srgbClr val="FFFFFF"/>
                </a:highlight>
                <a:latin typeface="나눔스퀘어" panose="020B0600000101010101" pitchFamily="50" charset="-127"/>
              </a:rPr>
              <a:t>를 극단적으로 줄일 수 있음</a:t>
            </a:r>
            <a:endParaRPr lang="en-US" altLang="ko-KR" sz="1100" b="0" i="0" dirty="0">
              <a:solidFill>
                <a:srgbClr val="172B4D"/>
              </a:solidFill>
              <a:effectLst/>
              <a:highlight>
                <a:srgbClr val="FFFFFF"/>
              </a:highlight>
              <a:latin typeface="나눔스퀘어" panose="020B0600000101010101" pitchFamily="50" charset="-127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1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 Base Model</a:t>
            </a:r>
            <a:r>
              <a:rPr lang="ko-KR" altLang="en-US" sz="11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의 기존 가중치를 유지한 채로</a:t>
            </a:r>
            <a:r>
              <a:rPr lang="en-US" altLang="ko-KR" sz="11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, </a:t>
            </a:r>
            <a:r>
              <a:rPr lang="ko-KR" altLang="en-US" sz="11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사용 목적에 따라서 여러 개의 어댑터만 파인튜닝 가능</a:t>
            </a:r>
            <a:endParaRPr lang="en-US" altLang="ko-KR" sz="1100" b="0" i="0" dirty="0">
              <a:solidFill>
                <a:srgbClr val="172B4D"/>
              </a:solidFill>
              <a:effectLst/>
              <a:highlight>
                <a:srgbClr val="FFFFFF"/>
              </a:highlight>
              <a:latin typeface="나눔스퀘어" panose="020B0600000101010101" pitchFamily="50" charset="-127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 훈련된 어댑터를 별도로 저장하</a:t>
            </a:r>
            <a:r>
              <a:rPr lang="ko-KR" altLang="en-US" sz="1100" dirty="0">
                <a:solidFill>
                  <a:srgbClr val="172B4D"/>
                </a:solidFill>
                <a:highlight>
                  <a:srgbClr val="FFFFFF"/>
                </a:highlight>
                <a:latin typeface="나눔스퀘어" panose="020B0600000101010101" pitchFamily="50" charset="-127"/>
              </a:rPr>
              <a:t>며</a:t>
            </a:r>
            <a:r>
              <a:rPr lang="en-US" altLang="ko-KR" sz="1100" dirty="0">
                <a:solidFill>
                  <a:srgbClr val="172B4D"/>
                </a:solidFill>
                <a:highlight>
                  <a:srgbClr val="FFFFFF"/>
                </a:highlight>
                <a:latin typeface="나눔스퀘어" panose="020B0600000101010101" pitchFamily="50" charset="-127"/>
              </a:rPr>
              <a:t>, </a:t>
            </a:r>
            <a:r>
              <a:rPr lang="ko-KR" altLang="en-US" sz="11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기존 가중치에 더해주는 것으로 병합이 가능하고</a:t>
            </a:r>
            <a:r>
              <a:rPr lang="en-US" altLang="ko-KR" sz="11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, </a:t>
            </a:r>
            <a:r>
              <a:rPr lang="ko-KR" altLang="en-US" sz="1100" b="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병합 후에는 기존 모델과 추론 속도가 동등</a:t>
            </a:r>
            <a:endParaRPr lang="en-US" altLang="ko-KR" sz="1100" b="0" i="0" dirty="0">
              <a:solidFill>
                <a:srgbClr val="172B4D"/>
              </a:solidFill>
              <a:effectLst/>
              <a:highlight>
                <a:srgbClr val="FFFFFF"/>
              </a:highlight>
              <a:latin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6C3792-7127-3ED9-F158-14BB2D5D4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353897"/>
            <a:ext cx="6624736" cy="25753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484CE45-74AB-7574-6CDC-D1E5E8EBD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204" y="2795042"/>
            <a:ext cx="2088232" cy="2181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EFA222-44A5-013A-4FEE-FEE4C8D9D3B7}"/>
              </a:ext>
            </a:extLst>
          </p:cNvPr>
          <p:cNvSpPr txBox="1"/>
          <p:nvPr/>
        </p:nvSpPr>
        <p:spPr>
          <a:xfrm>
            <a:off x="2735796" y="4294189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latin typeface="+mn-ea"/>
              </a:rPr>
              <a:t>70B (700</a:t>
            </a:r>
            <a:r>
              <a:rPr lang="ko-KR" altLang="en-US" sz="900" b="1" dirty="0" err="1">
                <a:latin typeface="+mn-ea"/>
              </a:rPr>
              <a:t>억개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r>
              <a:rPr lang="en-US" altLang="ko-KR" sz="900" b="1" dirty="0">
                <a:latin typeface="+mn-ea"/>
              </a:rPr>
              <a:t>(700000 x 100000)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3C7128-C7FB-5F65-9040-4014383F4E43}"/>
              </a:ext>
            </a:extLst>
          </p:cNvPr>
          <p:cNvSpPr txBox="1"/>
          <p:nvPr/>
        </p:nvSpPr>
        <p:spPr>
          <a:xfrm>
            <a:off x="6394235" y="4155690"/>
            <a:ext cx="13500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latin typeface="+mn-ea"/>
              </a:rPr>
              <a:t>R = 10 </a:t>
            </a:r>
            <a:r>
              <a:rPr lang="ko-KR" altLang="en-US" sz="900" b="1" dirty="0" err="1">
                <a:latin typeface="+mn-ea"/>
              </a:rPr>
              <a:t>일경우</a:t>
            </a:r>
            <a:endParaRPr lang="en-US" altLang="ko-KR" sz="900" b="1" dirty="0">
              <a:latin typeface="+mn-ea"/>
            </a:endParaRPr>
          </a:p>
          <a:p>
            <a:r>
              <a:rPr lang="en-US" altLang="ko-KR" sz="900" b="1" dirty="0">
                <a:latin typeface="+mn-ea"/>
              </a:rPr>
              <a:t>700</a:t>
            </a:r>
            <a:r>
              <a:rPr lang="ko-KR" altLang="en-US" sz="900" b="1" dirty="0">
                <a:latin typeface="+mn-ea"/>
              </a:rPr>
              <a:t>만</a:t>
            </a:r>
            <a:r>
              <a:rPr lang="en-US" altLang="ko-KR" sz="900" b="1" dirty="0">
                <a:latin typeface="+mn-ea"/>
              </a:rPr>
              <a:t>(=700000 x10)</a:t>
            </a:r>
          </a:p>
          <a:p>
            <a:r>
              <a:rPr lang="en-US" altLang="ko-KR" sz="900" b="1" dirty="0">
                <a:latin typeface="+mn-ea"/>
              </a:rPr>
              <a:t>100</a:t>
            </a:r>
            <a:r>
              <a:rPr lang="ko-KR" altLang="en-US" sz="900" b="1" dirty="0">
                <a:latin typeface="+mn-ea"/>
              </a:rPr>
              <a:t>만</a:t>
            </a:r>
            <a:r>
              <a:rPr lang="en-US" altLang="ko-KR" sz="900" b="1" dirty="0">
                <a:latin typeface="+mn-ea"/>
              </a:rPr>
              <a:t>(=10 x 100000)</a:t>
            </a:r>
          </a:p>
          <a:p>
            <a:r>
              <a:rPr lang="ko-KR" altLang="en-US" sz="900" b="1" dirty="0">
                <a:latin typeface="+mn-ea"/>
              </a:rPr>
              <a:t>총 </a:t>
            </a:r>
            <a:r>
              <a:rPr lang="en-US" altLang="ko-KR" sz="900" b="1" dirty="0">
                <a:latin typeface="+mn-ea"/>
              </a:rPr>
              <a:t>800</a:t>
            </a:r>
            <a:r>
              <a:rPr lang="ko-KR" altLang="en-US" sz="900" b="1" dirty="0">
                <a:latin typeface="+mn-ea"/>
              </a:rPr>
              <a:t>만개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C0F7291-75AB-C587-28CC-F00C735861E9}"/>
              </a:ext>
            </a:extLst>
          </p:cNvPr>
          <p:cNvSpPr txBox="1"/>
          <p:nvPr/>
        </p:nvSpPr>
        <p:spPr>
          <a:xfrm>
            <a:off x="4211960" y="325219"/>
            <a:ext cx="374974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>
                <a:hlinkClick r:id="rId4"/>
              </a:rPr>
              <a:t>[2106.09685] </a:t>
            </a:r>
            <a:r>
              <a:rPr lang="en-US" altLang="ko-KR" sz="1000" dirty="0" err="1">
                <a:hlinkClick r:id="rId4"/>
              </a:rPr>
              <a:t>LoRA</a:t>
            </a:r>
            <a:r>
              <a:rPr lang="en-US" altLang="ko-KR" sz="1000" dirty="0">
                <a:hlinkClick r:id="rId4"/>
              </a:rPr>
              <a:t>: Low-Rank Adaptation of Large Language Models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42243811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7C34B-0977-F382-D58C-A840F2DF05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PEFT </a:t>
            </a:r>
            <a:r>
              <a:rPr lang="ko-KR" altLang="en-US" dirty="0"/>
              <a:t>효과 및 장점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3B04061-6596-8799-6D1D-D26BF9C076D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708464"/>
          </a:xfrm>
        </p:spPr>
        <p:txBody>
          <a:bodyPr/>
          <a:lstStyle/>
          <a:p>
            <a:r>
              <a:rPr lang="ko-KR" altLang="en-US" dirty="0"/>
              <a:t>지식 학습으로는 활용이 어려우나</a:t>
            </a:r>
            <a:r>
              <a:rPr lang="en-US" altLang="ko-KR" dirty="0"/>
              <a:t>, </a:t>
            </a:r>
          </a:p>
          <a:p>
            <a:r>
              <a:rPr lang="en-US" altLang="ko-KR" dirty="0"/>
              <a:t>Task </a:t>
            </a:r>
            <a:r>
              <a:rPr lang="ko-KR" altLang="en-US" dirty="0"/>
              <a:t>수행을 위한 </a:t>
            </a:r>
            <a:r>
              <a:rPr lang="en-US" altLang="ko-KR" dirty="0"/>
              <a:t>Instruction Following</a:t>
            </a:r>
            <a:r>
              <a:rPr lang="ko-KR" altLang="en-US" dirty="0"/>
              <a:t>에는 효과적 </a:t>
            </a:r>
            <a:r>
              <a:rPr lang="en-US" altLang="ko-KR" dirty="0"/>
              <a:t>&amp; </a:t>
            </a:r>
            <a:r>
              <a:rPr lang="ko-KR" altLang="en-US" dirty="0"/>
              <a:t>학습 데이터 소량</a:t>
            </a:r>
            <a:r>
              <a:rPr lang="en-US" altLang="ko-KR" dirty="0"/>
              <a:t>, </a:t>
            </a:r>
            <a:r>
              <a:rPr lang="ko-KR" altLang="en-US" dirty="0"/>
              <a:t>학습 시간 단축 가능 </a:t>
            </a:r>
          </a:p>
          <a:p>
            <a:r>
              <a:rPr lang="en-US" altLang="ko-KR" dirty="0"/>
              <a:t>Forgetting </a:t>
            </a:r>
            <a:r>
              <a:rPr lang="ko-KR" altLang="en-US" dirty="0"/>
              <a:t>현상을 최소화하며</a:t>
            </a:r>
            <a:r>
              <a:rPr lang="en-US" altLang="ko-KR" dirty="0"/>
              <a:t>, Instruction Following </a:t>
            </a:r>
            <a:r>
              <a:rPr lang="ko-KR" altLang="en-US" dirty="0"/>
              <a:t>반영 가능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2B97FC72-8DCF-FC52-4681-88BCFF896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651523"/>
            <a:ext cx="4578284" cy="22843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2">
            <a:extLst>
              <a:ext uri="{FF2B5EF4-FFF2-40B4-BE49-F238E27FC236}">
                <a16:creationId xmlns:a16="http://schemas.microsoft.com/office/drawing/2014/main" id="{57835266-4795-2B61-FAD6-73A57197E0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1286" y="1552711"/>
            <a:ext cx="3385255" cy="29490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D234BB9-E277-4547-3960-715669B4C813}"/>
              </a:ext>
            </a:extLst>
          </p:cNvPr>
          <p:cNvSpPr txBox="1"/>
          <p:nvPr/>
        </p:nvSpPr>
        <p:spPr>
          <a:xfrm>
            <a:off x="667914" y="4039656"/>
            <a:ext cx="4006225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>
                <a:solidFill>
                  <a:srgbClr val="2E75B6"/>
                </a:solidFill>
              </a:rPr>
              <a:t>※ MNLI-m:</a:t>
            </a:r>
            <a:r>
              <a:rPr lang="ko-KR" altLang="en-US" sz="900" dirty="0">
                <a:solidFill>
                  <a:srgbClr val="2E75B6"/>
                </a:solidFill>
              </a:rPr>
              <a:t> </a:t>
            </a:r>
            <a:r>
              <a:rPr lang="en-US" altLang="ko-KR" sz="900" dirty="0">
                <a:solidFill>
                  <a:srgbClr val="2E75B6"/>
                </a:solidFill>
              </a:rPr>
              <a:t>Multi-Genre Natural Language Inference (</a:t>
            </a:r>
            <a:r>
              <a:rPr lang="ko-KR" altLang="en-US" sz="900" dirty="0">
                <a:solidFill>
                  <a:srgbClr val="2E75B6"/>
                </a:solidFill>
              </a:rPr>
              <a:t>대화 및 기록물 </a:t>
            </a:r>
            <a:r>
              <a:rPr lang="en-US" altLang="ko-KR" sz="900" dirty="0">
                <a:solidFill>
                  <a:srgbClr val="2E75B6"/>
                </a:solidFill>
              </a:rPr>
              <a:t>433K Pairs)</a:t>
            </a:r>
          </a:p>
          <a:p>
            <a:r>
              <a:rPr lang="en-US" altLang="ko-KR" sz="900" dirty="0">
                <a:solidFill>
                  <a:srgbClr val="2E75B6"/>
                </a:solidFill>
              </a:rPr>
              <a:t>※ </a:t>
            </a:r>
            <a:r>
              <a:rPr lang="en-US" altLang="ko-KR" sz="900" dirty="0" err="1">
                <a:solidFill>
                  <a:srgbClr val="2E75B6"/>
                </a:solidFill>
              </a:rPr>
              <a:t>SAMSum</a:t>
            </a:r>
            <a:r>
              <a:rPr lang="en-US" altLang="ko-KR" sz="900" dirty="0">
                <a:solidFill>
                  <a:srgbClr val="2E75B6"/>
                </a:solidFill>
              </a:rPr>
              <a:t>: 16K messenger conversion with summary </a:t>
            </a:r>
          </a:p>
          <a:p>
            <a:endParaRPr lang="ko-KR" altLang="en-US" sz="900" dirty="0">
              <a:solidFill>
                <a:srgbClr val="2E75B6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B04F18-3344-528A-3EF4-FA76DB0A0837}"/>
              </a:ext>
            </a:extLst>
          </p:cNvPr>
          <p:cNvSpPr txBox="1"/>
          <p:nvPr/>
        </p:nvSpPr>
        <p:spPr>
          <a:xfrm>
            <a:off x="658019" y="4692273"/>
            <a:ext cx="6096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Source: LOW-RANK ADAPTATION OF LARGE LANGUAGE MODELS, 2023/06</a:t>
            </a:r>
            <a:endParaRPr lang="ko-KR" altLang="en-US" sz="9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B5F895-078E-C903-D9BB-5577C9DDD1A1}"/>
              </a:ext>
            </a:extLst>
          </p:cNvPr>
          <p:cNvSpPr txBox="1"/>
          <p:nvPr/>
        </p:nvSpPr>
        <p:spPr>
          <a:xfrm>
            <a:off x="5437981" y="4692273"/>
            <a:ext cx="331073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900" dirty="0"/>
              <a:t>Source: LoRA Learns Less and Forgets Less, 2024/05</a:t>
            </a:r>
            <a:endParaRPr lang="ko-KR" altLang="en-US" sz="900" dirty="0"/>
          </a:p>
        </p:txBody>
      </p:sp>
    </p:spTree>
    <p:extLst>
      <p:ext uri="{BB962C8B-B14F-4D97-AF65-F5344CB8AC3E}">
        <p14:creationId xmlns:p14="http://schemas.microsoft.com/office/powerpoint/2010/main" val="4668878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PEFT </a:t>
            </a:r>
            <a:r>
              <a:rPr lang="ko-KR" altLang="en-US" dirty="0"/>
              <a:t>사용케이스 </a:t>
            </a:r>
            <a:endParaRPr lang="ko-KR" altLang="en-US" sz="1500" dirty="0">
              <a:latin typeface="나눔스퀘어" panose="020B0600000101010101" pitchFamily="50" charset="-127"/>
              <a:ea typeface="나눔스퀘어" panose="020B0600000101010101" pitchFamily="50" charset="-127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4087916-FC47-65DD-96B0-5411B2098544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223716"/>
          </a:xfrm>
        </p:spPr>
        <p:txBody>
          <a:bodyPr/>
          <a:lstStyle/>
          <a:p>
            <a:r>
              <a:rPr lang="en-US" altLang="ko-KR" dirty="0"/>
              <a:t>PEFT</a:t>
            </a:r>
            <a:r>
              <a:rPr lang="ko-KR" altLang="en-US" dirty="0"/>
              <a:t> 학습은 빠르고 효율적으로 진행되지만</a:t>
            </a:r>
            <a:r>
              <a:rPr lang="en-US" altLang="ko-KR" dirty="0"/>
              <a:t>, </a:t>
            </a:r>
            <a:r>
              <a:rPr lang="ko-KR" altLang="en-US" dirty="0"/>
              <a:t>성능 향상에 제약 있을 수 있음</a:t>
            </a:r>
            <a:endParaRPr lang="en-US" altLang="ko-KR" dirty="0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55E1165-FAC9-AC2C-16DA-1A3F3808A4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8989503"/>
              </p:ext>
            </p:extLst>
          </p:nvPr>
        </p:nvGraphicFramePr>
        <p:xfrm>
          <a:off x="395288" y="1029363"/>
          <a:ext cx="8305802" cy="3738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9304">
                  <a:extLst>
                    <a:ext uri="{9D8B030D-6E8A-4147-A177-3AD203B41FA5}">
                      <a16:colId xmlns:a16="http://schemas.microsoft.com/office/drawing/2014/main" val="4283380982"/>
                    </a:ext>
                  </a:extLst>
                </a:gridCol>
                <a:gridCol w="4032448">
                  <a:extLst>
                    <a:ext uri="{9D8B030D-6E8A-4147-A177-3AD203B41FA5}">
                      <a16:colId xmlns:a16="http://schemas.microsoft.com/office/drawing/2014/main" val="2359985901"/>
                    </a:ext>
                  </a:extLst>
                </a:gridCol>
                <a:gridCol w="1734050">
                  <a:extLst>
                    <a:ext uri="{9D8B030D-6E8A-4147-A177-3AD203B41FA5}">
                      <a16:colId xmlns:a16="http://schemas.microsoft.com/office/drawing/2014/main" val="194229260"/>
                    </a:ext>
                  </a:extLst>
                </a:gridCol>
              </a:tblGrid>
              <a:tr h="22658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Category</a:t>
                      </a:r>
                      <a:endParaRPr lang="ko-KR" altLang="en-US" sz="11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Application </a:t>
                      </a:r>
                      <a:endParaRPr lang="ko-KR" altLang="en-US" sz="11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1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Reference</a:t>
                      </a:r>
                      <a:endParaRPr lang="ko-KR" altLang="en-US" sz="1100" dirty="0"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8580" marR="68580" marT="34290" marB="34290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559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508928"/>
                  </a:ext>
                </a:extLst>
              </a:tr>
              <a:tr h="703443">
                <a:tc>
                  <a:txBody>
                    <a:bodyPr/>
                    <a:lstStyle/>
                    <a:p>
                      <a:pPr marL="176213" indent="-176213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① 스타일</a:t>
                      </a:r>
                      <a:r>
                        <a:rPr lang="en-US" altLang="ko-KR" sz="9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톤</a:t>
                      </a:r>
                      <a:r>
                        <a:rPr lang="en-US" altLang="ko-KR" sz="9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형식 또는 기타 답변 품질 측면의 설정 및 개선 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특정 톤과 스타일로 답변 생성 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marL="0" marR="0" lvl="0" indent="0" algn="l" defTabSz="914400" rtl="0" eaLnBrk="1" fontAlgn="t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광고 문구 생성 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개인화된 고객 대응을 위한 대화 어투 조정  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광고 문구 생성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고객 서비스용 답변  생성 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1106711"/>
                  </a:ext>
                </a:extLst>
              </a:tr>
              <a:tr h="785878">
                <a:tc>
                  <a:txBody>
                    <a:bodyPr/>
                    <a:lstStyle/>
                    <a:p>
                      <a:pPr marL="176213" indent="-17621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②원하는 출력을 생성하는 답변 신뢰성을 개선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입력된 컨텐츠의 해석 능력 향상 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금융연관 기사 논조 분석 → 시장예측 및 투자 결정에 활용 </a:t>
                      </a: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고객 반응</a:t>
                      </a: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대응 분석 → 고객 반응을 분석하여 적절한 답변</a:t>
                      </a: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/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대응에 활용 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b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</a:br>
                      <a:endParaRPr lang="ko-KR" altLang="en-US" sz="900" b="0" u="non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537191"/>
                  </a:ext>
                </a:extLst>
              </a:tr>
              <a:tr h="703443">
                <a:tc>
                  <a:txBody>
                    <a:bodyPr/>
                    <a:lstStyle/>
                    <a:p>
                      <a:pPr marL="176213" indent="-17621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③ 프롬프트로 명확히 기술하기 어려운 새로운 업무 또는 작업 수행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특정 영역이나 문맥의 번역 정확도 향상 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특허</a:t>
                      </a: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,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종교 등의 특정 영역의 번역 정확도 향상 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기술 특허 유사도 분류 </a:t>
                      </a: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–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분야별 </a:t>
                      </a:r>
                      <a:r>
                        <a:rPr lang="ko-KR" altLang="en-US" sz="900" b="0" u="none" dirty="0" err="1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파인튜닝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 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756068"/>
                  </a:ext>
                </a:extLst>
              </a:tr>
              <a:tr h="724349">
                <a:tc>
                  <a:txBody>
                    <a:bodyPr/>
                    <a:lstStyle/>
                    <a:p>
                      <a:pPr marL="176213" indent="-17621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④ 복잡한 프롬프트를 제대로 따라하지 못하는 실패 교정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사용자 프롬프트에서 특정 정보 추출</a:t>
                      </a:r>
                      <a:endParaRPr lang="en-US" altLang="ko-KR" sz="900" dirty="0"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- </a:t>
                      </a:r>
                      <a:r>
                        <a:rPr lang="ko-KR" altLang="en-US" sz="900" dirty="0"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특정 상품에 사용자 질의에서 상품명 및 키워드에 대한 데이터 추출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Text2SQL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생성 정확도 향상 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(65% </a:t>
                      </a:r>
                      <a:r>
                        <a:rPr lang="ko-KR" altLang="en-US" sz="900" b="0" u="none" baseline="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→</a:t>
                      </a:r>
                      <a:r>
                        <a:rPr lang="en-US" altLang="ko-KR" sz="900" b="0" u="none" baseline="0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sym typeface="Wingdings" panose="05000000000000000000" pitchFamily="2" charset="2"/>
                        </a:rPr>
                        <a:t> 75%) 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  <a:p>
                      <a:pPr algn="l" fontAlgn="t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Log File, System </a:t>
                      </a:r>
                      <a:r>
                        <a:rPr lang="ko-KR" altLang="en-US" sz="900" b="0" u="none" dirty="0">
                          <a:solidFill>
                            <a:schemeClr val="tx1"/>
                          </a:solidFill>
                          <a:effectLst/>
                          <a:latin typeface="나눔스퀘어" panose="020B0600000101010101" pitchFamily="50" charset="-127"/>
                          <a:ea typeface="나눔스퀘어" panose="020B0600000101010101" pitchFamily="50" charset="-127"/>
                        </a:rPr>
                        <a:t>메시지 해석 </a:t>
                      </a:r>
                      <a:endParaRPr lang="en-US" altLang="ko-KR" sz="900" b="0" u="none" dirty="0">
                        <a:solidFill>
                          <a:schemeClr val="tx1"/>
                        </a:solidFill>
                        <a:effectLst/>
                        <a:latin typeface="나눔스퀘어" panose="020B0600000101010101" pitchFamily="50" charset="-127"/>
                        <a:ea typeface="나눔스퀘어" panose="020B0600000101010101" pitchFamily="50" charset="-127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9544075"/>
                  </a:ext>
                </a:extLst>
              </a:tr>
              <a:tr h="585298">
                <a:tc>
                  <a:txBody>
                    <a:bodyPr/>
                    <a:lstStyle/>
                    <a:p>
                      <a:pPr marL="176213" indent="-176213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⑤ 특정 방식으로 여러 에지 케이스 처리</a:t>
                      </a: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t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특정 유형이나 스타일의 답변을 생성 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  <a:p>
                      <a:pPr marL="0" algn="l" defTabSz="914400" rtl="0" eaLnBrk="1" fontAlgn="t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r>
                        <a:rPr lang="en-US" altLang="ko-KR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- </a:t>
                      </a:r>
                      <a:r>
                        <a:rPr lang="ko-KR" altLang="en-US" sz="900" kern="1200" dirty="0">
                          <a:solidFill>
                            <a:schemeClr val="dk1"/>
                          </a:solidFill>
                          <a:latin typeface="나눔스퀘어" panose="020B0600000101010101" pitchFamily="50" charset="-127"/>
                          <a:ea typeface="나눔스퀘어" panose="020B0600000101010101" pitchFamily="50" charset="-127"/>
                          <a:cs typeface="+mn-cs"/>
                        </a:rPr>
                        <a:t>특정 유형의  코드 생성</a:t>
                      </a:r>
                      <a:endParaRPr lang="en-US" altLang="ko-KR" sz="9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300"/>
                        </a:spcAft>
                      </a:pPr>
                      <a:endParaRPr lang="ko-KR" altLang="en-US" sz="900" kern="1200" dirty="0">
                        <a:solidFill>
                          <a:schemeClr val="dk1"/>
                        </a:solidFill>
                        <a:latin typeface="나눔스퀘어" panose="020B0600000101010101" pitchFamily="50" charset="-127"/>
                        <a:ea typeface="나눔스퀘어" panose="020B0600000101010101" pitchFamily="50" charset="-127"/>
                        <a:cs typeface="+mn-cs"/>
                      </a:endParaRPr>
                    </a:p>
                  </a:txBody>
                  <a:tcPr marL="60524" marR="60524" marT="42367" marB="42367"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5059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583509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BF8FB9-2046-4DAC-FC4C-6B7CCA1BE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Inference Serving </a:t>
            </a:r>
            <a:r>
              <a:rPr lang="ko-KR" altLang="en-US" dirty="0"/>
              <a:t>이슈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DDE0C3-E3E2-A265-1310-40069E9645D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466090"/>
          </a:xfrm>
        </p:spPr>
        <p:txBody>
          <a:bodyPr/>
          <a:lstStyle/>
          <a:p>
            <a:r>
              <a:rPr lang="en-US" altLang="ko-KR" dirty="0" err="1"/>
              <a:t>LoRA</a:t>
            </a:r>
            <a:r>
              <a:rPr lang="en-US" altLang="ko-KR" dirty="0"/>
              <a:t> Adapter</a:t>
            </a:r>
            <a:r>
              <a:rPr lang="ko-KR" altLang="en-US" dirty="0"/>
              <a:t>를 동적으로 </a:t>
            </a:r>
            <a:r>
              <a:rPr lang="ko-KR" altLang="en-US" dirty="0" err="1"/>
              <a:t>로딩하여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en-US" altLang="ko-KR" dirty="0"/>
              <a:t>Base Model Weight</a:t>
            </a:r>
            <a:r>
              <a:rPr lang="ko-KR" altLang="en-US" dirty="0"/>
              <a:t>와 </a:t>
            </a:r>
            <a:r>
              <a:rPr lang="en-US" altLang="ko-KR" dirty="0"/>
              <a:t>Lora Adapter</a:t>
            </a:r>
            <a:r>
              <a:rPr lang="ko-KR" altLang="en-US" dirty="0"/>
              <a:t>연산을 따로 수행하여 결과를 합친 후 추론 결과를 제공</a:t>
            </a: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6C4DF7FD-A847-9EFA-6451-4653EFFCE893}"/>
              </a:ext>
            </a:extLst>
          </p:cNvPr>
          <p:cNvGrpSpPr/>
          <p:nvPr/>
        </p:nvGrpSpPr>
        <p:grpSpPr>
          <a:xfrm>
            <a:off x="985315" y="1252923"/>
            <a:ext cx="6418074" cy="3515071"/>
            <a:chOff x="600093" y="2017187"/>
            <a:chExt cx="7511371" cy="4110563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E6BE9F9-6D65-57EC-FD2B-7BD56CB651F9}"/>
                </a:ext>
              </a:extLst>
            </p:cNvPr>
            <p:cNvSpPr txBox="1"/>
            <p:nvPr/>
          </p:nvSpPr>
          <p:spPr>
            <a:xfrm>
              <a:off x="796757" y="2017187"/>
              <a:ext cx="3139145" cy="243813"/>
            </a:xfrm>
            <a:prstGeom prst="roundRect">
              <a:avLst>
                <a:gd name="adj" fmla="val 50000"/>
              </a:avLst>
            </a:prstGeom>
            <a:solidFill>
              <a:sysClr val="window" lastClr="FFFFFF">
                <a:lumMod val="65000"/>
              </a:sysClr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marL="0" marR="0" lvl="0" indent="0" algn="ctr" defTabSz="121917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1" i="0" u="none" strike="noStrike" kern="0" cap="none" spc="0" normalizeH="0" baseline="0" noProof="0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(AS-IS) Multiple LoRA Model Serving</a:t>
              </a:r>
              <a:endParaRPr kumimoji="0" lang="ko-KR" altLang="en-US" sz="1000" b="1" i="0" u="none" strike="noStrike" kern="0" cap="none" spc="0" normalizeH="0" baseline="0" noProof="0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146C752-0B63-44AD-82BB-1102B7CD7CBB}"/>
                </a:ext>
              </a:extLst>
            </p:cNvPr>
            <p:cNvSpPr txBox="1"/>
            <p:nvPr/>
          </p:nvSpPr>
          <p:spPr>
            <a:xfrm>
              <a:off x="4811295" y="2029680"/>
              <a:ext cx="3139145" cy="243813"/>
            </a:xfrm>
            <a:prstGeom prst="roundRect">
              <a:avLst>
                <a:gd name="adj" fmla="val 50000"/>
              </a:avLst>
            </a:prstGeom>
            <a:solidFill>
              <a:schemeClr val="accent5">
                <a:lumMod val="50000"/>
              </a:schemeClr>
            </a:solidFill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 defTabSz="1219170"/>
              <a:r>
                <a:rPr lang="en-US" altLang="ko-KR" sz="1000" b="1" dirty="0">
                  <a:ln>
                    <a:solidFill>
                      <a:srgbClr val="D9D9D9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(TO-BE) Multi-LoRA Serving</a:t>
              </a:r>
              <a:endParaRPr lang="ko-KR" altLang="en-US" sz="1000" b="1" dirty="0">
                <a:ln>
                  <a:solidFill>
                    <a:srgbClr val="D9D9D9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CD238875-C032-01F7-1154-96CB1F6DF7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123" y="5291533"/>
              <a:ext cx="600554" cy="322075"/>
            </a:xfrm>
            <a:prstGeom prst="rect">
              <a:avLst/>
            </a:prstGeom>
          </p:spPr>
        </p:pic>
        <p:sp>
          <p:nvSpPr>
            <p:cNvPr id="7" name="모서리가 둥근 직사각형 18">
              <a:extLst>
                <a:ext uri="{FF2B5EF4-FFF2-40B4-BE49-F238E27FC236}">
                  <a16:creationId xmlns:a16="http://schemas.microsoft.com/office/drawing/2014/main" id="{F256C199-6CDE-7A18-AD19-2354EC26BCE0}"/>
                </a:ext>
              </a:extLst>
            </p:cNvPr>
            <p:cNvSpPr/>
            <p:nvPr/>
          </p:nvSpPr>
          <p:spPr>
            <a:xfrm>
              <a:off x="706651" y="2765671"/>
              <a:ext cx="751499" cy="2250920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D946E89D-FF48-5584-1296-8EE7D3FD76F3}"/>
                </a:ext>
              </a:extLst>
            </p:cNvPr>
            <p:cNvGrpSpPr/>
            <p:nvPr/>
          </p:nvGrpSpPr>
          <p:grpSpPr>
            <a:xfrm>
              <a:off x="706650" y="3963794"/>
              <a:ext cx="751499" cy="961627"/>
              <a:chOff x="820414" y="4293008"/>
              <a:chExt cx="606582" cy="825425"/>
            </a:xfrm>
          </p:grpSpPr>
          <p:sp>
            <p:nvSpPr>
              <p:cNvPr id="9" name="모서리가 둥근 직사각형 2">
                <a:extLst>
                  <a:ext uri="{FF2B5EF4-FFF2-40B4-BE49-F238E27FC236}">
                    <a16:creationId xmlns:a16="http://schemas.microsoft.com/office/drawing/2014/main" id="{62D3F221-A2DC-BBF4-165C-7E131F46BE52}"/>
                  </a:ext>
                </a:extLst>
              </p:cNvPr>
              <p:cNvSpPr/>
              <p:nvPr/>
            </p:nvSpPr>
            <p:spPr>
              <a:xfrm>
                <a:off x="881333" y="4293008"/>
                <a:ext cx="484745" cy="803079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0190C5E-0562-EC73-C0AD-FDC68D0DC65F}"/>
                  </a:ext>
                </a:extLst>
              </p:cNvPr>
              <p:cNvSpPr txBox="1"/>
              <p:nvPr/>
            </p:nvSpPr>
            <p:spPr>
              <a:xfrm>
                <a:off x="820414" y="4597536"/>
                <a:ext cx="606582" cy="520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LLM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( Base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Model )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</a:endParaRPr>
              </a:p>
            </p:txBody>
          </p:sp>
          <p:pic>
            <p:nvPicPr>
              <p:cNvPr id="11" name="Picture 2" descr="AI - Free computer icons">
                <a:extLst>
                  <a:ext uri="{FF2B5EF4-FFF2-40B4-BE49-F238E27FC236}">
                    <a16:creationId xmlns:a16="http://schemas.microsoft.com/office/drawing/2014/main" id="{7B697273-899B-8A64-A012-520C2AA75DF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duotone>
                  <a:prstClr val="black"/>
                  <a:srgbClr val="4472C4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9110" y="4293009"/>
                <a:ext cx="409190" cy="409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2" name="모서리가 둥근 직사각형 17">
              <a:extLst>
                <a:ext uri="{FF2B5EF4-FFF2-40B4-BE49-F238E27FC236}">
                  <a16:creationId xmlns:a16="http://schemas.microsoft.com/office/drawing/2014/main" id="{67F0B5DD-0B32-24C1-62E2-0C69C912EAAF}"/>
                </a:ext>
              </a:extLst>
            </p:cNvPr>
            <p:cNvSpPr/>
            <p:nvPr/>
          </p:nvSpPr>
          <p:spPr>
            <a:xfrm>
              <a:off x="782122" y="2864927"/>
              <a:ext cx="600554" cy="643234"/>
            </a:xfrm>
            <a:prstGeom prst="roundRect">
              <a:avLst>
                <a:gd name="adj" fmla="val 12857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23438AE6-D376-AB7F-1D70-F12A589889CA}"/>
                </a:ext>
              </a:extLst>
            </p:cNvPr>
            <p:cNvSpPr txBox="1"/>
            <p:nvPr/>
          </p:nvSpPr>
          <p:spPr>
            <a:xfrm>
              <a:off x="864786" y="2847723"/>
              <a:ext cx="471089" cy="416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5B9BD5">
                      <a:lumMod val="75000"/>
                    </a:srgbClr>
                  </a:solidFill>
                  <a:latin typeface="Bauhaus 93" panose="04030905020B02020C02" pitchFamily="82" charset="0"/>
                  <a:ea typeface="나눔스퀘어" panose="020B0600000101010101" pitchFamily="50" charset="-127"/>
                </a:rPr>
                <a:t>W</a:t>
              </a:r>
              <a:endParaRPr lang="ko-KR" altLang="en-US" dirty="0">
                <a:solidFill>
                  <a:srgbClr val="5B9BD5">
                    <a:lumMod val="75000"/>
                  </a:srgbClr>
                </a:solidFill>
                <a:latin typeface="Bauhaus 93" panose="04030905020B02020C02" pitchFamily="82" charset="0"/>
                <a:ea typeface="나눔스퀘어" panose="020B0600000101010101" pitchFamily="50" charset="-127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15BDC64-06EF-FD86-A48D-3E7DA0ED8B56}"/>
                </a:ext>
              </a:extLst>
            </p:cNvPr>
            <p:cNvSpPr txBox="1"/>
            <p:nvPr/>
          </p:nvSpPr>
          <p:spPr>
            <a:xfrm>
              <a:off x="786152" y="3196519"/>
              <a:ext cx="628354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5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LoRA 1</a:t>
              </a:r>
              <a:endParaRPr lang="ko-KR" altLang="en-US" sz="105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D1C111B2-78A6-0A06-D68A-C61D8C7A04BC}"/>
                </a:ext>
              </a:extLst>
            </p:cNvPr>
            <p:cNvSpPr/>
            <p:nvPr/>
          </p:nvSpPr>
          <p:spPr>
            <a:xfrm>
              <a:off x="978133" y="3618234"/>
              <a:ext cx="244392" cy="20708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+</a:t>
              </a: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0A759ABD-F63C-6C4D-D00F-FE7064547C5B}"/>
                </a:ext>
              </a:extLst>
            </p:cNvPr>
            <p:cNvSpPr txBox="1"/>
            <p:nvPr/>
          </p:nvSpPr>
          <p:spPr>
            <a:xfrm>
              <a:off x="600093" y="2481985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TASK 1</a:t>
              </a:r>
              <a:endParaRPr lang="ko-KR" altLang="en-US" sz="110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972B68A9-7D3D-BC3A-16E2-2D281633907B}"/>
                </a:ext>
              </a:extLst>
            </p:cNvPr>
            <p:cNvCxnSpPr/>
            <p:nvPr/>
          </p:nvCxnSpPr>
          <p:spPr>
            <a:xfrm>
              <a:off x="748225" y="5179398"/>
              <a:ext cx="3249338" cy="594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  <p:sp>
          <p:nvSpPr>
            <p:cNvPr id="18" name="모서리가 둥근 직사각형 28">
              <a:extLst>
                <a:ext uri="{FF2B5EF4-FFF2-40B4-BE49-F238E27FC236}">
                  <a16:creationId xmlns:a16="http://schemas.microsoft.com/office/drawing/2014/main" id="{962AB95D-5C4D-DAA7-98E4-87C17E323B97}"/>
                </a:ext>
              </a:extLst>
            </p:cNvPr>
            <p:cNvSpPr/>
            <p:nvPr/>
          </p:nvSpPr>
          <p:spPr>
            <a:xfrm>
              <a:off x="1567975" y="2766247"/>
              <a:ext cx="751499" cy="2250920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43289270-1E09-D993-2D44-41186A549A23}"/>
                </a:ext>
              </a:extLst>
            </p:cNvPr>
            <p:cNvGrpSpPr/>
            <p:nvPr/>
          </p:nvGrpSpPr>
          <p:grpSpPr>
            <a:xfrm>
              <a:off x="1567974" y="3964371"/>
              <a:ext cx="751499" cy="961627"/>
              <a:chOff x="820414" y="4293008"/>
              <a:chExt cx="606582" cy="825425"/>
            </a:xfrm>
          </p:grpSpPr>
          <p:sp>
            <p:nvSpPr>
              <p:cNvPr id="20" name="모서리가 둥근 직사각형 35">
                <a:extLst>
                  <a:ext uri="{FF2B5EF4-FFF2-40B4-BE49-F238E27FC236}">
                    <a16:creationId xmlns:a16="http://schemas.microsoft.com/office/drawing/2014/main" id="{5DEED4AE-2A27-6A13-58FA-DCEEE3461CA1}"/>
                  </a:ext>
                </a:extLst>
              </p:cNvPr>
              <p:cNvSpPr/>
              <p:nvPr/>
            </p:nvSpPr>
            <p:spPr>
              <a:xfrm>
                <a:off x="881333" y="4293008"/>
                <a:ext cx="484745" cy="803079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5B7B046-F8CA-2CD7-97F8-5747AB0D62BF}"/>
                  </a:ext>
                </a:extLst>
              </p:cNvPr>
              <p:cNvSpPr txBox="1"/>
              <p:nvPr/>
            </p:nvSpPr>
            <p:spPr>
              <a:xfrm>
                <a:off x="820414" y="4597536"/>
                <a:ext cx="606582" cy="520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LLM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( Base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Model )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</a:endParaRPr>
              </a:p>
            </p:txBody>
          </p:sp>
          <p:pic>
            <p:nvPicPr>
              <p:cNvPr id="22" name="Picture 2" descr="AI - Free computer icons">
                <a:extLst>
                  <a:ext uri="{FF2B5EF4-FFF2-40B4-BE49-F238E27FC236}">
                    <a16:creationId xmlns:a16="http://schemas.microsoft.com/office/drawing/2014/main" id="{A98C8D40-72E0-98C1-CAD8-CFC8A1EBB01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duotone>
                  <a:prstClr val="black"/>
                  <a:srgbClr val="4472C4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9110" y="4293009"/>
                <a:ext cx="409190" cy="409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23" name="모서리가 둥근 직사각형 30">
              <a:extLst>
                <a:ext uri="{FF2B5EF4-FFF2-40B4-BE49-F238E27FC236}">
                  <a16:creationId xmlns:a16="http://schemas.microsoft.com/office/drawing/2014/main" id="{35C5FB59-690E-874E-D45D-F0FD2345625F}"/>
                </a:ext>
              </a:extLst>
            </p:cNvPr>
            <p:cNvSpPr/>
            <p:nvPr/>
          </p:nvSpPr>
          <p:spPr>
            <a:xfrm>
              <a:off x="1643445" y="2865504"/>
              <a:ext cx="600554" cy="643234"/>
            </a:xfrm>
            <a:prstGeom prst="roundRect">
              <a:avLst>
                <a:gd name="adj" fmla="val 12857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8F00FF9-884B-7504-ED4A-82FD57EBC761}"/>
                </a:ext>
              </a:extLst>
            </p:cNvPr>
            <p:cNvSpPr txBox="1"/>
            <p:nvPr/>
          </p:nvSpPr>
          <p:spPr>
            <a:xfrm>
              <a:off x="1726109" y="2848300"/>
              <a:ext cx="471089" cy="416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ED7D31">
                      <a:lumMod val="75000"/>
                    </a:srgbClr>
                  </a:solidFill>
                  <a:latin typeface="Bauhaus 93" panose="04030905020B02020C02" pitchFamily="82" charset="0"/>
                  <a:ea typeface="나눔스퀘어" panose="020B0600000101010101" pitchFamily="50" charset="-127"/>
                </a:rPr>
                <a:t>W</a:t>
              </a:r>
              <a:endParaRPr lang="ko-KR" altLang="en-US" dirty="0">
                <a:solidFill>
                  <a:srgbClr val="ED7D31">
                    <a:lumMod val="75000"/>
                  </a:srgbClr>
                </a:solidFill>
                <a:latin typeface="Bauhaus 93" panose="04030905020B02020C02" pitchFamily="82" charset="0"/>
                <a:ea typeface="나눔스퀘어" panose="020B0600000101010101" pitchFamily="50" charset="-127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6FFF2BBB-0609-0CE4-3233-1EAF47ED7D8E}"/>
                </a:ext>
              </a:extLst>
            </p:cNvPr>
            <p:cNvSpPr txBox="1"/>
            <p:nvPr/>
          </p:nvSpPr>
          <p:spPr>
            <a:xfrm>
              <a:off x="1647476" y="3197095"/>
              <a:ext cx="628354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50" b="1" dirty="0" err="1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LoRA</a:t>
              </a:r>
              <a:r>
                <a:rPr lang="en-US" altLang="ko-KR" sz="105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 2</a:t>
              </a:r>
              <a:endParaRPr lang="ko-KR" altLang="en-US" sz="105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sp>
          <p:nvSpPr>
            <p:cNvPr id="26" name="타원 25">
              <a:extLst>
                <a:ext uri="{FF2B5EF4-FFF2-40B4-BE49-F238E27FC236}">
                  <a16:creationId xmlns:a16="http://schemas.microsoft.com/office/drawing/2014/main" id="{28AB2CFA-B145-F8A0-4431-044FDD174837}"/>
                </a:ext>
              </a:extLst>
            </p:cNvPr>
            <p:cNvSpPr/>
            <p:nvPr/>
          </p:nvSpPr>
          <p:spPr>
            <a:xfrm>
              <a:off x="1839457" y="3618811"/>
              <a:ext cx="244392" cy="20708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+</a:t>
              </a: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FDBCC3D-BFF5-69AD-3B82-2B76EB44EEB0}"/>
                </a:ext>
              </a:extLst>
            </p:cNvPr>
            <p:cNvSpPr txBox="1"/>
            <p:nvPr/>
          </p:nvSpPr>
          <p:spPr>
            <a:xfrm>
              <a:off x="1461416" y="2482562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TASK 2</a:t>
              </a:r>
              <a:endParaRPr lang="ko-KR" altLang="en-US" sz="110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sp>
          <p:nvSpPr>
            <p:cNvPr id="28" name="모서리가 둥근 직사각형 39">
              <a:extLst>
                <a:ext uri="{FF2B5EF4-FFF2-40B4-BE49-F238E27FC236}">
                  <a16:creationId xmlns:a16="http://schemas.microsoft.com/office/drawing/2014/main" id="{3AEB8688-DEA1-9282-445F-D7DEF7410A64}"/>
                </a:ext>
              </a:extLst>
            </p:cNvPr>
            <p:cNvSpPr/>
            <p:nvPr/>
          </p:nvSpPr>
          <p:spPr>
            <a:xfrm>
              <a:off x="2426029" y="2765671"/>
              <a:ext cx="751499" cy="2250920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grpSp>
          <p:nvGrpSpPr>
            <p:cNvPr id="29" name="그룹 28">
              <a:extLst>
                <a:ext uri="{FF2B5EF4-FFF2-40B4-BE49-F238E27FC236}">
                  <a16:creationId xmlns:a16="http://schemas.microsoft.com/office/drawing/2014/main" id="{10130EA4-DD4E-1712-B94F-8FF3B4D8C295}"/>
                </a:ext>
              </a:extLst>
            </p:cNvPr>
            <p:cNvGrpSpPr/>
            <p:nvPr/>
          </p:nvGrpSpPr>
          <p:grpSpPr>
            <a:xfrm>
              <a:off x="2426028" y="3963794"/>
              <a:ext cx="751499" cy="961627"/>
              <a:chOff x="820414" y="4293008"/>
              <a:chExt cx="606582" cy="825425"/>
            </a:xfrm>
          </p:grpSpPr>
          <p:sp>
            <p:nvSpPr>
              <p:cNvPr id="30" name="모서리가 둥근 직사각형 46">
                <a:extLst>
                  <a:ext uri="{FF2B5EF4-FFF2-40B4-BE49-F238E27FC236}">
                    <a16:creationId xmlns:a16="http://schemas.microsoft.com/office/drawing/2014/main" id="{01FDB99F-4CD0-37E6-F2F8-718022FD4D84}"/>
                  </a:ext>
                </a:extLst>
              </p:cNvPr>
              <p:cNvSpPr/>
              <p:nvPr/>
            </p:nvSpPr>
            <p:spPr>
              <a:xfrm>
                <a:off x="881333" y="4293008"/>
                <a:ext cx="484745" cy="803079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136B11C-A173-A8B9-4C57-C7654361A881}"/>
                  </a:ext>
                </a:extLst>
              </p:cNvPr>
              <p:cNvSpPr txBox="1"/>
              <p:nvPr/>
            </p:nvSpPr>
            <p:spPr>
              <a:xfrm>
                <a:off x="820414" y="4597536"/>
                <a:ext cx="606582" cy="520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LLM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( Base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Model )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</a:endParaRPr>
              </a:p>
            </p:txBody>
          </p:sp>
          <p:pic>
            <p:nvPicPr>
              <p:cNvPr id="32" name="Picture 2" descr="AI - Free computer icons">
                <a:extLst>
                  <a:ext uri="{FF2B5EF4-FFF2-40B4-BE49-F238E27FC236}">
                    <a16:creationId xmlns:a16="http://schemas.microsoft.com/office/drawing/2014/main" id="{79B594B1-D722-562D-3481-9BBDA3CD884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duotone>
                  <a:prstClr val="black"/>
                  <a:srgbClr val="4472C4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9110" y="4293009"/>
                <a:ext cx="409190" cy="409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3" name="모서리가 둥근 직사각형 41">
              <a:extLst>
                <a:ext uri="{FF2B5EF4-FFF2-40B4-BE49-F238E27FC236}">
                  <a16:creationId xmlns:a16="http://schemas.microsoft.com/office/drawing/2014/main" id="{BC2CBD30-E64A-7A8F-05FA-7D8ECE5B5A9B}"/>
                </a:ext>
              </a:extLst>
            </p:cNvPr>
            <p:cNvSpPr/>
            <p:nvPr/>
          </p:nvSpPr>
          <p:spPr>
            <a:xfrm>
              <a:off x="2501499" y="2864927"/>
              <a:ext cx="600554" cy="643234"/>
            </a:xfrm>
            <a:prstGeom prst="roundRect">
              <a:avLst>
                <a:gd name="adj" fmla="val 12857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BDF130EC-4FD4-606D-0CF7-4E06020AED78}"/>
                </a:ext>
              </a:extLst>
            </p:cNvPr>
            <p:cNvSpPr txBox="1"/>
            <p:nvPr/>
          </p:nvSpPr>
          <p:spPr>
            <a:xfrm>
              <a:off x="2584163" y="2847723"/>
              <a:ext cx="471089" cy="416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A5A5A5">
                      <a:lumMod val="75000"/>
                    </a:srgbClr>
                  </a:solidFill>
                  <a:latin typeface="Bauhaus 93" panose="04030905020B02020C02" pitchFamily="82" charset="0"/>
                  <a:ea typeface="나눔스퀘어" panose="020B0600000101010101" pitchFamily="50" charset="-127"/>
                </a:rPr>
                <a:t>W</a:t>
              </a:r>
              <a:endParaRPr lang="ko-KR" altLang="en-US" dirty="0">
                <a:solidFill>
                  <a:srgbClr val="A5A5A5">
                    <a:lumMod val="75000"/>
                  </a:srgbClr>
                </a:solidFill>
                <a:latin typeface="Bauhaus 93" panose="04030905020B02020C02" pitchFamily="82" charset="0"/>
                <a:ea typeface="나눔스퀘어" panose="020B0600000101010101" pitchFamily="50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D2A708D-DE11-1AB3-B5AE-81F306E3E89E}"/>
                </a:ext>
              </a:extLst>
            </p:cNvPr>
            <p:cNvSpPr txBox="1"/>
            <p:nvPr/>
          </p:nvSpPr>
          <p:spPr>
            <a:xfrm>
              <a:off x="2505530" y="3196519"/>
              <a:ext cx="628354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50" b="1" dirty="0" err="1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LoRA</a:t>
              </a:r>
              <a:r>
                <a:rPr lang="en-US" altLang="ko-KR" sz="105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 3</a:t>
              </a:r>
              <a:endParaRPr lang="ko-KR" altLang="en-US" sz="105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sp>
          <p:nvSpPr>
            <p:cNvPr id="36" name="타원 35">
              <a:extLst>
                <a:ext uri="{FF2B5EF4-FFF2-40B4-BE49-F238E27FC236}">
                  <a16:creationId xmlns:a16="http://schemas.microsoft.com/office/drawing/2014/main" id="{B3DBC8DB-ED25-1C40-55E8-E3A05E63D76D}"/>
                </a:ext>
              </a:extLst>
            </p:cNvPr>
            <p:cNvSpPr/>
            <p:nvPr/>
          </p:nvSpPr>
          <p:spPr>
            <a:xfrm>
              <a:off x="2697511" y="3618234"/>
              <a:ext cx="244392" cy="20708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+</a:t>
              </a: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BB6513C5-0A5F-0904-4DA4-E1583242B200}"/>
                </a:ext>
              </a:extLst>
            </p:cNvPr>
            <p:cNvSpPr txBox="1"/>
            <p:nvPr/>
          </p:nvSpPr>
          <p:spPr>
            <a:xfrm>
              <a:off x="2319470" y="2481985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TASK 3</a:t>
              </a:r>
              <a:endParaRPr lang="ko-KR" altLang="en-US" sz="110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sp>
          <p:nvSpPr>
            <p:cNvPr id="38" name="모서리가 둥근 직사각형 50">
              <a:extLst>
                <a:ext uri="{FF2B5EF4-FFF2-40B4-BE49-F238E27FC236}">
                  <a16:creationId xmlns:a16="http://schemas.microsoft.com/office/drawing/2014/main" id="{09C06C5C-DE4D-ADA2-5D29-E43E319A42F8}"/>
                </a:ext>
              </a:extLst>
            </p:cNvPr>
            <p:cNvSpPr/>
            <p:nvPr/>
          </p:nvSpPr>
          <p:spPr>
            <a:xfrm>
              <a:off x="3301262" y="2765671"/>
              <a:ext cx="751499" cy="2250920"/>
            </a:xfrm>
            <a:prstGeom prst="roundRect">
              <a:avLst/>
            </a:prstGeom>
            <a:solidFill>
              <a:sysClr val="window" lastClr="FFFFFF"/>
            </a:solidFill>
            <a:ln w="12700" cap="flat" cmpd="sng" algn="ctr">
              <a:solidFill>
                <a:srgbClr val="ED7D31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grpSp>
          <p:nvGrpSpPr>
            <p:cNvPr id="39" name="그룹 38">
              <a:extLst>
                <a:ext uri="{FF2B5EF4-FFF2-40B4-BE49-F238E27FC236}">
                  <a16:creationId xmlns:a16="http://schemas.microsoft.com/office/drawing/2014/main" id="{A26C3C9E-46D2-6835-FA2F-CFDC88AF947B}"/>
                </a:ext>
              </a:extLst>
            </p:cNvPr>
            <p:cNvGrpSpPr/>
            <p:nvPr/>
          </p:nvGrpSpPr>
          <p:grpSpPr>
            <a:xfrm>
              <a:off x="3301260" y="3963794"/>
              <a:ext cx="751499" cy="961627"/>
              <a:chOff x="820414" y="4293008"/>
              <a:chExt cx="606582" cy="825425"/>
            </a:xfrm>
          </p:grpSpPr>
          <p:sp>
            <p:nvSpPr>
              <p:cNvPr id="40" name="모서리가 둥근 직사각형 57">
                <a:extLst>
                  <a:ext uri="{FF2B5EF4-FFF2-40B4-BE49-F238E27FC236}">
                    <a16:creationId xmlns:a16="http://schemas.microsoft.com/office/drawing/2014/main" id="{F6336583-4D67-DBDC-C4DB-0B2AD22160BF}"/>
                  </a:ext>
                </a:extLst>
              </p:cNvPr>
              <p:cNvSpPr/>
              <p:nvPr/>
            </p:nvSpPr>
            <p:spPr>
              <a:xfrm>
                <a:off x="881333" y="4293008"/>
                <a:ext cx="484745" cy="803079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B1D2794-2EDE-E0C0-E85C-B4D05313BD18}"/>
                  </a:ext>
                </a:extLst>
              </p:cNvPr>
              <p:cNvSpPr txBox="1"/>
              <p:nvPr/>
            </p:nvSpPr>
            <p:spPr>
              <a:xfrm>
                <a:off x="820414" y="4597536"/>
                <a:ext cx="606582" cy="520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LLM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( Base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Model )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</a:endParaRPr>
              </a:p>
            </p:txBody>
          </p:sp>
          <p:pic>
            <p:nvPicPr>
              <p:cNvPr id="42" name="Picture 2" descr="AI - Free computer icons">
                <a:extLst>
                  <a:ext uri="{FF2B5EF4-FFF2-40B4-BE49-F238E27FC236}">
                    <a16:creationId xmlns:a16="http://schemas.microsoft.com/office/drawing/2014/main" id="{6C505B9B-C813-1357-C196-14870C880EB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duotone>
                  <a:prstClr val="black"/>
                  <a:srgbClr val="4472C4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9110" y="4293009"/>
                <a:ext cx="409190" cy="409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43" name="모서리가 둥근 직사각형 52">
              <a:extLst>
                <a:ext uri="{FF2B5EF4-FFF2-40B4-BE49-F238E27FC236}">
                  <a16:creationId xmlns:a16="http://schemas.microsoft.com/office/drawing/2014/main" id="{2EDEA281-547D-6361-BB5A-9B6C361EC72F}"/>
                </a:ext>
              </a:extLst>
            </p:cNvPr>
            <p:cNvSpPr/>
            <p:nvPr/>
          </p:nvSpPr>
          <p:spPr>
            <a:xfrm>
              <a:off x="3376732" y="2864927"/>
              <a:ext cx="600554" cy="643234"/>
            </a:xfrm>
            <a:prstGeom prst="roundRect">
              <a:avLst>
                <a:gd name="adj" fmla="val 12857"/>
              </a:avLst>
            </a:prstGeom>
            <a:solidFill>
              <a:sysClr val="window" lastClr="FFFFFF">
                <a:lumMod val="95000"/>
              </a:sysClr>
            </a:solidFill>
            <a:ln w="12700" cap="flat" cmpd="sng" algn="ctr">
              <a:solidFill>
                <a:sysClr val="window" lastClr="FFFFFF">
                  <a:lumMod val="75000"/>
                </a:sysClr>
              </a:solidFill>
              <a:prstDash val="solid"/>
              <a:miter lim="800000"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AF4D280C-6BF0-D5D8-F77B-E9B3CE36E00C}"/>
                </a:ext>
              </a:extLst>
            </p:cNvPr>
            <p:cNvSpPr txBox="1"/>
            <p:nvPr/>
          </p:nvSpPr>
          <p:spPr>
            <a:xfrm>
              <a:off x="3459396" y="2847723"/>
              <a:ext cx="471089" cy="4161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dirty="0">
                  <a:solidFill>
                    <a:srgbClr val="FFC000">
                      <a:lumMod val="75000"/>
                    </a:srgbClr>
                  </a:solidFill>
                  <a:latin typeface="Bauhaus 93" panose="04030905020B02020C02" pitchFamily="82" charset="0"/>
                  <a:ea typeface="나눔스퀘어" panose="020B0600000101010101" pitchFamily="50" charset="-127"/>
                </a:rPr>
                <a:t>W</a:t>
              </a:r>
              <a:endParaRPr lang="ko-KR" altLang="en-US" dirty="0">
                <a:solidFill>
                  <a:srgbClr val="FFC000">
                    <a:lumMod val="75000"/>
                  </a:srgbClr>
                </a:solidFill>
                <a:latin typeface="Bauhaus 93" panose="04030905020B02020C02" pitchFamily="82" charset="0"/>
                <a:ea typeface="나눔스퀘어" panose="020B0600000101010101" pitchFamily="50" charset="-127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BAA99B4-8F32-E7B2-7B5E-3A7A83B0CBA2}"/>
                </a:ext>
              </a:extLst>
            </p:cNvPr>
            <p:cNvSpPr txBox="1"/>
            <p:nvPr/>
          </p:nvSpPr>
          <p:spPr>
            <a:xfrm>
              <a:off x="3380762" y="3196519"/>
              <a:ext cx="628354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050" b="1" dirty="0" err="1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LoRA</a:t>
              </a:r>
              <a:r>
                <a:rPr lang="en-US" altLang="ko-KR" sz="105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 4</a:t>
              </a:r>
              <a:endParaRPr lang="ko-KR" altLang="en-US" sz="105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sp>
          <p:nvSpPr>
            <p:cNvPr id="46" name="타원 45">
              <a:extLst>
                <a:ext uri="{FF2B5EF4-FFF2-40B4-BE49-F238E27FC236}">
                  <a16:creationId xmlns:a16="http://schemas.microsoft.com/office/drawing/2014/main" id="{A6FE30BC-BE6B-8838-7ACD-05B2ECAEC0AE}"/>
                </a:ext>
              </a:extLst>
            </p:cNvPr>
            <p:cNvSpPr/>
            <p:nvPr/>
          </p:nvSpPr>
          <p:spPr>
            <a:xfrm>
              <a:off x="3572743" y="3618234"/>
              <a:ext cx="244392" cy="207080"/>
            </a:xfrm>
            <a:prstGeom prst="ellipse">
              <a:avLst/>
            </a:prstGeom>
            <a:solidFill>
              <a:sysClr val="windowText" lastClr="000000">
                <a:lumMod val="50000"/>
                <a:lumOff val="50000"/>
              </a:sys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+</a:t>
              </a: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EBEEE43-0E69-DA19-9095-15FCF8527FEC}"/>
                </a:ext>
              </a:extLst>
            </p:cNvPr>
            <p:cNvSpPr txBox="1"/>
            <p:nvPr/>
          </p:nvSpPr>
          <p:spPr>
            <a:xfrm>
              <a:off x="3194703" y="2481985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TASK 4</a:t>
              </a:r>
              <a:endParaRPr lang="ko-KR" altLang="en-US" sz="110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pic>
          <p:nvPicPr>
            <p:cNvPr id="48" name="그림 47">
              <a:extLst>
                <a:ext uri="{FF2B5EF4-FFF2-40B4-BE49-F238E27FC236}">
                  <a16:creationId xmlns:a16="http://schemas.microsoft.com/office/drawing/2014/main" id="{E44EB062-F3CA-7EE1-DCB2-CC09E34D20D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3428" y="5291533"/>
              <a:ext cx="600554" cy="322075"/>
            </a:xfrm>
            <a:prstGeom prst="rect">
              <a:avLst/>
            </a:prstGeom>
          </p:spPr>
        </p:pic>
        <p:pic>
          <p:nvPicPr>
            <p:cNvPr id="49" name="그림 48">
              <a:extLst>
                <a:ext uri="{FF2B5EF4-FFF2-40B4-BE49-F238E27FC236}">
                  <a16:creationId xmlns:a16="http://schemas.microsoft.com/office/drawing/2014/main" id="{E36A762D-C271-C917-499C-A2CF226017C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7223" y="5291533"/>
              <a:ext cx="600554" cy="322075"/>
            </a:xfrm>
            <a:prstGeom prst="rect">
              <a:avLst/>
            </a:prstGeom>
          </p:spPr>
        </p:pic>
        <p:pic>
          <p:nvPicPr>
            <p:cNvPr id="50" name="그림 49">
              <a:extLst>
                <a:ext uri="{FF2B5EF4-FFF2-40B4-BE49-F238E27FC236}">
                  <a16:creationId xmlns:a16="http://schemas.microsoft.com/office/drawing/2014/main" id="{B002EF25-7AF8-FC61-6990-6E6403472D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4895" y="5291533"/>
              <a:ext cx="600554" cy="322075"/>
            </a:xfrm>
            <a:prstGeom prst="rect">
              <a:avLst/>
            </a:prstGeom>
          </p:spPr>
        </p:pic>
        <p:cxnSp>
          <p:nvCxnSpPr>
            <p:cNvPr id="51" name="직선 연결선 50">
              <a:extLst>
                <a:ext uri="{FF2B5EF4-FFF2-40B4-BE49-F238E27FC236}">
                  <a16:creationId xmlns:a16="http://schemas.microsoft.com/office/drawing/2014/main" id="{CD85F6C7-69A4-537A-3753-3CF6B3B74722}"/>
                </a:ext>
              </a:extLst>
            </p:cNvPr>
            <p:cNvCxnSpPr>
              <a:cxnSpLocks/>
              <a:stCxn id="7" idx="2"/>
              <a:endCxn id="6" idx="0"/>
            </p:cNvCxnSpPr>
            <p:nvPr/>
          </p:nvCxnSpPr>
          <p:spPr>
            <a:xfrm flipH="1">
              <a:off x="1082400" y="5016591"/>
              <a:ext cx="1" cy="274942"/>
            </a:xfrm>
            <a:prstGeom prst="line">
              <a:avLst/>
            </a:prstGeom>
            <a:noFill/>
            <a:ln w="22225" cap="flat" cmpd="sng" algn="ctr">
              <a:solidFill>
                <a:srgbClr val="ED7D31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</p:cxnSp>
        <p:cxnSp>
          <p:nvCxnSpPr>
            <p:cNvPr id="52" name="직선 연결선 51">
              <a:extLst>
                <a:ext uri="{FF2B5EF4-FFF2-40B4-BE49-F238E27FC236}">
                  <a16:creationId xmlns:a16="http://schemas.microsoft.com/office/drawing/2014/main" id="{64E4852E-E601-58E7-C71D-36A3FC579D96}"/>
                </a:ext>
              </a:extLst>
            </p:cNvPr>
            <p:cNvCxnSpPr>
              <a:cxnSpLocks/>
              <a:stCxn id="18" idx="2"/>
              <a:endCxn id="48" idx="0"/>
            </p:cNvCxnSpPr>
            <p:nvPr/>
          </p:nvCxnSpPr>
          <p:spPr>
            <a:xfrm>
              <a:off x="1943724" y="5017167"/>
              <a:ext cx="9979" cy="274366"/>
            </a:xfrm>
            <a:prstGeom prst="line">
              <a:avLst/>
            </a:prstGeom>
            <a:noFill/>
            <a:ln w="22225" cap="flat" cmpd="sng" algn="ctr">
              <a:solidFill>
                <a:srgbClr val="ED7D31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</p:cxn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AA7FDD64-ACBB-685C-6BEE-5125BE9385D3}"/>
                </a:ext>
              </a:extLst>
            </p:cNvPr>
            <p:cNvCxnSpPr>
              <a:cxnSpLocks/>
              <a:stCxn id="28" idx="2"/>
              <a:endCxn id="49" idx="0"/>
            </p:cNvCxnSpPr>
            <p:nvPr/>
          </p:nvCxnSpPr>
          <p:spPr>
            <a:xfrm flipH="1">
              <a:off x="2797500" y="5016591"/>
              <a:ext cx="4279" cy="274942"/>
            </a:xfrm>
            <a:prstGeom prst="line">
              <a:avLst/>
            </a:prstGeom>
            <a:noFill/>
            <a:ln w="22225" cap="flat" cmpd="sng" algn="ctr">
              <a:solidFill>
                <a:srgbClr val="ED7D31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48020D5D-F93A-1C1A-4A5E-A2AE6E2CF471}"/>
                </a:ext>
              </a:extLst>
            </p:cNvPr>
            <p:cNvCxnSpPr>
              <a:cxnSpLocks/>
              <a:stCxn id="38" idx="2"/>
              <a:endCxn id="50" idx="0"/>
            </p:cNvCxnSpPr>
            <p:nvPr/>
          </p:nvCxnSpPr>
          <p:spPr>
            <a:xfrm>
              <a:off x="3677012" y="5016591"/>
              <a:ext cx="8159" cy="274942"/>
            </a:xfrm>
            <a:prstGeom prst="line">
              <a:avLst/>
            </a:prstGeom>
            <a:noFill/>
            <a:ln w="22225" cap="flat" cmpd="sng" algn="ctr">
              <a:solidFill>
                <a:srgbClr val="ED7D31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</p:cxnSp>
        <p:sp>
          <p:nvSpPr>
            <p:cNvPr id="55" name="모서리가 둥근 직사각형 75">
              <a:extLst>
                <a:ext uri="{FF2B5EF4-FFF2-40B4-BE49-F238E27FC236}">
                  <a16:creationId xmlns:a16="http://schemas.microsoft.com/office/drawing/2014/main" id="{948FAFAC-CF81-FAFB-7E52-E8BDB8B84FC4}"/>
                </a:ext>
              </a:extLst>
            </p:cNvPr>
            <p:cNvSpPr/>
            <p:nvPr/>
          </p:nvSpPr>
          <p:spPr>
            <a:xfrm>
              <a:off x="4628896" y="2799255"/>
              <a:ext cx="3332761" cy="2250920"/>
            </a:xfrm>
            <a:prstGeom prst="roundRect">
              <a:avLst>
                <a:gd name="adj" fmla="val 7295"/>
              </a:avLst>
            </a:prstGeom>
            <a:solidFill>
              <a:srgbClr val="4472C4">
                <a:lumMod val="40000"/>
                <a:lumOff val="60000"/>
              </a:srgbClr>
            </a:solidFill>
            <a:ln w="12700" cap="flat" cmpd="sng" algn="ctr">
              <a:solidFill>
                <a:srgbClr val="ED7D31">
                  <a:lumMod val="40000"/>
                  <a:lumOff val="60000"/>
                </a:srgbClr>
              </a:solidFill>
              <a:prstDash val="solid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BACF502-229F-4117-16BB-CD5143C21C18}"/>
                </a:ext>
              </a:extLst>
            </p:cNvPr>
            <p:cNvSpPr txBox="1"/>
            <p:nvPr/>
          </p:nvSpPr>
          <p:spPr>
            <a:xfrm>
              <a:off x="4552243" y="2494478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TASK 1</a:t>
              </a:r>
              <a:endParaRPr lang="ko-KR" altLang="en-US" sz="110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74F5FD4-EF67-CA33-C26E-0ABC68073FEF}"/>
                </a:ext>
              </a:extLst>
            </p:cNvPr>
            <p:cNvSpPr txBox="1"/>
            <p:nvPr/>
          </p:nvSpPr>
          <p:spPr>
            <a:xfrm>
              <a:off x="5413566" y="2495054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TASK 2</a:t>
              </a:r>
              <a:endParaRPr lang="ko-KR" altLang="en-US" sz="110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616DBD47-8F1F-954D-2C85-6AD98E2A9688}"/>
                </a:ext>
              </a:extLst>
            </p:cNvPr>
            <p:cNvSpPr txBox="1"/>
            <p:nvPr/>
          </p:nvSpPr>
          <p:spPr>
            <a:xfrm>
              <a:off x="6271620" y="2494478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TASK 3</a:t>
              </a:r>
              <a:endParaRPr lang="ko-KR" altLang="en-US" sz="110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0D6F6B28-6CE5-4DC2-910A-8EDEAC6404AF}"/>
                </a:ext>
              </a:extLst>
            </p:cNvPr>
            <p:cNvSpPr txBox="1"/>
            <p:nvPr/>
          </p:nvSpPr>
          <p:spPr>
            <a:xfrm>
              <a:off x="7146853" y="2494478"/>
              <a:ext cx="964611" cy="294755"/>
            </a:xfrm>
            <a:prstGeom prst="rect">
              <a:avLst/>
            </a:prstGeom>
            <a:noFill/>
          </p:spPr>
          <p:txBody>
            <a:bodyPr wrap="square" lIns="0" rIns="0" rtlCol="0">
              <a:spAutoFit/>
            </a:bodyPr>
            <a:lstStyle/>
            <a:p>
              <a:pPr algn="ctr"/>
              <a:r>
                <a:rPr lang="en-US" altLang="ko-KR" sz="1100" b="1" dirty="0">
                  <a:solidFill>
                    <a:prstClr val="black"/>
                  </a:solidFill>
                  <a:latin typeface="Calibri" panose="020F0502020204030204"/>
                  <a:ea typeface="나눔스퀘어" panose="020B0600000101010101" pitchFamily="50" charset="-127"/>
                </a:rPr>
                <a:t>TASK 4</a:t>
              </a:r>
              <a:endParaRPr lang="ko-KR" altLang="en-US" sz="1100" b="1" dirty="0">
                <a:solidFill>
                  <a:prstClr val="black"/>
                </a:solidFill>
                <a:latin typeface="Calibri" panose="020F0502020204030204"/>
                <a:ea typeface="나눔스퀘어" panose="020B0600000101010101" pitchFamily="50" charset="-127"/>
              </a:endParaRPr>
            </a:p>
          </p:txBody>
        </p:sp>
        <p:grpSp>
          <p:nvGrpSpPr>
            <p:cNvPr id="60" name="그룹 59">
              <a:extLst>
                <a:ext uri="{FF2B5EF4-FFF2-40B4-BE49-F238E27FC236}">
                  <a16:creationId xmlns:a16="http://schemas.microsoft.com/office/drawing/2014/main" id="{B2AA78BD-AF79-B6A6-665D-AA5780B187B3}"/>
                </a:ext>
              </a:extLst>
            </p:cNvPr>
            <p:cNvGrpSpPr/>
            <p:nvPr/>
          </p:nvGrpSpPr>
          <p:grpSpPr>
            <a:xfrm>
              <a:off x="4711503" y="2868529"/>
              <a:ext cx="3226995" cy="661014"/>
              <a:chOff x="671600" y="3487415"/>
              <a:chExt cx="2604709" cy="567390"/>
            </a:xfrm>
          </p:grpSpPr>
          <p:sp>
            <p:nvSpPr>
              <p:cNvPr id="61" name="모서리가 둥근 직사각형 81">
                <a:extLst>
                  <a:ext uri="{FF2B5EF4-FFF2-40B4-BE49-F238E27FC236}">
                    <a16:creationId xmlns:a16="http://schemas.microsoft.com/office/drawing/2014/main" id="{9414DC7B-7081-98B7-245A-6B60A43B8516}"/>
                  </a:ext>
                </a:extLst>
              </p:cNvPr>
              <p:cNvSpPr/>
              <p:nvPr/>
            </p:nvSpPr>
            <p:spPr>
              <a:xfrm>
                <a:off x="671600" y="3502182"/>
                <a:ext cx="484745" cy="552128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68E37225-70D6-4C05-9B62-6B0456288DA1}"/>
                  </a:ext>
                </a:extLst>
              </p:cNvPr>
              <p:cNvSpPr txBox="1"/>
              <p:nvPr/>
            </p:nvSpPr>
            <p:spPr>
              <a:xfrm>
                <a:off x="738323" y="3487415"/>
                <a:ext cx="380245" cy="357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5B9BD5">
                        <a:lumMod val="75000"/>
                      </a:srgbClr>
                    </a:solidFill>
                    <a:effectLst/>
                    <a:uLnTx/>
                    <a:uFillTx/>
                    <a:latin typeface="Bauhaus 93" panose="04030905020B02020C02" pitchFamily="82" charset="0"/>
                    <a:ea typeface="나눔스퀘어" panose="020B0600000101010101" pitchFamily="50" charset="-127"/>
                  </a:rPr>
                  <a:t>W</a:t>
                </a: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5B9BD5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8D07E8D0-B857-C8D1-84E3-1A23E1CCAFC2}"/>
                  </a:ext>
                </a:extLst>
              </p:cNvPr>
              <p:cNvSpPr txBox="1"/>
              <p:nvPr/>
            </p:nvSpPr>
            <p:spPr>
              <a:xfrm>
                <a:off x="674853" y="3786808"/>
                <a:ext cx="507184" cy="25300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LoRA</a:t>
                </a: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 1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4" name="모서리가 둥근 직사각형 84">
                <a:extLst>
                  <a:ext uri="{FF2B5EF4-FFF2-40B4-BE49-F238E27FC236}">
                    <a16:creationId xmlns:a16="http://schemas.microsoft.com/office/drawing/2014/main" id="{9615F495-1DA3-0866-0058-787C115751DB}"/>
                  </a:ext>
                </a:extLst>
              </p:cNvPr>
              <p:cNvSpPr/>
              <p:nvPr/>
            </p:nvSpPr>
            <p:spPr>
              <a:xfrm>
                <a:off x="1366828" y="3502677"/>
                <a:ext cx="484745" cy="552128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3CA83690-0066-A4D0-E21B-1BC13C4DAE00}"/>
                  </a:ext>
                </a:extLst>
              </p:cNvPr>
              <p:cNvSpPr txBox="1"/>
              <p:nvPr/>
            </p:nvSpPr>
            <p:spPr>
              <a:xfrm>
                <a:off x="1433551" y="3487910"/>
                <a:ext cx="380245" cy="357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ED7D31">
                        <a:lumMod val="75000"/>
                      </a:srgbClr>
                    </a:solidFill>
                    <a:effectLst/>
                    <a:uLnTx/>
                    <a:uFillTx/>
                    <a:latin typeface="Bauhaus 93" panose="04030905020B02020C02" pitchFamily="82" charset="0"/>
                    <a:ea typeface="나눔스퀘어" panose="020B0600000101010101" pitchFamily="50" charset="-127"/>
                  </a:rPr>
                  <a:t>W</a:t>
                </a: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ED7D31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654FAEC8-54BE-D56F-644E-F5AFCD57CC32}"/>
                  </a:ext>
                </a:extLst>
              </p:cNvPr>
              <p:cNvSpPr txBox="1"/>
              <p:nvPr/>
            </p:nvSpPr>
            <p:spPr>
              <a:xfrm>
                <a:off x="1370081" y="3787303"/>
                <a:ext cx="507184" cy="25300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LoRA</a:t>
                </a: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 2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7" name="모서리가 둥근 직사각형 87">
                <a:extLst>
                  <a:ext uri="{FF2B5EF4-FFF2-40B4-BE49-F238E27FC236}">
                    <a16:creationId xmlns:a16="http://schemas.microsoft.com/office/drawing/2014/main" id="{B83608F7-F10A-E468-D30B-583C2B2A074B}"/>
                  </a:ext>
                </a:extLst>
              </p:cNvPr>
              <p:cNvSpPr/>
              <p:nvPr/>
            </p:nvSpPr>
            <p:spPr>
              <a:xfrm>
                <a:off x="2059417" y="3502182"/>
                <a:ext cx="484745" cy="552128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E40D7B12-49B2-CE84-8E86-AC8A4451E14E}"/>
                  </a:ext>
                </a:extLst>
              </p:cNvPr>
              <p:cNvSpPr txBox="1"/>
              <p:nvPr/>
            </p:nvSpPr>
            <p:spPr>
              <a:xfrm>
                <a:off x="2126140" y="3487415"/>
                <a:ext cx="380245" cy="357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A5A5A5">
                        <a:lumMod val="75000"/>
                      </a:srgbClr>
                    </a:solidFill>
                    <a:effectLst/>
                    <a:uLnTx/>
                    <a:uFillTx/>
                    <a:latin typeface="Bauhaus 93" panose="04030905020B02020C02" pitchFamily="82" charset="0"/>
                    <a:ea typeface="나눔스퀘어" panose="020B0600000101010101" pitchFamily="50" charset="-127"/>
                  </a:rPr>
                  <a:t>W</a:t>
                </a: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A5A5A5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44F5AA1B-FA97-9F4D-B617-DC8FF362BE1D}"/>
                  </a:ext>
                </a:extLst>
              </p:cNvPr>
              <p:cNvSpPr txBox="1"/>
              <p:nvPr/>
            </p:nvSpPr>
            <p:spPr>
              <a:xfrm>
                <a:off x="2062670" y="3786808"/>
                <a:ext cx="507184" cy="25300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LoRA</a:t>
                </a: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 3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70" name="모서리가 둥근 직사각형 90">
                <a:extLst>
                  <a:ext uri="{FF2B5EF4-FFF2-40B4-BE49-F238E27FC236}">
                    <a16:creationId xmlns:a16="http://schemas.microsoft.com/office/drawing/2014/main" id="{194A3901-1FAE-F1FC-82E0-DB0A26026A26}"/>
                  </a:ext>
                </a:extLst>
              </p:cNvPr>
              <p:cNvSpPr/>
              <p:nvPr/>
            </p:nvSpPr>
            <p:spPr>
              <a:xfrm>
                <a:off x="2765872" y="3502182"/>
                <a:ext cx="484745" cy="552128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8569ABA8-C336-E138-A784-77FE0119DD6E}"/>
                  </a:ext>
                </a:extLst>
              </p:cNvPr>
              <p:cNvSpPr txBox="1"/>
              <p:nvPr/>
            </p:nvSpPr>
            <p:spPr>
              <a:xfrm>
                <a:off x="2832595" y="3487415"/>
                <a:ext cx="380245" cy="35718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C000">
                        <a:lumMod val="75000"/>
                      </a:srgbClr>
                    </a:solidFill>
                    <a:effectLst/>
                    <a:uLnTx/>
                    <a:uFillTx/>
                    <a:latin typeface="Bauhaus 93" panose="04030905020B02020C02" pitchFamily="82" charset="0"/>
                    <a:ea typeface="나눔스퀘어" panose="020B0600000101010101" pitchFamily="50" charset="-127"/>
                  </a:rPr>
                  <a:t>W</a:t>
                </a: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srgbClr val="FFC000">
                      <a:lumMod val="75000"/>
                    </a:srgbClr>
                  </a:solidFill>
                  <a:effectLst/>
                  <a:uLnTx/>
                  <a:uFillTx/>
                  <a:latin typeface="Bauhaus 93" panose="04030905020B02020C02" pitchFamily="82" charset="0"/>
                  <a:ea typeface="나눔스퀘어" panose="020B0600000101010101" pitchFamily="50" charset="-127"/>
                </a:endParaRPr>
              </a:p>
            </p:txBody>
          </p: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182E1979-F547-C604-F8B4-0ABD427B6F3A}"/>
                  </a:ext>
                </a:extLst>
              </p:cNvPr>
              <p:cNvSpPr txBox="1"/>
              <p:nvPr/>
            </p:nvSpPr>
            <p:spPr>
              <a:xfrm>
                <a:off x="2769125" y="3786808"/>
                <a:ext cx="507184" cy="253007"/>
              </a:xfrm>
              <a:prstGeom prst="rect">
                <a:avLst/>
              </a:prstGeom>
              <a:noFill/>
            </p:spPr>
            <p:txBody>
              <a:bodyPr wrap="square" lIns="0" rIns="0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1" i="0" u="none" strike="noStrike" kern="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LoRA</a:t>
                </a:r>
                <a:r>
                  <a:rPr kumimoji="0" lang="en-US" altLang="ko-KR" sz="105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 4</a:t>
                </a:r>
                <a:endPara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</a:endParaRPr>
              </a:p>
            </p:txBody>
          </p:sp>
        </p:grpSp>
        <p:sp>
          <p:nvSpPr>
            <p:cNvPr id="73" name="타원 72">
              <a:extLst>
                <a:ext uri="{FF2B5EF4-FFF2-40B4-BE49-F238E27FC236}">
                  <a16:creationId xmlns:a16="http://schemas.microsoft.com/office/drawing/2014/main" id="{D7BFB2E5-73ED-AF86-09A8-4DC7FD8EEBA6}"/>
                </a:ext>
              </a:extLst>
            </p:cNvPr>
            <p:cNvSpPr/>
            <p:nvPr/>
          </p:nvSpPr>
          <p:spPr>
            <a:xfrm>
              <a:off x="6205211" y="3648775"/>
              <a:ext cx="244392" cy="207080"/>
            </a:xfrm>
            <a:prstGeom prst="ellipse">
              <a:avLst/>
            </a:prstGeom>
            <a:solidFill>
              <a:srgbClr val="4472C4">
                <a:lumMod val="50000"/>
              </a:srgbClr>
            </a:solidFill>
            <a:ln w="12700" cap="flat" cmpd="sng" algn="ctr">
              <a:solidFill>
                <a:srgbClr val="5B9BD5">
                  <a:shade val="5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rPr>
                <a:t>+</a:t>
              </a: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pic>
          <p:nvPicPr>
            <p:cNvPr id="74" name="그림 73">
              <a:extLst>
                <a:ext uri="{FF2B5EF4-FFF2-40B4-BE49-F238E27FC236}">
                  <a16:creationId xmlns:a16="http://schemas.microsoft.com/office/drawing/2014/main" id="{8AC55397-2071-D48B-2F31-F0B25FC15D9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7129" y="5304025"/>
              <a:ext cx="600554" cy="322075"/>
            </a:xfrm>
            <a:prstGeom prst="rect">
              <a:avLst/>
            </a:prstGeom>
          </p:spPr>
        </p:pic>
        <p:grpSp>
          <p:nvGrpSpPr>
            <p:cNvPr id="75" name="그룹 74">
              <a:extLst>
                <a:ext uri="{FF2B5EF4-FFF2-40B4-BE49-F238E27FC236}">
                  <a16:creationId xmlns:a16="http://schemas.microsoft.com/office/drawing/2014/main" id="{3CF8F50D-FDD3-416E-FB99-846BC8627607}"/>
                </a:ext>
              </a:extLst>
            </p:cNvPr>
            <p:cNvGrpSpPr/>
            <p:nvPr/>
          </p:nvGrpSpPr>
          <p:grpSpPr>
            <a:xfrm>
              <a:off x="5951656" y="4027874"/>
              <a:ext cx="751499" cy="961627"/>
              <a:chOff x="820414" y="4293008"/>
              <a:chExt cx="606582" cy="825425"/>
            </a:xfrm>
          </p:grpSpPr>
          <p:sp>
            <p:nvSpPr>
              <p:cNvPr id="76" name="모서리가 둥근 직사각형 97">
                <a:extLst>
                  <a:ext uri="{FF2B5EF4-FFF2-40B4-BE49-F238E27FC236}">
                    <a16:creationId xmlns:a16="http://schemas.microsoft.com/office/drawing/2014/main" id="{1FC204E9-AFCE-DD3A-1AAB-5A34386BF3A6}"/>
                  </a:ext>
                </a:extLst>
              </p:cNvPr>
              <p:cNvSpPr/>
              <p:nvPr/>
            </p:nvSpPr>
            <p:spPr>
              <a:xfrm>
                <a:off x="881333" y="4293008"/>
                <a:ext cx="484745" cy="803079"/>
              </a:xfrm>
              <a:prstGeom prst="roundRect">
                <a:avLst>
                  <a:gd name="adj" fmla="val 12857"/>
                </a:avLst>
              </a:prstGeom>
              <a:solidFill>
                <a:sysClr val="window" lastClr="FFFFFF">
                  <a:lumMod val="95000"/>
                </a:sysClr>
              </a:solidFill>
              <a:ln w="12700" cap="flat" cmpd="sng" algn="ctr">
                <a:solidFill>
                  <a:sysClr val="window" lastClr="FFFFFF">
                    <a:lumMod val="75000"/>
                  </a:sysClr>
                </a:solidFill>
                <a:prstDash val="solid"/>
                <a:miter lim="800000"/>
              </a:ln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  <a:cs typeface="+mn-cs"/>
                </a:endParaRPr>
              </a:p>
            </p:txBody>
          </p:sp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1F3EB582-FC89-BC50-DD88-D73121604983}"/>
                  </a:ext>
                </a:extLst>
              </p:cNvPr>
              <p:cNvSpPr txBox="1"/>
              <p:nvPr/>
            </p:nvSpPr>
            <p:spPr>
              <a:xfrm>
                <a:off x="820414" y="4597536"/>
                <a:ext cx="606582" cy="5208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1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LLM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( Base 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나눔스퀘어" panose="020B0600000101010101" pitchFamily="50" charset="-127"/>
                  </a:rPr>
                  <a:t>Model )</a:t>
                </a:r>
                <a:endParaRPr kumimoji="0" lang="ko-KR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나눔스퀘어" panose="020B0600000101010101" pitchFamily="50" charset="-127"/>
                </a:endParaRPr>
              </a:p>
            </p:txBody>
          </p:sp>
          <p:pic>
            <p:nvPicPr>
              <p:cNvPr id="78" name="Picture 2" descr="AI - Free computer icons">
                <a:extLst>
                  <a:ext uri="{FF2B5EF4-FFF2-40B4-BE49-F238E27FC236}">
                    <a16:creationId xmlns:a16="http://schemas.microsoft.com/office/drawing/2014/main" id="{B1423B75-65FF-0AC8-F8CF-A40EC94B97F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screen">
                <a:duotone>
                  <a:prstClr val="black"/>
                  <a:srgbClr val="4472C4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9110" y="4293009"/>
                <a:ext cx="409190" cy="40919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79" name="직선 연결선 78">
              <a:extLst>
                <a:ext uri="{FF2B5EF4-FFF2-40B4-BE49-F238E27FC236}">
                  <a16:creationId xmlns:a16="http://schemas.microsoft.com/office/drawing/2014/main" id="{8C594189-362F-7C38-4371-72DE8DA01143}"/>
                </a:ext>
              </a:extLst>
            </p:cNvPr>
            <p:cNvCxnSpPr/>
            <p:nvPr/>
          </p:nvCxnSpPr>
          <p:spPr>
            <a:xfrm>
              <a:off x="4672007" y="5189748"/>
              <a:ext cx="3249338" cy="5949"/>
            </a:xfrm>
            <a:prstGeom prst="line">
              <a:avLst/>
            </a:prstGeom>
            <a:noFill/>
            <a:ln w="9525" cap="flat" cmpd="sng" algn="ctr">
              <a:solidFill>
                <a:sysClr val="windowText" lastClr="000000">
                  <a:lumMod val="65000"/>
                  <a:lumOff val="35000"/>
                </a:sysClr>
              </a:solidFill>
              <a:prstDash val="solid"/>
              <a:miter lim="800000"/>
            </a:ln>
            <a:effectLst/>
          </p:spPr>
        </p:cxnSp>
        <p:cxnSp>
          <p:nvCxnSpPr>
            <p:cNvPr id="80" name="직선 연결선 79">
              <a:extLst>
                <a:ext uri="{FF2B5EF4-FFF2-40B4-BE49-F238E27FC236}">
                  <a16:creationId xmlns:a16="http://schemas.microsoft.com/office/drawing/2014/main" id="{DE3F27DB-B950-B590-6014-F2F970DA8AEA}"/>
                </a:ext>
              </a:extLst>
            </p:cNvPr>
            <p:cNvCxnSpPr>
              <a:cxnSpLocks/>
              <a:stCxn id="77" idx="2"/>
              <a:endCxn id="74" idx="0"/>
            </p:cNvCxnSpPr>
            <p:nvPr/>
          </p:nvCxnSpPr>
          <p:spPr>
            <a:xfrm>
              <a:off x="6327406" y="4989501"/>
              <a:ext cx="0" cy="314523"/>
            </a:xfrm>
            <a:prstGeom prst="line">
              <a:avLst/>
            </a:prstGeom>
            <a:noFill/>
            <a:ln w="22225" cap="flat" cmpd="sng" algn="ctr">
              <a:solidFill>
                <a:srgbClr val="ED7D31">
                  <a:lumMod val="60000"/>
                  <a:lumOff val="40000"/>
                </a:srgbClr>
              </a:solidFill>
              <a:prstDash val="sysDash"/>
              <a:miter lim="800000"/>
            </a:ln>
            <a:effectLst/>
          </p:spPr>
        </p:cxnSp>
        <p:cxnSp>
          <p:nvCxnSpPr>
            <p:cNvPr id="81" name="꺾인 연결선 93">
              <a:extLst>
                <a:ext uri="{FF2B5EF4-FFF2-40B4-BE49-F238E27FC236}">
                  <a16:creationId xmlns:a16="http://schemas.microsoft.com/office/drawing/2014/main" id="{1EF563BE-51F0-81CE-6692-A0AF9A2F7E36}"/>
                </a:ext>
              </a:extLst>
            </p:cNvPr>
            <p:cNvCxnSpPr>
              <a:stCxn id="61" idx="2"/>
              <a:endCxn id="73" idx="2"/>
            </p:cNvCxnSpPr>
            <p:nvPr/>
          </p:nvCxnSpPr>
          <p:spPr>
            <a:xfrm rot="16200000" flipH="1">
              <a:off x="5496822" y="3043926"/>
              <a:ext cx="223348" cy="1193430"/>
            </a:xfrm>
            <a:prstGeom prst="bentConnector2">
              <a:avLst/>
            </a:prstGeom>
            <a:noFill/>
            <a:ln w="15875" cap="flat" cmpd="sng" algn="ctr">
              <a:solidFill>
                <a:sysClr val="window" lastClr="FFFFFF"/>
              </a:solidFill>
              <a:prstDash val="sysDash"/>
              <a:miter lim="800000"/>
            </a:ln>
            <a:effectLst/>
          </p:spPr>
        </p:cxnSp>
        <p:cxnSp>
          <p:nvCxnSpPr>
            <p:cNvPr id="82" name="꺾인 연결선 107">
              <a:extLst>
                <a:ext uri="{FF2B5EF4-FFF2-40B4-BE49-F238E27FC236}">
                  <a16:creationId xmlns:a16="http://schemas.microsoft.com/office/drawing/2014/main" id="{BCD8081C-64C5-E2C7-F62C-A5F6D7078D4E}"/>
                </a:ext>
              </a:extLst>
            </p:cNvPr>
            <p:cNvCxnSpPr>
              <a:stCxn id="64" idx="2"/>
              <a:endCxn id="73" idx="2"/>
            </p:cNvCxnSpPr>
            <p:nvPr/>
          </p:nvCxnSpPr>
          <p:spPr>
            <a:xfrm rot="16200000" flipH="1">
              <a:off x="5927772" y="3474875"/>
              <a:ext cx="222772" cy="332107"/>
            </a:xfrm>
            <a:prstGeom prst="bentConnector2">
              <a:avLst/>
            </a:prstGeom>
            <a:noFill/>
            <a:ln w="15875" cap="flat" cmpd="sng" algn="ctr">
              <a:solidFill>
                <a:sysClr val="window" lastClr="FFFFFF"/>
              </a:solidFill>
              <a:prstDash val="sysDash"/>
              <a:miter lim="800000"/>
            </a:ln>
            <a:effectLst/>
          </p:spPr>
        </p:cxnSp>
        <p:cxnSp>
          <p:nvCxnSpPr>
            <p:cNvPr id="83" name="꺾인 연결선 110">
              <a:extLst>
                <a:ext uri="{FF2B5EF4-FFF2-40B4-BE49-F238E27FC236}">
                  <a16:creationId xmlns:a16="http://schemas.microsoft.com/office/drawing/2014/main" id="{5DE455B3-70AB-DC13-E79F-5F058305AA14}"/>
                </a:ext>
              </a:extLst>
            </p:cNvPr>
            <p:cNvCxnSpPr>
              <a:stCxn id="67" idx="2"/>
              <a:endCxn id="73" idx="6"/>
            </p:cNvCxnSpPr>
            <p:nvPr/>
          </p:nvCxnSpPr>
          <p:spPr>
            <a:xfrm rot="5400000">
              <a:off x="6478707" y="3499864"/>
              <a:ext cx="223348" cy="281555"/>
            </a:xfrm>
            <a:prstGeom prst="bentConnector2">
              <a:avLst/>
            </a:prstGeom>
            <a:noFill/>
            <a:ln w="15875" cap="flat" cmpd="sng" algn="ctr">
              <a:solidFill>
                <a:sysClr val="window" lastClr="FFFFFF"/>
              </a:solidFill>
              <a:prstDash val="sysDash"/>
              <a:miter lim="800000"/>
            </a:ln>
            <a:effectLst/>
          </p:spPr>
        </p:cxnSp>
        <p:cxnSp>
          <p:nvCxnSpPr>
            <p:cNvPr id="84" name="꺾인 연결선 113">
              <a:extLst>
                <a:ext uri="{FF2B5EF4-FFF2-40B4-BE49-F238E27FC236}">
                  <a16:creationId xmlns:a16="http://schemas.microsoft.com/office/drawing/2014/main" id="{045734F7-1490-1739-42AB-3D995854EBF4}"/>
                </a:ext>
              </a:extLst>
            </p:cNvPr>
            <p:cNvCxnSpPr>
              <a:stCxn id="70" idx="2"/>
              <a:endCxn id="73" idx="6"/>
            </p:cNvCxnSpPr>
            <p:nvPr/>
          </p:nvCxnSpPr>
          <p:spPr>
            <a:xfrm rot="5400000">
              <a:off x="6916323" y="3062247"/>
              <a:ext cx="223348" cy="1156788"/>
            </a:xfrm>
            <a:prstGeom prst="bentConnector2">
              <a:avLst/>
            </a:prstGeom>
            <a:noFill/>
            <a:ln w="15875" cap="flat" cmpd="sng" algn="ctr">
              <a:solidFill>
                <a:sysClr val="window" lastClr="FFFFFF"/>
              </a:solidFill>
              <a:prstDash val="sysDash"/>
              <a:miter lim="800000"/>
            </a:ln>
            <a:effectLst/>
          </p:spPr>
        </p:cxnSp>
        <p:cxnSp>
          <p:nvCxnSpPr>
            <p:cNvPr id="85" name="꺾인 연결선 116">
              <a:extLst>
                <a:ext uri="{FF2B5EF4-FFF2-40B4-BE49-F238E27FC236}">
                  <a16:creationId xmlns:a16="http://schemas.microsoft.com/office/drawing/2014/main" id="{375A3C3E-FD1E-4420-3423-C303101EC57D}"/>
                </a:ext>
              </a:extLst>
            </p:cNvPr>
            <p:cNvCxnSpPr>
              <a:stCxn id="78" idx="0"/>
              <a:endCxn id="73" idx="4"/>
            </p:cNvCxnSpPr>
            <p:nvPr/>
          </p:nvCxnSpPr>
          <p:spPr>
            <a:xfrm rot="5400000" flipH="1" flipV="1">
              <a:off x="6241397" y="3941865"/>
              <a:ext cx="172019" cy="1"/>
            </a:xfrm>
            <a:prstGeom prst="bentConnector3">
              <a:avLst>
                <a:gd name="adj1" fmla="val 50000"/>
              </a:avLst>
            </a:prstGeom>
            <a:noFill/>
            <a:ln w="15875" cap="flat" cmpd="sng" algn="ctr">
              <a:solidFill>
                <a:sysClr val="window" lastClr="FFFFFF"/>
              </a:solidFill>
              <a:prstDash val="sysDash"/>
              <a:miter lim="800000"/>
            </a:ln>
            <a:effectLst/>
          </p:spPr>
        </p:cxnSp>
        <p:sp>
          <p:nvSpPr>
            <p:cNvPr id="86" name="화살표: 오른쪽 85">
              <a:extLst>
                <a:ext uri="{FF2B5EF4-FFF2-40B4-BE49-F238E27FC236}">
                  <a16:creationId xmlns:a16="http://schemas.microsoft.com/office/drawing/2014/main" id="{DBBD5EC9-C306-A25A-6E7B-A8721CA7A150}"/>
                </a:ext>
              </a:extLst>
            </p:cNvPr>
            <p:cNvSpPr/>
            <p:nvPr/>
          </p:nvSpPr>
          <p:spPr>
            <a:xfrm>
              <a:off x="4189090" y="3391017"/>
              <a:ext cx="344722" cy="999759"/>
            </a:xfrm>
            <a:prstGeom prst="rightArrow">
              <a:avLst/>
            </a:prstGeom>
            <a:solidFill>
              <a:srgbClr val="5B9BD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나눔스퀘어" panose="020B0600000101010101" pitchFamily="50" charset="-127"/>
                <a:cs typeface="+mn-cs"/>
              </a:endParaRPr>
            </a:p>
          </p:txBody>
        </p:sp>
        <p:pic>
          <p:nvPicPr>
            <p:cNvPr id="87" name="그림 86">
              <a:extLst>
                <a:ext uri="{FF2B5EF4-FFF2-40B4-BE49-F238E27FC236}">
                  <a16:creationId xmlns:a16="http://schemas.microsoft.com/office/drawing/2014/main" id="{ECF93C02-1A84-1A81-17C1-A7C0D02C31D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123" y="5469333"/>
              <a:ext cx="600554" cy="322075"/>
            </a:xfrm>
            <a:prstGeom prst="rect">
              <a:avLst/>
            </a:prstGeom>
          </p:spPr>
        </p:pic>
        <p:pic>
          <p:nvPicPr>
            <p:cNvPr id="88" name="그림 87">
              <a:extLst>
                <a:ext uri="{FF2B5EF4-FFF2-40B4-BE49-F238E27FC236}">
                  <a16:creationId xmlns:a16="http://schemas.microsoft.com/office/drawing/2014/main" id="{6F36CBEE-6C2E-C11E-293D-EC52E21A30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3428" y="5469333"/>
              <a:ext cx="600554" cy="322075"/>
            </a:xfrm>
            <a:prstGeom prst="rect">
              <a:avLst/>
            </a:prstGeom>
          </p:spPr>
        </p:pic>
        <p:pic>
          <p:nvPicPr>
            <p:cNvPr id="89" name="그림 88">
              <a:extLst>
                <a:ext uri="{FF2B5EF4-FFF2-40B4-BE49-F238E27FC236}">
                  <a16:creationId xmlns:a16="http://schemas.microsoft.com/office/drawing/2014/main" id="{69A5B646-76C1-4913-BEDD-4B551C28766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7223" y="5469333"/>
              <a:ext cx="600554" cy="322075"/>
            </a:xfrm>
            <a:prstGeom prst="rect">
              <a:avLst/>
            </a:prstGeom>
          </p:spPr>
        </p:pic>
        <p:pic>
          <p:nvPicPr>
            <p:cNvPr id="90" name="그림 89">
              <a:extLst>
                <a:ext uri="{FF2B5EF4-FFF2-40B4-BE49-F238E27FC236}">
                  <a16:creationId xmlns:a16="http://schemas.microsoft.com/office/drawing/2014/main" id="{D1E6574C-CEAE-9BEC-AB60-F1C6715B4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4895" y="5469333"/>
              <a:ext cx="600554" cy="322075"/>
            </a:xfrm>
            <a:prstGeom prst="rect">
              <a:avLst/>
            </a:prstGeom>
          </p:spPr>
        </p:pic>
        <p:pic>
          <p:nvPicPr>
            <p:cNvPr id="91" name="그림 90">
              <a:extLst>
                <a:ext uri="{FF2B5EF4-FFF2-40B4-BE49-F238E27FC236}">
                  <a16:creationId xmlns:a16="http://schemas.microsoft.com/office/drawing/2014/main" id="{E17FFA65-847B-8659-98E8-41AFA9D2E2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7129" y="5481825"/>
              <a:ext cx="600554" cy="322075"/>
            </a:xfrm>
            <a:prstGeom prst="rect">
              <a:avLst/>
            </a:prstGeom>
          </p:spPr>
        </p:pic>
        <p:pic>
          <p:nvPicPr>
            <p:cNvPr id="92" name="그림 91">
              <a:extLst>
                <a:ext uri="{FF2B5EF4-FFF2-40B4-BE49-F238E27FC236}">
                  <a16:creationId xmlns:a16="http://schemas.microsoft.com/office/drawing/2014/main" id="{B02BECA0-8E50-BAF0-8892-FAF0B6086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123" y="5621733"/>
              <a:ext cx="600554" cy="322075"/>
            </a:xfrm>
            <a:prstGeom prst="rect">
              <a:avLst/>
            </a:prstGeom>
          </p:spPr>
        </p:pic>
        <p:pic>
          <p:nvPicPr>
            <p:cNvPr id="93" name="그림 92">
              <a:extLst>
                <a:ext uri="{FF2B5EF4-FFF2-40B4-BE49-F238E27FC236}">
                  <a16:creationId xmlns:a16="http://schemas.microsoft.com/office/drawing/2014/main" id="{5E87C40C-51EA-3618-30D1-F8AA27B27D1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3428" y="5621733"/>
              <a:ext cx="600554" cy="322075"/>
            </a:xfrm>
            <a:prstGeom prst="rect">
              <a:avLst/>
            </a:prstGeom>
          </p:spPr>
        </p:pic>
        <p:pic>
          <p:nvPicPr>
            <p:cNvPr id="94" name="그림 93">
              <a:extLst>
                <a:ext uri="{FF2B5EF4-FFF2-40B4-BE49-F238E27FC236}">
                  <a16:creationId xmlns:a16="http://schemas.microsoft.com/office/drawing/2014/main" id="{DA563F93-B064-ECDA-7943-8E2930A3F4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7223" y="5621733"/>
              <a:ext cx="600554" cy="322075"/>
            </a:xfrm>
            <a:prstGeom prst="rect">
              <a:avLst/>
            </a:prstGeom>
          </p:spPr>
        </p:pic>
        <p:pic>
          <p:nvPicPr>
            <p:cNvPr id="95" name="그림 94">
              <a:extLst>
                <a:ext uri="{FF2B5EF4-FFF2-40B4-BE49-F238E27FC236}">
                  <a16:creationId xmlns:a16="http://schemas.microsoft.com/office/drawing/2014/main" id="{3E5D5863-B8DB-192D-5FDC-F7BB17102A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4895" y="5621733"/>
              <a:ext cx="600554" cy="322075"/>
            </a:xfrm>
            <a:prstGeom prst="rect">
              <a:avLst/>
            </a:prstGeom>
          </p:spPr>
        </p:pic>
        <p:pic>
          <p:nvPicPr>
            <p:cNvPr id="96" name="그림 95">
              <a:extLst>
                <a:ext uri="{FF2B5EF4-FFF2-40B4-BE49-F238E27FC236}">
                  <a16:creationId xmlns:a16="http://schemas.microsoft.com/office/drawing/2014/main" id="{CFC1FA0C-322F-203E-4625-BAB9610A211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7129" y="5634225"/>
              <a:ext cx="600554" cy="322075"/>
            </a:xfrm>
            <a:prstGeom prst="rect">
              <a:avLst/>
            </a:prstGeom>
          </p:spPr>
        </p:pic>
        <p:pic>
          <p:nvPicPr>
            <p:cNvPr id="97" name="그림 96">
              <a:extLst>
                <a:ext uri="{FF2B5EF4-FFF2-40B4-BE49-F238E27FC236}">
                  <a16:creationId xmlns:a16="http://schemas.microsoft.com/office/drawing/2014/main" id="{F28FA2D8-976F-98E5-F75B-27BD9EB8093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82123" y="5793183"/>
              <a:ext cx="600554" cy="322075"/>
            </a:xfrm>
            <a:prstGeom prst="rect">
              <a:avLst/>
            </a:prstGeom>
          </p:spPr>
        </p:pic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431F94B1-B9E9-A5E7-EB1C-9152B5B28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53428" y="5793183"/>
              <a:ext cx="600554" cy="322075"/>
            </a:xfrm>
            <a:prstGeom prst="rect">
              <a:avLst/>
            </a:prstGeom>
          </p:spPr>
        </p:pic>
        <p:pic>
          <p:nvPicPr>
            <p:cNvPr id="99" name="그림 98">
              <a:extLst>
                <a:ext uri="{FF2B5EF4-FFF2-40B4-BE49-F238E27FC236}">
                  <a16:creationId xmlns:a16="http://schemas.microsoft.com/office/drawing/2014/main" id="{74E3BE35-DE2E-A326-3178-D7E55F763B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497223" y="5793183"/>
              <a:ext cx="600554" cy="322075"/>
            </a:xfrm>
            <a:prstGeom prst="rect">
              <a:avLst/>
            </a:prstGeom>
          </p:spPr>
        </p:pic>
        <p:pic>
          <p:nvPicPr>
            <p:cNvPr id="100" name="그림 99">
              <a:extLst>
                <a:ext uri="{FF2B5EF4-FFF2-40B4-BE49-F238E27FC236}">
                  <a16:creationId xmlns:a16="http://schemas.microsoft.com/office/drawing/2014/main" id="{CD883E8D-CF18-15ED-3005-BA45A79320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384895" y="5793183"/>
              <a:ext cx="600554" cy="322075"/>
            </a:xfrm>
            <a:prstGeom prst="rect">
              <a:avLst/>
            </a:prstGeom>
          </p:spPr>
        </p:pic>
        <p:pic>
          <p:nvPicPr>
            <p:cNvPr id="101" name="그림 100">
              <a:extLst>
                <a:ext uri="{FF2B5EF4-FFF2-40B4-BE49-F238E27FC236}">
                  <a16:creationId xmlns:a16="http://schemas.microsoft.com/office/drawing/2014/main" id="{6465FA04-08D6-DDDB-26CB-50D5C48991B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27129" y="5805675"/>
              <a:ext cx="600554" cy="322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4488616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198436-C253-C901-AAF4-D26CA0243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실습환경 </a:t>
            </a:r>
            <a:r>
              <a:rPr lang="en-US" altLang="ko-KR" dirty="0" err="1"/>
              <a:t>vllm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2BEA542-90AE-BAA8-48D6-CAA000B56F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5576" y="699542"/>
            <a:ext cx="7993138" cy="215315"/>
          </a:xfrm>
        </p:spPr>
        <p:txBody>
          <a:bodyPr/>
          <a:lstStyle/>
          <a:p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실습 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1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) </a:t>
            </a:r>
            <a:r>
              <a:rPr lang="en-US" altLang="ko-KR" sz="1400" dirty="0" err="1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gpu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환경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L4 ,  ubuntu, SSD,</a:t>
            </a:r>
            <a:r>
              <a:rPr lang="ko-KR" altLang="en-US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 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</a:rPr>
              <a:t>2</a:t>
            </a:r>
            <a:r>
              <a:rPr lang="en-US" altLang="ko-KR" sz="140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00GB</a:t>
            </a:r>
            <a:endParaRPr lang="ko-KR" altLang="en-US" sz="1400" dirty="0">
              <a:solidFill>
                <a:prstClr val="black"/>
              </a:solidFill>
              <a:latin typeface="Calibri" panose="020F0502020204030204"/>
              <a:ea typeface="맑은 고딕" panose="020B0503020000020004" pitchFamily="50" charset="-127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B310391-2CA0-4708-0F34-915537493D8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395288" y="1091273"/>
            <a:ext cx="7993138" cy="3763018"/>
          </a:xfrm>
        </p:spPr>
        <p:txBody>
          <a:bodyPr/>
          <a:lstStyle/>
          <a:p>
            <a:pPr marL="171450" marR="0" lvl="0" indent="-171450" algn="l" defTabSz="6858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ko-KR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맑은 고딕" panose="020B0503020000020004" pitchFamily="50" charset="-127"/>
                <a:cs typeface="Segoe UI" panose="020B0502040204020203" pitchFamily="34" charset="0"/>
              </a:rPr>
              <a:t>Llama 3.2 </a:t>
            </a:r>
            <a:r>
              <a:rPr lang="en-US" altLang="ko-KR" sz="1400" dirty="0" err="1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vllm</a:t>
            </a:r>
            <a:r>
              <a:rPr lang="ko-KR" altLang="en-US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으로 </a:t>
            </a:r>
            <a:r>
              <a:rPr lang="en-US" altLang="ko-KR" sz="1400" dirty="0">
                <a:ln>
                  <a:noFill/>
                </a:ln>
                <a:solidFill>
                  <a:prstClr val="black"/>
                </a:solidFill>
                <a:latin typeface="Calibri" panose="020F0502020204030204"/>
              </a:rPr>
              <a:t>serving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conda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 activate 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vllm_env</a:t>
            </a: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serve </a:t>
            </a:r>
            <a:r>
              <a:rPr lang="en-US" altLang="ko-KR" sz="10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Llama-3.2-3B-Instruct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--port 8877 --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dtype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float16 --max-model-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len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2048 --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api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-key token-abc123 --</a:t>
            </a:r>
            <a:r>
              <a:rPr kumimoji="0" lang="en-US" altLang="ko-KR" sz="10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gpu</a:t>
            </a:r>
            <a:r>
              <a:rPr kumimoji="0" lang="en-US" altLang="ko-KR" sz="10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-memory-utilization 0.7</a:t>
            </a:r>
          </a:p>
          <a:p>
            <a:pPr marL="442902" marR="0" lvl="1" indent="-176209" algn="l" defTabSz="914400" rtl="0" eaLnBrk="1" fontAlgn="auto" latinLnBrk="1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Pct val="130000"/>
              <a:buFontTx/>
              <a:buNone/>
              <a:tabLst/>
              <a:defRPr/>
            </a:pPr>
            <a:endParaRPr kumimoji="0" lang="en-US" altLang="ko-KR" sz="1000" b="0" i="0" u="none" strike="noStrike" kern="1200" cap="none" spc="-3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kumimoji="0" lang="en-US" altLang="ko-KR" sz="12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vllm</a:t>
            </a: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serve </a:t>
            </a:r>
            <a:r>
              <a:rPr lang="en-US" altLang="ko-KR" sz="12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Llama-3.2-3B-Instruct</a:t>
            </a: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--port 8877 --</a:t>
            </a:r>
            <a:r>
              <a:rPr kumimoji="0" lang="en-US" altLang="ko-KR" sz="12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dtype</a:t>
            </a: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float16 --max-model-</a:t>
            </a:r>
            <a:r>
              <a:rPr kumimoji="0" lang="en-US" altLang="ko-KR" sz="12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len</a:t>
            </a: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2048 --</a:t>
            </a:r>
            <a:r>
              <a:rPr kumimoji="0" lang="en-US" altLang="ko-KR" sz="1200" b="0" i="0" u="none" strike="noStrike" kern="1200" cap="none" spc="-3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api</a:t>
            </a:r>
            <a:r>
              <a:rPr kumimoji="0" lang="en-US" altLang="ko-KR" sz="1200" b="0" i="0" u="none" strike="noStrike" kern="1200" cap="none" spc="-3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-key token-abc123</a:t>
            </a:r>
            <a:r>
              <a:rPr lang="en-US" altLang="ko-KR" dirty="0"/>
              <a:t> --enable-lora --lora-modules '{"name": "</a:t>
            </a:r>
            <a:r>
              <a:rPr lang="en-US" altLang="ko-KR" dirty="0" err="1"/>
              <a:t>llama_peft</a:t>
            </a:r>
            <a:r>
              <a:rPr lang="en-US" altLang="ko-KR" dirty="0"/>
              <a:t>", "path": </a:t>
            </a:r>
            <a:r>
              <a:rPr lang="en-US" altLang="ko-KR" dirty="0">
                <a:solidFill>
                  <a:srgbClr val="FF0000"/>
                </a:solidFill>
              </a:rPr>
              <a:t>"/home/</a:t>
            </a:r>
            <a:r>
              <a:rPr lang="en-US" altLang="ko-KR" dirty="0" err="1">
                <a:solidFill>
                  <a:srgbClr val="FF0000"/>
                </a:solidFill>
              </a:rPr>
              <a:t>freenak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en-US" altLang="ko-KR" dirty="0" err="1">
                <a:solidFill>
                  <a:srgbClr val="FF0000"/>
                </a:solidFill>
              </a:rPr>
              <a:t>jupyter</a:t>
            </a:r>
            <a:r>
              <a:rPr lang="en-US" altLang="ko-KR" dirty="0">
                <a:solidFill>
                  <a:srgbClr val="FF0000"/>
                </a:solidFill>
              </a:rPr>
              <a:t>/</a:t>
            </a:r>
            <a:r>
              <a:rPr lang="en-US" altLang="ko-KR" dirty="0" err="1">
                <a:solidFill>
                  <a:srgbClr val="FF0000"/>
                </a:solidFill>
              </a:rPr>
              <a:t>llama_peft</a:t>
            </a:r>
            <a:r>
              <a:rPr lang="en-US" altLang="ko-KR" dirty="0"/>
              <a:t>", "</a:t>
            </a:r>
            <a:r>
              <a:rPr lang="en-US" altLang="ko-KR" dirty="0" err="1"/>
              <a:t>base_model_name</a:t>
            </a:r>
            <a:r>
              <a:rPr lang="en-US" altLang="ko-KR" dirty="0"/>
              <a:t>": "</a:t>
            </a:r>
            <a:r>
              <a:rPr lang="en-US" altLang="ko-KR" sz="1200" spc="-30" dirty="0">
                <a:ln>
                  <a:noFill/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Llama-3.2-3B-Instruct</a:t>
            </a:r>
            <a:r>
              <a:rPr lang="en-US" altLang="ko-KR" dirty="0"/>
              <a:t>"}'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C0A6826-5239-C61D-E3FA-F39ECF0717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9842" y="1854693"/>
            <a:ext cx="2844316" cy="22361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0626699-0BD1-8C42-C02A-96306696733F}"/>
              </a:ext>
            </a:extLst>
          </p:cNvPr>
          <p:cNvSpPr txBox="1"/>
          <p:nvPr/>
        </p:nvSpPr>
        <p:spPr>
          <a:xfrm>
            <a:off x="581694" y="3831890"/>
            <a:ext cx="135966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※ </a:t>
            </a:r>
            <a:r>
              <a:rPr lang="en-US" altLang="ko-KR" sz="1400" dirty="0" err="1"/>
              <a:t>LoRA</a:t>
            </a:r>
            <a:r>
              <a:rPr lang="en-US" altLang="ko-KR" sz="1400" dirty="0"/>
              <a:t> </a:t>
            </a:r>
            <a:r>
              <a:rPr lang="ko-KR" altLang="en-US" sz="1400" dirty="0"/>
              <a:t>튜닝 후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96276DB-FAA2-B549-CDDE-0FBC7E62ED9A}"/>
              </a:ext>
            </a:extLst>
          </p:cNvPr>
          <p:cNvSpPr txBox="1"/>
          <p:nvPr/>
        </p:nvSpPr>
        <p:spPr>
          <a:xfrm>
            <a:off x="6425070" y="3898338"/>
            <a:ext cx="2474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※ </a:t>
            </a:r>
            <a:r>
              <a:rPr lang="ko-KR" altLang="en-US" sz="1400" dirty="0"/>
              <a:t>빨간색 </a:t>
            </a:r>
            <a:r>
              <a:rPr lang="en-US" altLang="ko-KR" sz="1400" dirty="0" err="1"/>
              <a:t>LoRA</a:t>
            </a:r>
            <a:r>
              <a:rPr lang="en-US" altLang="ko-KR" sz="1400" dirty="0"/>
              <a:t> layer </a:t>
            </a:r>
            <a:r>
              <a:rPr lang="ko-KR" altLang="en-US" sz="1400" dirty="0"/>
              <a:t>저장위치</a:t>
            </a:r>
          </a:p>
        </p:txBody>
      </p:sp>
    </p:spTree>
    <p:extLst>
      <p:ext uri="{BB962C8B-B14F-4D97-AF65-F5344CB8AC3E}">
        <p14:creationId xmlns:p14="http://schemas.microsoft.com/office/powerpoint/2010/main" val="36709619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3D8E95-2655-4439-41AC-F0085A05E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LoRA</a:t>
            </a:r>
            <a:r>
              <a:rPr lang="en-US" altLang="ko-KR" dirty="0"/>
              <a:t> (Low-Rank Adaptation) 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7CBBA4-434B-5F0F-25ED-8806208FF34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395290" y="596013"/>
            <a:ext cx="8353424" cy="708464"/>
          </a:xfrm>
        </p:spPr>
        <p:txBody>
          <a:bodyPr/>
          <a:lstStyle/>
          <a:p>
            <a:r>
              <a:rPr lang="en-US" altLang="ko-KR" dirty="0"/>
              <a:t>Parameter Efficient Fine Tuning</a:t>
            </a:r>
            <a:r>
              <a:rPr lang="ko-KR" altLang="en-US" dirty="0"/>
              <a:t>의 대표 유형</a:t>
            </a:r>
            <a:endParaRPr lang="en-US" altLang="ko-KR" dirty="0"/>
          </a:p>
          <a:p>
            <a:r>
              <a:rPr lang="ko-KR" altLang="en-US" dirty="0"/>
              <a:t> 전체 </a:t>
            </a:r>
            <a:r>
              <a:rPr lang="en-US" altLang="ko-KR" dirty="0"/>
              <a:t>Weight</a:t>
            </a:r>
            <a:r>
              <a:rPr lang="ko-KR" altLang="en-US" dirty="0"/>
              <a:t>의 가중치를 행렬연산 기반의 근사값으로 업데이트 </a:t>
            </a:r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8CBD61-D521-5E17-1E84-9DFA26B4E4F9}"/>
              </a:ext>
            </a:extLst>
          </p:cNvPr>
          <p:cNvSpPr txBox="1"/>
          <p:nvPr/>
        </p:nvSpPr>
        <p:spPr>
          <a:xfrm>
            <a:off x="441960" y="1304477"/>
            <a:ext cx="8306754" cy="7540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lang="ko-KR" altLang="en-US" sz="1100" b="1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최적의 </a:t>
            </a:r>
            <a:r>
              <a:rPr lang="en-US" altLang="ko-KR" sz="1100" b="1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r </a:t>
            </a:r>
            <a:r>
              <a:rPr lang="ko-KR" altLang="en-US" sz="1100" b="1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값은 어떻게 도출</a:t>
            </a:r>
            <a:r>
              <a:rPr lang="en-US" altLang="ko-KR" sz="1100" b="1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?</a:t>
            </a:r>
            <a:endParaRPr lang="ko-KR" altLang="en-US" sz="1100" b="1" i="0" dirty="0">
              <a:solidFill>
                <a:srgbClr val="172B4D"/>
              </a:solidFill>
              <a:effectLst/>
              <a:highlight>
                <a:srgbClr val="FFFFFF"/>
              </a:highlight>
              <a:latin typeface="나눔스퀘어" panose="020B0600000101010101" pitchFamily="50" charset="-127"/>
            </a:endParaRP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ko-KR" altLang="en-US" sz="1100" i="0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 </a:t>
            </a:r>
            <a:r>
              <a:rPr lang="en-US" altLang="ko-KR" sz="1100" b="1" i="0" u="sng" dirty="0">
                <a:solidFill>
                  <a:srgbClr val="172B4D"/>
                </a:solidFill>
                <a:effectLst/>
                <a:highlight>
                  <a:srgbClr val="FFFFFF"/>
                </a:highlight>
                <a:latin typeface="나눔스퀘어" panose="020B0600000101010101" pitchFamily="50" charset="-127"/>
              </a:rPr>
              <a:t>Tradeoff between Performance &amp; Memory</a:t>
            </a:r>
          </a:p>
          <a:p>
            <a:pPr algn="l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ko-KR" sz="1100" b="1" dirty="0">
                <a:solidFill>
                  <a:srgbClr val="172B4D"/>
                </a:solidFill>
                <a:highlight>
                  <a:srgbClr val="FFFFFF"/>
                </a:highlight>
                <a:latin typeface="나눔스퀘어" panose="020B0600000101010101" pitchFamily="50" charset="-127"/>
              </a:rPr>
              <a:t> </a:t>
            </a:r>
            <a:r>
              <a:rPr lang="ko-KR" altLang="en-US" sz="1100" b="1" dirty="0">
                <a:solidFill>
                  <a:srgbClr val="172B4D"/>
                </a:solidFill>
                <a:highlight>
                  <a:srgbClr val="FFFFFF"/>
                </a:highlight>
                <a:latin typeface="나눔스퀘어" panose="020B0600000101010101" pitchFamily="50" charset="-127"/>
              </a:rPr>
              <a:t>실험에 의해 도출</a:t>
            </a:r>
            <a:r>
              <a:rPr lang="en-US" altLang="ko-KR" sz="1100" b="1" dirty="0">
                <a:solidFill>
                  <a:srgbClr val="172B4D"/>
                </a:solidFill>
                <a:highlight>
                  <a:srgbClr val="FFFFFF"/>
                </a:highlight>
                <a:latin typeface="나눔스퀘어" panose="020B0600000101010101" pitchFamily="50" charset="-127"/>
              </a:rPr>
              <a:t>/</a:t>
            </a:r>
            <a:r>
              <a:rPr lang="ko-KR" altLang="en-US" sz="1100" b="1" dirty="0">
                <a:solidFill>
                  <a:srgbClr val="172B4D"/>
                </a:solidFill>
                <a:highlight>
                  <a:srgbClr val="FFFFFF"/>
                </a:highlight>
                <a:latin typeface="나눔스퀘어" panose="020B0600000101010101" pitchFamily="50" charset="-127"/>
              </a:rPr>
              <a:t>결정 할 수 밖에 없음</a:t>
            </a:r>
            <a:r>
              <a:rPr lang="en-US" altLang="ko-KR" sz="1100" b="1" dirty="0">
                <a:solidFill>
                  <a:srgbClr val="172B4D"/>
                </a:solidFill>
                <a:highlight>
                  <a:srgbClr val="FFFFFF"/>
                </a:highlight>
                <a:latin typeface="나눔스퀘어" panose="020B0600000101010101" pitchFamily="50" charset="-127"/>
              </a:rPr>
              <a:t>…</a:t>
            </a:r>
            <a:endParaRPr lang="en-US" altLang="ko-KR" sz="1100" b="0" i="0" dirty="0">
              <a:solidFill>
                <a:srgbClr val="172B4D"/>
              </a:solidFill>
              <a:effectLst/>
              <a:highlight>
                <a:srgbClr val="FFFFFF"/>
              </a:highlight>
              <a:latin typeface="나눔스퀘어" panose="020B0600000101010101" pitchFamily="50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6C3792-7127-3ED9-F158-14BB2D5D46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175706"/>
            <a:ext cx="6624736" cy="2575311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A484CE45-74AB-7574-6CDC-D1E5E8EBD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8204" y="2795042"/>
            <a:ext cx="2088232" cy="21817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EEFA222-44A5-013A-4FEE-FEE4C8D9D3B7}"/>
              </a:ext>
            </a:extLst>
          </p:cNvPr>
          <p:cNvSpPr txBox="1"/>
          <p:nvPr/>
        </p:nvSpPr>
        <p:spPr>
          <a:xfrm>
            <a:off x="2735796" y="4294189"/>
            <a:ext cx="1218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latin typeface="+mn-ea"/>
              </a:rPr>
              <a:t>70B (700</a:t>
            </a:r>
            <a:r>
              <a:rPr lang="ko-KR" altLang="en-US" sz="900" b="1" dirty="0" err="1">
                <a:latin typeface="+mn-ea"/>
              </a:rPr>
              <a:t>억개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r>
              <a:rPr lang="en-US" altLang="ko-KR" sz="900" b="1" dirty="0">
                <a:latin typeface="+mn-ea"/>
              </a:rPr>
              <a:t>(700000 x 100000)</a:t>
            </a:r>
            <a:endParaRPr lang="ko-KR" altLang="en-US" sz="900" b="1" dirty="0">
              <a:latin typeface="+mn-ea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33C7128-C7FB-5F65-9040-4014383F4E43}"/>
              </a:ext>
            </a:extLst>
          </p:cNvPr>
          <p:cNvSpPr txBox="1"/>
          <p:nvPr/>
        </p:nvSpPr>
        <p:spPr>
          <a:xfrm>
            <a:off x="6394235" y="4155690"/>
            <a:ext cx="13500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b="1" dirty="0">
                <a:latin typeface="+mn-ea"/>
              </a:rPr>
              <a:t>R = 10 </a:t>
            </a:r>
            <a:r>
              <a:rPr lang="ko-KR" altLang="en-US" sz="900" b="1" dirty="0" err="1">
                <a:latin typeface="+mn-ea"/>
              </a:rPr>
              <a:t>일경우</a:t>
            </a:r>
            <a:endParaRPr lang="en-US" altLang="ko-KR" sz="900" b="1" dirty="0">
              <a:latin typeface="+mn-ea"/>
            </a:endParaRPr>
          </a:p>
          <a:p>
            <a:r>
              <a:rPr lang="en-US" altLang="ko-KR" sz="900" b="1" dirty="0">
                <a:latin typeface="+mn-ea"/>
              </a:rPr>
              <a:t>700</a:t>
            </a:r>
            <a:r>
              <a:rPr lang="ko-KR" altLang="en-US" sz="900" b="1" dirty="0">
                <a:latin typeface="+mn-ea"/>
              </a:rPr>
              <a:t>만</a:t>
            </a:r>
            <a:r>
              <a:rPr lang="en-US" altLang="ko-KR" sz="900" b="1" dirty="0">
                <a:latin typeface="+mn-ea"/>
              </a:rPr>
              <a:t>(=700000 x10)</a:t>
            </a:r>
          </a:p>
          <a:p>
            <a:r>
              <a:rPr lang="en-US" altLang="ko-KR" sz="900" b="1" dirty="0">
                <a:latin typeface="+mn-ea"/>
              </a:rPr>
              <a:t>100</a:t>
            </a:r>
            <a:r>
              <a:rPr lang="ko-KR" altLang="en-US" sz="900" b="1" dirty="0">
                <a:latin typeface="+mn-ea"/>
              </a:rPr>
              <a:t>만</a:t>
            </a:r>
            <a:r>
              <a:rPr lang="en-US" altLang="ko-KR" sz="900" b="1" dirty="0">
                <a:latin typeface="+mn-ea"/>
              </a:rPr>
              <a:t>(=10 x 100000)</a:t>
            </a:r>
          </a:p>
          <a:p>
            <a:r>
              <a:rPr lang="ko-KR" altLang="en-US" sz="900" b="1" dirty="0">
                <a:latin typeface="+mn-ea"/>
              </a:rPr>
              <a:t>총 </a:t>
            </a:r>
            <a:r>
              <a:rPr lang="en-US" altLang="ko-KR" sz="900" b="1" dirty="0">
                <a:latin typeface="+mn-ea"/>
              </a:rPr>
              <a:t>800</a:t>
            </a:r>
            <a:r>
              <a:rPr lang="ko-KR" altLang="en-US" sz="900" b="1" dirty="0">
                <a:latin typeface="+mn-ea"/>
              </a:rPr>
              <a:t>만개</a:t>
            </a:r>
          </a:p>
        </p:txBody>
      </p:sp>
    </p:spTree>
    <p:extLst>
      <p:ext uri="{BB962C8B-B14F-4D97-AF65-F5344CB8AC3E}">
        <p14:creationId xmlns:p14="http://schemas.microsoft.com/office/powerpoint/2010/main" val="31501161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95850" y="1419622"/>
            <a:ext cx="3355406" cy="1626151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marL="0" marR="0" lvl="0" indent="0" algn="ctr" defTabSz="684552" rtl="0" eaLnBrk="1" fontAlgn="auto" latinLnBrk="1" hangingPunct="1">
              <a:lnSpc>
                <a:spcPct val="110000"/>
              </a:lnSpc>
              <a:spcBef>
                <a:spcPts val="0"/>
              </a:spcBef>
              <a:spcAft>
                <a:spcPts val="1125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5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LLM </a:t>
            </a:r>
            <a:r>
              <a:rPr kumimoji="0" lang="ko-KR" altLang="en-US" sz="5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활용 </a:t>
            </a:r>
            <a:br>
              <a:rPr kumimoji="0" lang="en-US" altLang="ko-KR" sz="54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</a:br>
            <a:r>
              <a:rPr kumimoji="0" lang="en-US" altLang="ko-KR" sz="40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uLnTx/>
                <a:uFillTx/>
                <a:latin typeface="나눔스퀘어 ExtraBold" panose="020B0600000101010101" pitchFamily="50" charset="-127"/>
                <a:ea typeface="나눔스퀘어 ExtraBold" panose="020B0600000101010101" pitchFamily="50" charset="-127"/>
                <a:cs typeface="+mn-cs"/>
              </a:rPr>
              <a:t>: Multi-Agent</a:t>
            </a:r>
          </a:p>
        </p:txBody>
      </p:sp>
    </p:spTree>
    <p:extLst>
      <p:ext uri="{BB962C8B-B14F-4D97-AF65-F5344CB8AC3E}">
        <p14:creationId xmlns:p14="http://schemas.microsoft.com/office/powerpoint/2010/main" val="386651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AA7F6D-D226-CF31-F967-71C35271B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기업에서의 </a:t>
            </a:r>
            <a:r>
              <a:rPr lang="en-US" altLang="ko-KR" dirty="0"/>
              <a:t>Multi-Agent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CCB3BE2-7835-2D92-A4DB-AD90DF06B06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5576" y="699542"/>
            <a:ext cx="7993138" cy="466090"/>
          </a:xfrm>
        </p:spPr>
        <p:txBody>
          <a:bodyPr/>
          <a:lstStyle/>
          <a:p>
            <a:r>
              <a:rPr lang="ko-KR" altLang="en-US" dirty="0"/>
              <a:t>도메인 전문가가 직접 지능 생성 가능하도록 드라이브</a:t>
            </a:r>
          </a:p>
          <a:p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6E7E2C0-BE23-CB6C-6444-792BC12829E0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575306" y="1095586"/>
            <a:ext cx="7993138" cy="374077"/>
          </a:xfrm>
        </p:spPr>
        <p:txBody>
          <a:bodyPr/>
          <a:lstStyle/>
          <a:p>
            <a:r>
              <a:rPr lang="ko-KR" altLang="en-US" sz="1200" b="1" dirty="0">
                <a:latin typeface="SamsungOneKorean 400" panose="020B0503030303020204" pitchFamily="50" charset="-127"/>
                <a:ea typeface="SamsungOneKorean 400" panose="020B0503030303020204" pitchFamily="50" charset="-127"/>
              </a:rPr>
              <a:t>필요 지식지능</a:t>
            </a:r>
            <a:r>
              <a:rPr lang="en-US" altLang="ko-KR" sz="1200" b="1" dirty="0">
                <a:latin typeface="SamsungOneKorean 400" panose="020B0503030303020204" pitchFamily="50" charset="-127"/>
                <a:ea typeface="SamsungOneKorean 400" panose="020B0503030303020204" pitchFamily="50" charset="-127"/>
              </a:rPr>
              <a:t>(API/Plug-in) </a:t>
            </a:r>
            <a:r>
              <a:rPr lang="ko-KR" altLang="en-US" sz="1200" b="1" dirty="0">
                <a:latin typeface="SamsungOneKorean 400" panose="020B0503030303020204" pitchFamily="50" charset="-127"/>
                <a:ea typeface="SamsungOneKorean 400" panose="020B0503030303020204" pitchFamily="50" charset="-127"/>
              </a:rPr>
              <a:t>을 각 단계별 지능과 협업하여 직접 생성</a:t>
            </a:r>
            <a:br>
              <a:rPr lang="ko-KR" altLang="en-US" sz="1200" b="1" dirty="0">
                <a:latin typeface="SamsungOneKorean 400" panose="020B0503030303020204" pitchFamily="50" charset="-127"/>
                <a:ea typeface="SamsungOneKorean 400" panose="020B0503030303020204" pitchFamily="50" charset="-127"/>
              </a:rPr>
            </a:br>
            <a:r>
              <a:rPr lang="en-US" altLang="ko-KR" sz="1200" b="1" dirty="0">
                <a:latin typeface="SamsungOneKorean 400" panose="020B0503030303020204" pitchFamily="50" charset="-127"/>
                <a:ea typeface="SamsungOneKorean 400" panose="020B0503030303020204" pitchFamily="50" charset="-127"/>
              </a:rPr>
              <a:t>Data Engineer, Data Scientist </a:t>
            </a:r>
            <a:r>
              <a:rPr lang="ko-KR" altLang="en-US" sz="1200" b="1" dirty="0">
                <a:latin typeface="SamsungOneKorean 400" panose="020B0503030303020204" pitchFamily="50" charset="-127"/>
                <a:ea typeface="SamsungOneKorean 400" panose="020B0503030303020204" pitchFamily="50" charset="-127"/>
              </a:rPr>
              <a:t>등 분야별 전문가는 각 단계별 지능의 고도화에 집중</a:t>
            </a:r>
          </a:p>
        </p:txBody>
      </p: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E3996414-1FB7-D739-BBC0-458BAB33351A}"/>
              </a:ext>
            </a:extLst>
          </p:cNvPr>
          <p:cNvGrpSpPr/>
          <p:nvPr/>
        </p:nvGrpSpPr>
        <p:grpSpPr>
          <a:xfrm>
            <a:off x="1019215" y="1789926"/>
            <a:ext cx="6702872" cy="2664364"/>
            <a:chOff x="1001476" y="2264845"/>
            <a:chExt cx="5900824" cy="2792369"/>
          </a:xfrm>
        </p:grpSpPr>
        <p:grpSp>
          <p:nvGrpSpPr>
            <p:cNvPr id="5" name="그룹 4">
              <a:extLst>
                <a:ext uri="{FF2B5EF4-FFF2-40B4-BE49-F238E27FC236}">
                  <a16:creationId xmlns:a16="http://schemas.microsoft.com/office/drawing/2014/main" id="{0091F9AC-D1C3-C3E0-CBA8-CA99B548B523}"/>
                </a:ext>
              </a:extLst>
            </p:cNvPr>
            <p:cNvGrpSpPr/>
            <p:nvPr/>
          </p:nvGrpSpPr>
          <p:grpSpPr>
            <a:xfrm>
              <a:off x="1001476" y="3259333"/>
              <a:ext cx="5900824" cy="1797881"/>
              <a:chOff x="673141" y="4228018"/>
              <a:chExt cx="6381176" cy="1944000"/>
            </a:xfrm>
          </p:grpSpPr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2F0712-CF09-6F69-2577-7B6A519E1790}"/>
                  </a:ext>
                </a:extLst>
              </p:cNvPr>
              <p:cNvSpPr txBox="1"/>
              <p:nvPr/>
            </p:nvSpPr>
            <p:spPr>
              <a:xfrm>
                <a:off x="685563" y="4645832"/>
                <a:ext cx="6368754" cy="1512262"/>
              </a:xfrm>
              <a:prstGeom prst="rect">
                <a:avLst/>
              </a:prstGeom>
              <a:pattFill prst="pct25">
                <a:fgClr>
                  <a:schemeClr val="bg2">
                    <a:lumMod val="90000"/>
                  </a:schemeClr>
                </a:fgClr>
                <a:bgClr>
                  <a:schemeClr val="bg1"/>
                </a:bgClr>
              </a:pattFill>
              <a:ln w="3175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txBody>
              <a:bodyPr wrap="square" rtlCol="0" anchor="ctr" anchorCtr="0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3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endParaRPr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7A9C437-E059-143F-7F34-976ECE3BF712}"/>
                  </a:ext>
                </a:extLst>
              </p:cNvPr>
              <p:cNvSpPr/>
              <p:nvPr/>
            </p:nvSpPr>
            <p:spPr>
              <a:xfrm>
                <a:off x="1884035" y="4388736"/>
                <a:ext cx="1287644" cy="253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700" panose="020B0803030303020204" pitchFamily="50" charset="-127"/>
                    <a:ea typeface="SamsungOneKorean 700" panose="020B0803030303020204" pitchFamily="50" charset="-127"/>
                    <a:cs typeface="+mn-cs"/>
                  </a:rPr>
                  <a:t>Data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  <a:cs typeface="+mn-cs"/>
                </a:endParaRPr>
              </a:p>
            </p:txBody>
          </p:sp>
          <p:sp>
            <p:nvSpPr>
              <p:cNvPr id="8" name="직사각형 7">
                <a:extLst>
                  <a:ext uri="{FF2B5EF4-FFF2-40B4-BE49-F238E27FC236}">
                    <a16:creationId xmlns:a16="http://schemas.microsoft.com/office/drawing/2014/main" id="{61FF0495-17BF-01D8-FA93-0EBF160B102F}"/>
                  </a:ext>
                </a:extLst>
              </p:cNvPr>
              <p:cNvSpPr/>
              <p:nvPr/>
            </p:nvSpPr>
            <p:spPr>
              <a:xfrm>
                <a:off x="3179678" y="4388736"/>
                <a:ext cx="1283052" cy="2539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700" panose="020B0803030303020204" pitchFamily="50" charset="-127"/>
                    <a:ea typeface="SamsungOneKorean 700" panose="020B0803030303020204" pitchFamily="50" charset="-127"/>
                    <a:cs typeface="+mn-cs"/>
                  </a:rPr>
                  <a:t>Code</a:t>
                </a:r>
              </a:p>
            </p:txBody>
          </p:sp>
          <p:sp>
            <p:nvSpPr>
              <p:cNvPr id="9" name="직사각형 8">
                <a:extLst>
                  <a:ext uri="{FF2B5EF4-FFF2-40B4-BE49-F238E27FC236}">
                    <a16:creationId xmlns:a16="http://schemas.microsoft.com/office/drawing/2014/main" id="{0AE087D4-4B70-2BE0-6573-F09DC812932E}"/>
                  </a:ext>
                </a:extLst>
              </p:cNvPr>
              <p:cNvSpPr/>
              <p:nvPr/>
            </p:nvSpPr>
            <p:spPr>
              <a:xfrm>
                <a:off x="4452600" y="4372674"/>
                <a:ext cx="1293514" cy="2860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700" panose="020B0803030303020204" pitchFamily="50" charset="-127"/>
                    <a:ea typeface="SamsungOneKorean 700" panose="020B0803030303020204" pitchFamily="50" charset="-127"/>
                    <a:cs typeface="+mn-cs"/>
                  </a:rPr>
                  <a:t>Learning/ Build</a:t>
                </a:r>
              </a:p>
            </p:txBody>
          </p:sp>
          <p:sp>
            <p:nvSpPr>
              <p:cNvPr id="10" name="직사각형 9">
                <a:extLst>
                  <a:ext uri="{FF2B5EF4-FFF2-40B4-BE49-F238E27FC236}">
                    <a16:creationId xmlns:a16="http://schemas.microsoft.com/office/drawing/2014/main" id="{B2EB9BE8-4F53-E106-C654-EAA960827077}"/>
                  </a:ext>
                </a:extLst>
              </p:cNvPr>
              <p:cNvSpPr/>
              <p:nvPr/>
            </p:nvSpPr>
            <p:spPr>
              <a:xfrm>
                <a:off x="5751652" y="4403372"/>
                <a:ext cx="1288920" cy="2246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700" panose="020B0803030303020204" pitchFamily="50" charset="-127"/>
                    <a:ea typeface="SamsungOneKorean 700" panose="020B0803030303020204" pitchFamily="50" charset="-127"/>
                    <a:cs typeface="+mn-cs"/>
                  </a:rPr>
                  <a:t>Provisioning</a:t>
                </a:r>
                <a:endParaRPr kumimoji="0" lang="ko-KR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700" panose="020B0803030303020204" pitchFamily="50" charset="-127"/>
                  <a:ea typeface="SamsungOneKorean 700" panose="020B0803030303020204" pitchFamily="50" charset="-127"/>
                  <a:cs typeface="+mn-cs"/>
                </a:endParaRPr>
              </a:p>
            </p:txBody>
          </p:sp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9C86B4D0-9DF4-A22E-D498-C2B5C3F48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57706" y="5739221"/>
                <a:ext cx="293349" cy="309131"/>
              </a:xfrm>
              <a:prstGeom prst="rect">
                <a:avLst/>
              </a:prstGeom>
            </p:spPr>
          </p:pic>
          <p:cxnSp>
            <p:nvCxnSpPr>
              <p:cNvPr id="12" name="직선 연결선 11">
                <a:extLst>
                  <a:ext uri="{FF2B5EF4-FFF2-40B4-BE49-F238E27FC236}">
                    <a16:creationId xmlns:a16="http://schemas.microsoft.com/office/drawing/2014/main" id="{AB4D96C4-F359-4914-BA63-0D398757A630}"/>
                  </a:ext>
                </a:extLst>
              </p:cNvPr>
              <p:cNvCxnSpPr/>
              <p:nvPr/>
            </p:nvCxnSpPr>
            <p:spPr>
              <a:xfrm>
                <a:off x="1877211" y="4228018"/>
                <a:ext cx="0" cy="19440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직선 연결선 12">
                <a:extLst>
                  <a:ext uri="{FF2B5EF4-FFF2-40B4-BE49-F238E27FC236}">
                    <a16:creationId xmlns:a16="http://schemas.microsoft.com/office/drawing/2014/main" id="{F11F3EE4-73DC-D8BF-02A2-D9864BB14ECC}"/>
                  </a:ext>
                </a:extLst>
              </p:cNvPr>
              <p:cNvCxnSpPr/>
              <p:nvPr/>
            </p:nvCxnSpPr>
            <p:spPr>
              <a:xfrm>
                <a:off x="3168262" y="4228018"/>
                <a:ext cx="0" cy="19440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직선 연결선 13">
                <a:extLst>
                  <a:ext uri="{FF2B5EF4-FFF2-40B4-BE49-F238E27FC236}">
                    <a16:creationId xmlns:a16="http://schemas.microsoft.com/office/drawing/2014/main" id="{11EDF128-80A4-F79C-00AE-BC412B4164BB}"/>
                  </a:ext>
                </a:extLst>
              </p:cNvPr>
              <p:cNvCxnSpPr/>
              <p:nvPr/>
            </p:nvCxnSpPr>
            <p:spPr>
              <a:xfrm>
                <a:off x="4459314" y="4228018"/>
                <a:ext cx="0" cy="19440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직선 연결선 14">
                <a:extLst>
                  <a:ext uri="{FF2B5EF4-FFF2-40B4-BE49-F238E27FC236}">
                    <a16:creationId xmlns:a16="http://schemas.microsoft.com/office/drawing/2014/main" id="{A7CAEF80-463A-F023-DB1C-FE654F9D54AD}"/>
                  </a:ext>
                </a:extLst>
              </p:cNvPr>
              <p:cNvCxnSpPr/>
              <p:nvPr/>
            </p:nvCxnSpPr>
            <p:spPr>
              <a:xfrm>
                <a:off x="5750366" y="4228018"/>
                <a:ext cx="0" cy="194400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16" name="그림 15">
                <a:extLst>
                  <a:ext uri="{FF2B5EF4-FFF2-40B4-BE49-F238E27FC236}">
                    <a16:creationId xmlns:a16="http://schemas.microsoft.com/office/drawing/2014/main" id="{03EA8757-B0FD-DF54-14C3-74B9E3CA48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660432" y="5739221"/>
                <a:ext cx="293349" cy="309131"/>
              </a:xfrm>
              <a:prstGeom prst="rect">
                <a:avLst/>
              </a:prstGeom>
            </p:spPr>
          </p:pic>
          <p:pic>
            <p:nvPicPr>
              <p:cNvPr id="17" name="그림 16">
                <a:extLst>
                  <a:ext uri="{FF2B5EF4-FFF2-40B4-BE49-F238E27FC236}">
                    <a16:creationId xmlns:a16="http://schemas.microsoft.com/office/drawing/2014/main" id="{FACCBC81-A2D3-827A-BDEE-897F8EB08B4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3158" y="5739221"/>
                <a:ext cx="293349" cy="309131"/>
              </a:xfrm>
              <a:prstGeom prst="rect">
                <a:avLst/>
              </a:prstGeom>
            </p:spPr>
          </p:pic>
          <p:pic>
            <p:nvPicPr>
              <p:cNvPr id="18" name="그림 17">
                <a:extLst>
                  <a:ext uri="{FF2B5EF4-FFF2-40B4-BE49-F238E27FC236}">
                    <a16:creationId xmlns:a16="http://schemas.microsoft.com/office/drawing/2014/main" id="{9C163032-A7A8-B44D-DFED-3F721551A7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265884" y="5739221"/>
                <a:ext cx="293349" cy="309131"/>
              </a:xfrm>
              <a:prstGeom prst="rect">
                <a:avLst/>
              </a:prstGeom>
            </p:spPr>
          </p:pic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204A16CA-F3FA-653E-15D7-A0F87CB3450E}"/>
                  </a:ext>
                </a:extLst>
              </p:cNvPr>
              <p:cNvSpPr/>
              <p:nvPr/>
            </p:nvSpPr>
            <p:spPr>
              <a:xfrm>
                <a:off x="690029" y="4388736"/>
                <a:ext cx="1176271" cy="28604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700" panose="020B0803030303020204" pitchFamily="50" charset="-127"/>
                    <a:ea typeface="SamsungOneKorean 700" panose="020B0803030303020204" pitchFamily="50" charset="-127"/>
                    <a:cs typeface="+mn-cs"/>
                  </a:rPr>
                  <a:t>요구사항 정의</a:t>
                </a:r>
              </a:p>
            </p:txBody>
          </p:sp>
          <p:sp>
            <p:nvSpPr>
              <p:cNvPr id="20" name="순서도: 문서 19">
                <a:extLst>
                  <a:ext uri="{FF2B5EF4-FFF2-40B4-BE49-F238E27FC236}">
                    <a16:creationId xmlns:a16="http://schemas.microsoft.com/office/drawing/2014/main" id="{DA78348D-6E8C-4964-473B-B9B91A78A909}"/>
                  </a:ext>
                </a:extLst>
              </p:cNvPr>
              <p:cNvSpPr/>
              <p:nvPr/>
            </p:nvSpPr>
            <p:spPr>
              <a:xfrm>
                <a:off x="3275967" y="4749857"/>
                <a:ext cx="927393" cy="556436"/>
              </a:xfrm>
              <a:prstGeom prst="flowChartDocumen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rIns="3600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Gauss </a:t>
                </a:r>
                <a:r>
                  <a:rPr kumimoji="0" lang="ko-KR" alt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활용</a:t>
                </a:r>
                <a:endPara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(</a:t>
                </a:r>
                <a:r>
                  <a:rPr kumimoji="0" lang="ko-KR" alt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지능</a:t>
                </a:r>
                <a:r>
                  <a:rPr kumimoji="0" lang="en-US" altLang="ko-KR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)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코드 생성</a:t>
                </a:r>
                <a:endPara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endParaRPr>
              </a:p>
            </p:txBody>
          </p:sp>
          <p:sp>
            <p:nvSpPr>
              <p:cNvPr id="21" name="모서리가 둥근 직사각형 18">
                <a:extLst>
                  <a:ext uri="{FF2B5EF4-FFF2-40B4-BE49-F238E27FC236}">
                    <a16:creationId xmlns:a16="http://schemas.microsoft.com/office/drawing/2014/main" id="{B67296D7-3FAE-ED6B-5B9C-2A2DBAF6221A}"/>
                  </a:ext>
                </a:extLst>
              </p:cNvPr>
              <p:cNvSpPr/>
              <p:nvPr/>
            </p:nvSpPr>
            <p:spPr>
              <a:xfrm>
                <a:off x="4521864" y="4749857"/>
                <a:ext cx="927393" cy="55643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GUI </a:t>
                </a:r>
                <a:r>
                  <a:rPr kumimoji="0" lang="ko-KR" altLang="en-US" sz="800" b="1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기반</a:t>
                </a:r>
                <a:endPara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ML/</a:t>
                </a:r>
                <a:r>
                  <a:rPr kumimoji="0" lang="en-US" altLang="ko-KR" sz="800" b="1" i="0" u="none" strike="noStrike" kern="1200" cap="none" spc="0" normalizeH="0" baseline="0" noProof="0" dirty="0" err="1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LLMOps</a:t>
                </a:r>
                <a:endParaRPr kumimoji="0" lang="ko-KR" altLang="en-US" sz="8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endParaRPr>
              </a:p>
            </p:txBody>
          </p:sp>
          <p:sp>
            <p:nvSpPr>
              <p:cNvPr id="22" name="모서리가 둥근 직사각형 75">
                <a:extLst>
                  <a:ext uri="{FF2B5EF4-FFF2-40B4-BE49-F238E27FC236}">
                    <a16:creationId xmlns:a16="http://schemas.microsoft.com/office/drawing/2014/main" id="{6C4CEFCA-E516-FDF1-5BA8-FD7D7ECF12C6}"/>
                  </a:ext>
                </a:extLst>
              </p:cNvPr>
              <p:cNvSpPr/>
              <p:nvPr/>
            </p:nvSpPr>
            <p:spPr>
              <a:xfrm>
                <a:off x="1986707" y="4749857"/>
                <a:ext cx="927393" cy="55643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r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GUI </a:t>
                </a:r>
                <a:r>
                  <a:rPr kumimoji="0" lang="ko-KR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기반</a:t>
                </a:r>
                <a:endPara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전처리 자동화</a:t>
                </a:r>
              </a:p>
            </p:txBody>
          </p:sp>
          <p:grpSp>
            <p:nvGrpSpPr>
              <p:cNvPr id="23" name="그룹 22">
                <a:extLst>
                  <a:ext uri="{FF2B5EF4-FFF2-40B4-BE49-F238E27FC236}">
                    <a16:creationId xmlns:a16="http://schemas.microsoft.com/office/drawing/2014/main" id="{2404F5DD-CBA5-129A-BC7C-309CD8934457}"/>
                  </a:ext>
                </a:extLst>
              </p:cNvPr>
              <p:cNvGrpSpPr/>
              <p:nvPr/>
            </p:nvGrpSpPr>
            <p:grpSpPr>
              <a:xfrm>
                <a:off x="1902994" y="5128494"/>
                <a:ext cx="1165291" cy="569721"/>
                <a:chOff x="1894056" y="5166083"/>
                <a:chExt cx="1357046" cy="663471"/>
              </a:xfrm>
            </p:grpSpPr>
            <p:grpSp>
              <p:nvGrpSpPr>
                <p:cNvPr id="48" name="그룹 47">
                  <a:extLst>
                    <a:ext uri="{FF2B5EF4-FFF2-40B4-BE49-F238E27FC236}">
                      <a16:creationId xmlns:a16="http://schemas.microsoft.com/office/drawing/2014/main" id="{86C53473-1903-2B0E-1526-35EBA4B76A82}"/>
                    </a:ext>
                  </a:extLst>
                </p:cNvPr>
                <p:cNvGrpSpPr/>
                <p:nvPr/>
              </p:nvGrpSpPr>
              <p:grpSpPr>
                <a:xfrm>
                  <a:off x="2765822" y="5166083"/>
                  <a:ext cx="485280" cy="513089"/>
                  <a:chOff x="2765822" y="5166083"/>
                  <a:chExt cx="485280" cy="513089"/>
                </a:xfrm>
              </p:grpSpPr>
              <p:pic>
                <p:nvPicPr>
                  <p:cNvPr id="50" name="그림 49">
                    <a:extLst>
                      <a:ext uri="{FF2B5EF4-FFF2-40B4-BE49-F238E27FC236}">
                        <a16:creationId xmlns:a16="http://schemas.microsoft.com/office/drawing/2014/main" id="{243E8E1B-370A-4249-2795-30618B6158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chemeClr val="tx2">
                        <a:tint val="45000"/>
                        <a:satMod val="400000"/>
                      </a:schemeClr>
                    </a:duotone>
                  </a:blip>
                  <a:stretch>
                    <a:fillRect/>
                  </a:stretch>
                </p:blipFill>
                <p:spPr>
                  <a:xfrm>
                    <a:off x="2914205" y="5310567"/>
                    <a:ext cx="336897" cy="368605"/>
                  </a:xfrm>
                  <a:prstGeom prst="rect">
                    <a:avLst/>
                  </a:prstGeom>
                </p:spPr>
              </p:pic>
              <p:grpSp>
                <p:nvGrpSpPr>
                  <p:cNvPr id="51" name="그룹 50">
                    <a:extLst>
                      <a:ext uri="{FF2B5EF4-FFF2-40B4-BE49-F238E27FC236}">
                        <a16:creationId xmlns:a16="http://schemas.microsoft.com/office/drawing/2014/main" id="{A296801A-D7D5-A4AC-DDA6-4745B48E7CDC}"/>
                      </a:ext>
                    </a:extLst>
                  </p:cNvPr>
                  <p:cNvGrpSpPr/>
                  <p:nvPr/>
                </p:nvGrpSpPr>
                <p:grpSpPr>
                  <a:xfrm rot="4058806">
                    <a:off x="2798926" y="5132979"/>
                    <a:ext cx="385121" cy="451329"/>
                    <a:chOff x="2434236" y="3737958"/>
                    <a:chExt cx="385121" cy="451329"/>
                  </a:xfrm>
                </p:grpSpPr>
                <p:sp>
                  <p:nvSpPr>
                    <p:cNvPr id="52" name="원호 51">
                      <a:extLst>
                        <a:ext uri="{FF2B5EF4-FFF2-40B4-BE49-F238E27FC236}">
                          <a16:creationId xmlns:a16="http://schemas.microsoft.com/office/drawing/2014/main" id="{49747D4B-2CC3-EBFB-C4B3-4EAC5B64597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5902" y="3712740"/>
                      <a:ext cx="328238" cy="378673"/>
                    </a:xfrm>
                    <a:prstGeom prst="arc">
                      <a:avLst>
                        <a:gd name="adj1" fmla="val 17848361"/>
                        <a:gd name="adj2" fmla="val 1356935"/>
                      </a:avLst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msungOneKorean 400" panose="020B0503030303020204" pitchFamily="50" charset="-127"/>
                        <a:ea typeface="SamsungOneKorean 400" panose="020B05030303030202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53" name="원호 52">
                      <a:extLst>
                        <a:ext uri="{FF2B5EF4-FFF2-40B4-BE49-F238E27FC236}">
                          <a16:creationId xmlns:a16="http://schemas.microsoft.com/office/drawing/2014/main" id="{CF8D8906-51C3-BA46-9C64-9045BD73D764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459454" y="3835831"/>
                      <a:ext cx="328238" cy="378673"/>
                    </a:xfrm>
                    <a:prstGeom prst="arc">
                      <a:avLst>
                        <a:gd name="adj1" fmla="val 17848361"/>
                        <a:gd name="adj2" fmla="val 1356935"/>
                      </a:avLst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msungOneKorean 400" panose="020B0503030303020204" pitchFamily="50" charset="-127"/>
                        <a:ea typeface="SamsungOneKorean 400" panose="020B05030303030202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49" name="직사각형 48">
                  <a:extLst>
                    <a:ext uri="{FF2B5EF4-FFF2-40B4-BE49-F238E27FC236}">
                      <a16:creationId xmlns:a16="http://schemas.microsoft.com/office/drawing/2014/main" id="{13F6278C-6FD7-BA3D-86AA-F206974A110E}"/>
                    </a:ext>
                  </a:extLst>
                </p:cNvPr>
                <p:cNvSpPr/>
                <p:nvPr/>
              </p:nvSpPr>
              <p:spPr>
                <a:xfrm>
                  <a:off x="1894056" y="5542816"/>
                  <a:ext cx="1234575" cy="2867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전처리 지능</a:t>
                  </a:r>
                </a:p>
              </p:txBody>
            </p:sp>
          </p:grpSp>
          <p:grpSp>
            <p:nvGrpSpPr>
              <p:cNvPr id="24" name="그룹 23">
                <a:extLst>
                  <a:ext uri="{FF2B5EF4-FFF2-40B4-BE49-F238E27FC236}">
                    <a16:creationId xmlns:a16="http://schemas.microsoft.com/office/drawing/2014/main" id="{D5966926-303E-7083-3B83-6A76CB8398B7}"/>
                  </a:ext>
                </a:extLst>
              </p:cNvPr>
              <p:cNvGrpSpPr/>
              <p:nvPr/>
            </p:nvGrpSpPr>
            <p:grpSpPr>
              <a:xfrm>
                <a:off x="3180544" y="5128493"/>
                <a:ext cx="1185682" cy="562428"/>
                <a:chOff x="1870311" y="5166083"/>
                <a:chExt cx="1380791" cy="654978"/>
              </a:xfrm>
            </p:grpSpPr>
            <p:grpSp>
              <p:nvGrpSpPr>
                <p:cNvPr id="42" name="그룹 41">
                  <a:extLst>
                    <a:ext uri="{FF2B5EF4-FFF2-40B4-BE49-F238E27FC236}">
                      <a16:creationId xmlns:a16="http://schemas.microsoft.com/office/drawing/2014/main" id="{B409F850-3836-15A1-0B14-2C6BF03DAC4F}"/>
                    </a:ext>
                  </a:extLst>
                </p:cNvPr>
                <p:cNvGrpSpPr/>
                <p:nvPr/>
              </p:nvGrpSpPr>
              <p:grpSpPr>
                <a:xfrm>
                  <a:off x="2765822" y="5166083"/>
                  <a:ext cx="485280" cy="513089"/>
                  <a:chOff x="2765822" y="5166083"/>
                  <a:chExt cx="485280" cy="513089"/>
                </a:xfrm>
              </p:grpSpPr>
              <p:pic>
                <p:nvPicPr>
                  <p:cNvPr id="44" name="그림 43">
                    <a:extLst>
                      <a:ext uri="{FF2B5EF4-FFF2-40B4-BE49-F238E27FC236}">
                        <a16:creationId xmlns:a16="http://schemas.microsoft.com/office/drawing/2014/main" id="{B6F07D70-CA7F-B0BC-6874-8434FBB91533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</a:blip>
                  <a:stretch>
                    <a:fillRect/>
                  </a:stretch>
                </p:blipFill>
                <p:spPr>
                  <a:xfrm>
                    <a:off x="2914205" y="5310567"/>
                    <a:ext cx="336897" cy="368605"/>
                  </a:xfrm>
                  <a:prstGeom prst="rect">
                    <a:avLst/>
                  </a:prstGeom>
                </p:spPr>
              </p:pic>
              <p:grpSp>
                <p:nvGrpSpPr>
                  <p:cNvPr id="45" name="그룹 44">
                    <a:extLst>
                      <a:ext uri="{FF2B5EF4-FFF2-40B4-BE49-F238E27FC236}">
                        <a16:creationId xmlns:a16="http://schemas.microsoft.com/office/drawing/2014/main" id="{7DA6075C-97A1-2BDE-84AF-90285BB729F5}"/>
                      </a:ext>
                    </a:extLst>
                  </p:cNvPr>
                  <p:cNvGrpSpPr/>
                  <p:nvPr/>
                </p:nvGrpSpPr>
                <p:grpSpPr>
                  <a:xfrm rot="4058806">
                    <a:off x="2798926" y="5132979"/>
                    <a:ext cx="385121" cy="451329"/>
                    <a:chOff x="2434236" y="3737958"/>
                    <a:chExt cx="385121" cy="451329"/>
                  </a:xfrm>
                </p:grpSpPr>
                <p:sp>
                  <p:nvSpPr>
                    <p:cNvPr id="46" name="원호 45">
                      <a:extLst>
                        <a:ext uri="{FF2B5EF4-FFF2-40B4-BE49-F238E27FC236}">
                          <a16:creationId xmlns:a16="http://schemas.microsoft.com/office/drawing/2014/main" id="{7484FB32-19E3-E567-CEE4-A90B6757C183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5902" y="3712740"/>
                      <a:ext cx="328238" cy="378673"/>
                    </a:xfrm>
                    <a:prstGeom prst="arc">
                      <a:avLst>
                        <a:gd name="adj1" fmla="val 17848361"/>
                        <a:gd name="adj2" fmla="val 1356935"/>
                      </a:avLst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msungOneKorean 400" panose="020B0503030303020204" pitchFamily="50" charset="-127"/>
                        <a:ea typeface="SamsungOneKorean 400" panose="020B05030303030202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47" name="원호 46">
                      <a:extLst>
                        <a:ext uri="{FF2B5EF4-FFF2-40B4-BE49-F238E27FC236}">
                          <a16:creationId xmlns:a16="http://schemas.microsoft.com/office/drawing/2014/main" id="{36F7D03E-5305-E5FC-7001-BBF9CF6DAB68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459454" y="3835831"/>
                      <a:ext cx="328238" cy="378673"/>
                    </a:xfrm>
                    <a:prstGeom prst="arc">
                      <a:avLst>
                        <a:gd name="adj1" fmla="val 17848361"/>
                        <a:gd name="adj2" fmla="val 1356935"/>
                      </a:avLst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msungOneKorean 400" panose="020B0503030303020204" pitchFamily="50" charset="-127"/>
                        <a:ea typeface="SamsungOneKorean 400" panose="020B05030303030202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43" name="직사각형 42">
                  <a:extLst>
                    <a:ext uri="{FF2B5EF4-FFF2-40B4-BE49-F238E27FC236}">
                      <a16:creationId xmlns:a16="http://schemas.microsoft.com/office/drawing/2014/main" id="{C9F014CE-26ED-F1DD-69D0-AC0B137210E8}"/>
                    </a:ext>
                  </a:extLst>
                </p:cNvPr>
                <p:cNvSpPr/>
                <p:nvPr/>
              </p:nvSpPr>
              <p:spPr>
                <a:xfrm>
                  <a:off x="1870311" y="5534323"/>
                  <a:ext cx="1176084" cy="2867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코드 생성 지능</a:t>
                  </a:r>
                </a:p>
              </p:txBody>
            </p:sp>
          </p:grpSp>
          <p:grpSp>
            <p:nvGrpSpPr>
              <p:cNvPr id="25" name="그룹 24">
                <a:extLst>
                  <a:ext uri="{FF2B5EF4-FFF2-40B4-BE49-F238E27FC236}">
                    <a16:creationId xmlns:a16="http://schemas.microsoft.com/office/drawing/2014/main" id="{E8489D88-21AC-CD78-9BDE-4062ECEADE62}"/>
                  </a:ext>
                </a:extLst>
              </p:cNvPr>
              <p:cNvGrpSpPr/>
              <p:nvPr/>
            </p:nvGrpSpPr>
            <p:grpSpPr>
              <a:xfrm>
                <a:off x="5712818" y="5128497"/>
                <a:ext cx="1220538" cy="513152"/>
                <a:chOff x="1829720" y="5166083"/>
                <a:chExt cx="1421382" cy="597593"/>
              </a:xfrm>
            </p:grpSpPr>
            <p:grpSp>
              <p:nvGrpSpPr>
                <p:cNvPr id="36" name="그룹 35">
                  <a:extLst>
                    <a:ext uri="{FF2B5EF4-FFF2-40B4-BE49-F238E27FC236}">
                      <a16:creationId xmlns:a16="http://schemas.microsoft.com/office/drawing/2014/main" id="{AAFB7DAD-ABBE-9DA3-71DB-F6BBA9D53BAC}"/>
                    </a:ext>
                  </a:extLst>
                </p:cNvPr>
                <p:cNvGrpSpPr/>
                <p:nvPr/>
              </p:nvGrpSpPr>
              <p:grpSpPr>
                <a:xfrm>
                  <a:off x="2765822" y="5166083"/>
                  <a:ext cx="485280" cy="513089"/>
                  <a:chOff x="2765822" y="5166083"/>
                  <a:chExt cx="485280" cy="513089"/>
                </a:xfrm>
              </p:grpSpPr>
              <p:pic>
                <p:nvPicPr>
                  <p:cNvPr id="38" name="그림 37">
                    <a:extLst>
                      <a:ext uri="{FF2B5EF4-FFF2-40B4-BE49-F238E27FC236}">
                        <a16:creationId xmlns:a16="http://schemas.microsoft.com/office/drawing/2014/main" id="{A40F594C-0A9B-56A2-1B7B-98D704D13C8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chemeClr val="accent6">
                        <a:tint val="45000"/>
                        <a:satMod val="400000"/>
                      </a:schemeClr>
                    </a:duotone>
                  </a:blip>
                  <a:stretch>
                    <a:fillRect/>
                  </a:stretch>
                </p:blipFill>
                <p:spPr>
                  <a:xfrm>
                    <a:off x="2914205" y="5310567"/>
                    <a:ext cx="336897" cy="368605"/>
                  </a:xfrm>
                  <a:prstGeom prst="rect">
                    <a:avLst/>
                  </a:prstGeom>
                </p:spPr>
              </p:pic>
              <p:grpSp>
                <p:nvGrpSpPr>
                  <p:cNvPr id="39" name="그룹 38">
                    <a:extLst>
                      <a:ext uri="{FF2B5EF4-FFF2-40B4-BE49-F238E27FC236}">
                        <a16:creationId xmlns:a16="http://schemas.microsoft.com/office/drawing/2014/main" id="{F81E6F45-7DB9-FA08-EEB9-440C1F60EA8A}"/>
                      </a:ext>
                    </a:extLst>
                  </p:cNvPr>
                  <p:cNvGrpSpPr/>
                  <p:nvPr/>
                </p:nvGrpSpPr>
                <p:grpSpPr>
                  <a:xfrm rot="4058806">
                    <a:off x="2798926" y="5132979"/>
                    <a:ext cx="385121" cy="451329"/>
                    <a:chOff x="2434236" y="3737958"/>
                    <a:chExt cx="385121" cy="451329"/>
                  </a:xfrm>
                </p:grpSpPr>
                <p:sp>
                  <p:nvSpPr>
                    <p:cNvPr id="40" name="원호 39">
                      <a:extLst>
                        <a:ext uri="{FF2B5EF4-FFF2-40B4-BE49-F238E27FC236}">
                          <a16:creationId xmlns:a16="http://schemas.microsoft.com/office/drawing/2014/main" id="{8DFE52FE-1421-E297-F50A-954D919EB4FC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5902" y="3712740"/>
                      <a:ext cx="328238" cy="378673"/>
                    </a:xfrm>
                    <a:prstGeom prst="arc">
                      <a:avLst>
                        <a:gd name="adj1" fmla="val 17848361"/>
                        <a:gd name="adj2" fmla="val 1356935"/>
                      </a:avLst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msungOneKorean 400" panose="020B0503030303020204" pitchFamily="50" charset="-127"/>
                        <a:ea typeface="SamsungOneKorean 400" panose="020B05030303030202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41" name="원호 40">
                      <a:extLst>
                        <a:ext uri="{FF2B5EF4-FFF2-40B4-BE49-F238E27FC236}">
                          <a16:creationId xmlns:a16="http://schemas.microsoft.com/office/drawing/2014/main" id="{773FB741-620B-9BAB-CB0A-9F428A87DD09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459454" y="3835831"/>
                      <a:ext cx="328238" cy="378673"/>
                    </a:xfrm>
                    <a:prstGeom prst="arc">
                      <a:avLst>
                        <a:gd name="adj1" fmla="val 17848361"/>
                        <a:gd name="adj2" fmla="val 1356935"/>
                      </a:avLst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msungOneKorean 400" panose="020B0503030303020204" pitchFamily="50" charset="-127"/>
                        <a:ea typeface="SamsungOneKorean 400" panose="020B05030303030202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BDC8821F-D6BC-F7BC-3F75-14C264BD2830}"/>
                    </a:ext>
                  </a:extLst>
                </p:cNvPr>
                <p:cNvSpPr/>
                <p:nvPr/>
              </p:nvSpPr>
              <p:spPr>
                <a:xfrm>
                  <a:off x="1829720" y="5494861"/>
                  <a:ext cx="1237420" cy="26881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배포</a:t>
                  </a: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 on</a:t>
                  </a: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 </a:t>
                  </a:r>
                  <a:r>
                    <a:rPr kumimoji="0" lang="en-US" altLang="ko-KR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cloud</a:t>
                  </a:r>
                  <a:r>
                    <a:rPr kumimoji="0" lang="ko-KR" altLang="en-US" sz="9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 지능</a:t>
                  </a:r>
                </a:p>
              </p:txBody>
            </p:sp>
          </p:grpSp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96E8AB5F-AA88-3282-D757-F96FC1F7CFE1}"/>
                  </a:ext>
                </a:extLst>
              </p:cNvPr>
              <p:cNvGrpSpPr/>
              <p:nvPr/>
            </p:nvGrpSpPr>
            <p:grpSpPr>
              <a:xfrm>
                <a:off x="4461275" y="5128493"/>
                <a:ext cx="1151568" cy="562428"/>
                <a:chOff x="1910038" y="5166083"/>
                <a:chExt cx="1341064" cy="654978"/>
              </a:xfrm>
            </p:grpSpPr>
            <p:grpSp>
              <p:nvGrpSpPr>
                <p:cNvPr id="30" name="그룹 29">
                  <a:extLst>
                    <a:ext uri="{FF2B5EF4-FFF2-40B4-BE49-F238E27FC236}">
                      <a16:creationId xmlns:a16="http://schemas.microsoft.com/office/drawing/2014/main" id="{D8C88729-259A-A8AD-22C5-D1DED713B623}"/>
                    </a:ext>
                  </a:extLst>
                </p:cNvPr>
                <p:cNvGrpSpPr/>
                <p:nvPr/>
              </p:nvGrpSpPr>
              <p:grpSpPr>
                <a:xfrm>
                  <a:off x="2765822" y="5166083"/>
                  <a:ext cx="485280" cy="513089"/>
                  <a:chOff x="2765822" y="5166083"/>
                  <a:chExt cx="485280" cy="513089"/>
                </a:xfrm>
              </p:grpSpPr>
              <p:pic>
                <p:nvPicPr>
                  <p:cNvPr id="32" name="그림 31">
                    <a:extLst>
                      <a:ext uri="{FF2B5EF4-FFF2-40B4-BE49-F238E27FC236}">
                        <a16:creationId xmlns:a16="http://schemas.microsoft.com/office/drawing/2014/main" id="{7C2D7665-F624-71E8-3FDE-C24C017C87F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chemeClr val="accent5">
                        <a:tint val="45000"/>
                        <a:satMod val="400000"/>
                      </a:schemeClr>
                    </a:duotone>
                  </a:blip>
                  <a:stretch>
                    <a:fillRect/>
                  </a:stretch>
                </p:blipFill>
                <p:spPr>
                  <a:xfrm>
                    <a:off x="2914205" y="5310567"/>
                    <a:ext cx="336897" cy="368605"/>
                  </a:xfrm>
                  <a:prstGeom prst="rect">
                    <a:avLst/>
                  </a:prstGeom>
                </p:spPr>
              </p:pic>
              <p:grpSp>
                <p:nvGrpSpPr>
                  <p:cNvPr id="33" name="그룹 32">
                    <a:extLst>
                      <a:ext uri="{FF2B5EF4-FFF2-40B4-BE49-F238E27FC236}">
                        <a16:creationId xmlns:a16="http://schemas.microsoft.com/office/drawing/2014/main" id="{15A13C2D-5B42-0262-7DF1-DEFA2EFDC059}"/>
                      </a:ext>
                    </a:extLst>
                  </p:cNvPr>
                  <p:cNvGrpSpPr/>
                  <p:nvPr/>
                </p:nvGrpSpPr>
                <p:grpSpPr>
                  <a:xfrm rot="4058806">
                    <a:off x="2798926" y="5132979"/>
                    <a:ext cx="385121" cy="451329"/>
                    <a:chOff x="2434236" y="3737958"/>
                    <a:chExt cx="385121" cy="451329"/>
                  </a:xfrm>
                </p:grpSpPr>
                <p:sp>
                  <p:nvSpPr>
                    <p:cNvPr id="34" name="원호 33">
                      <a:extLst>
                        <a:ext uri="{FF2B5EF4-FFF2-40B4-BE49-F238E27FC236}">
                          <a16:creationId xmlns:a16="http://schemas.microsoft.com/office/drawing/2014/main" id="{4250B88A-4B46-CFCF-11B5-15A877FF6BA2}"/>
                        </a:ext>
                      </a:extLst>
                    </p:cNvPr>
                    <p:cNvSpPr/>
                    <p:nvPr/>
                  </p:nvSpPr>
                  <p:spPr>
                    <a:xfrm rot="16200000">
                      <a:off x="2465902" y="3712740"/>
                      <a:ext cx="328238" cy="378673"/>
                    </a:xfrm>
                    <a:prstGeom prst="arc">
                      <a:avLst>
                        <a:gd name="adj1" fmla="val 17848361"/>
                        <a:gd name="adj2" fmla="val 1356935"/>
                      </a:avLst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msungOneKorean 400" panose="020B0503030303020204" pitchFamily="50" charset="-127"/>
                        <a:ea typeface="SamsungOneKorean 400" panose="020B0503030303020204" pitchFamily="50" charset="-127"/>
                        <a:cs typeface="+mn-cs"/>
                      </a:endParaRPr>
                    </a:p>
                  </p:txBody>
                </p:sp>
                <p:sp>
                  <p:nvSpPr>
                    <p:cNvPr id="35" name="원호 34">
                      <a:extLst>
                        <a:ext uri="{FF2B5EF4-FFF2-40B4-BE49-F238E27FC236}">
                          <a16:creationId xmlns:a16="http://schemas.microsoft.com/office/drawing/2014/main" id="{C2655907-85D3-F82B-ACF9-8F41B04DB9CD}"/>
                        </a:ext>
                      </a:extLst>
                    </p:cNvPr>
                    <p:cNvSpPr/>
                    <p:nvPr/>
                  </p:nvSpPr>
                  <p:spPr>
                    <a:xfrm rot="5400000">
                      <a:off x="2459454" y="3835831"/>
                      <a:ext cx="328238" cy="378673"/>
                    </a:xfrm>
                    <a:prstGeom prst="arc">
                      <a:avLst>
                        <a:gd name="adj1" fmla="val 17848361"/>
                        <a:gd name="adj2" fmla="val 1356935"/>
                      </a:avLst>
                    </a:prstGeom>
                    <a:ln>
                      <a:solidFill>
                        <a:schemeClr val="tx1"/>
                      </a:solidFill>
                      <a:headEnd type="none" w="med" len="med"/>
                      <a:tailEnd type="triangle" w="med" len="med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SamsungOneKorean 400" panose="020B0503030303020204" pitchFamily="50" charset="-127"/>
                        <a:ea typeface="SamsungOneKorean 400" panose="020B0503030303020204" pitchFamily="50" charset="-127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31" name="직사각형 30">
                  <a:extLst>
                    <a:ext uri="{FF2B5EF4-FFF2-40B4-BE49-F238E27FC236}">
                      <a16:creationId xmlns:a16="http://schemas.microsoft.com/office/drawing/2014/main" id="{890D664C-C966-FDC9-0E94-D0B221AD8019}"/>
                    </a:ext>
                  </a:extLst>
                </p:cNvPr>
                <p:cNvSpPr/>
                <p:nvPr/>
              </p:nvSpPr>
              <p:spPr>
                <a:xfrm>
                  <a:off x="1910038" y="5534323"/>
                  <a:ext cx="1136357" cy="28673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코드 학습 지능</a:t>
                  </a:r>
                </a:p>
              </p:txBody>
            </p:sp>
          </p:grpSp>
          <p:sp>
            <p:nvSpPr>
              <p:cNvPr id="27" name="모서리가 둥근 직사각형 122">
                <a:extLst>
                  <a:ext uri="{FF2B5EF4-FFF2-40B4-BE49-F238E27FC236}">
                    <a16:creationId xmlns:a16="http://schemas.microsoft.com/office/drawing/2014/main" id="{55BA1F67-6F6F-9451-030A-53F0CCFA5F52}"/>
                  </a:ext>
                </a:extLst>
              </p:cNvPr>
              <p:cNvSpPr/>
              <p:nvPr/>
            </p:nvSpPr>
            <p:spPr>
              <a:xfrm>
                <a:off x="5833204" y="4749857"/>
                <a:ext cx="927393" cy="556436"/>
              </a:xfrm>
              <a:prstGeom prst="round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생성된 지능 </a:t>
                </a:r>
                <a:r>
                  <a:rPr kumimoji="0" lang="en-US" altLang="ko-KR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API </a:t>
                </a:r>
                <a:r>
                  <a:rPr kumimoji="0" lang="ko-KR" altLang="en-US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로 배포</a:t>
                </a:r>
                <a:endParaRPr kumimoji="0" lang="en-US" altLang="ko-KR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endParaRP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800" b="1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On cloud</a:t>
                </a:r>
                <a:endParaRPr kumimoji="0" lang="ko-KR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endParaRPr>
              </a:p>
            </p:txBody>
          </p:sp>
          <p:pic>
            <p:nvPicPr>
              <p:cNvPr id="28" name="그림 27">
                <a:extLst>
                  <a:ext uri="{FF2B5EF4-FFF2-40B4-BE49-F238E27FC236}">
                    <a16:creationId xmlns:a16="http://schemas.microsoft.com/office/drawing/2014/main" id="{0DD91150-2010-EB7A-5F1E-A684839AB98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4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85249" y="5021889"/>
                <a:ext cx="293349" cy="309131"/>
              </a:xfrm>
              <a:prstGeom prst="rect">
                <a:avLst/>
              </a:prstGeom>
            </p:spPr>
          </p:pic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A48C8A8B-F608-749D-8D00-961D2BEDBEBF}"/>
                  </a:ext>
                </a:extLst>
              </p:cNvPr>
              <p:cNvSpPr/>
              <p:nvPr/>
            </p:nvSpPr>
            <p:spPr>
              <a:xfrm>
                <a:off x="673141" y="5376397"/>
                <a:ext cx="1208043" cy="45073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도메인 전문가</a:t>
                </a:r>
                <a:endParaRPr kumimoji="0" lang="en-US" altLang="ko-KR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endParaRPr>
              </a:p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rPr>
                  <a:t>필요 지능 정의</a:t>
                </a:r>
              </a:p>
            </p:txBody>
          </p:sp>
        </p:grpSp>
        <p:sp>
          <p:nvSpPr>
            <p:cNvPr id="55" name="왼쪽 화살표 330">
              <a:extLst>
                <a:ext uri="{FF2B5EF4-FFF2-40B4-BE49-F238E27FC236}">
                  <a16:creationId xmlns:a16="http://schemas.microsoft.com/office/drawing/2014/main" id="{B24F013C-36AF-CC1C-8396-289715007FDB}"/>
                </a:ext>
              </a:extLst>
            </p:cNvPr>
            <p:cNvSpPr/>
            <p:nvPr/>
          </p:nvSpPr>
          <p:spPr bwMode="gray">
            <a:xfrm rot="5400000" flipH="1">
              <a:off x="3699298" y="3116298"/>
              <a:ext cx="367231" cy="245543"/>
            </a:xfrm>
            <a:prstGeom prst="leftArrow">
              <a:avLst>
                <a:gd name="adj1" fmla="val 57606"/>
                <a:gd name="adj2" fmla="val 51964"/>
              </a:avLst>
            </a:prstGeom>
            <a:gradFill flip="none" rotWithShape="1">
              <a:gsLst>
                <a:gs pos="90000">
                  <a:schemeClr val="tx1">
                    <a:alpha val="50000"/>
                  </a:schemeClr>
                </a:gs>
                <a:gs pos="0">
                  <a:srgbClr val="EAEAEA">
                    <a:alpha val="0"/>
                  </a:srgbClr>
                </a:gs>
              </a:gsLst>
              <a:lin ang="1080000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91432" tIns="45718" rIns="91432" bIns="45718" rtlCol="0" anchor="ctr"/>
            <a:lstStyle/>
            <a:p>
              <a:pPr marL="0" marR="0" lvl="0" indent="0" algn="ctr" defTabSz="91428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amsungOneKorean 400" panose="020B0503030303020204" pitchFamily="50" charset="-127"/>
                <a:ea typeface="SamsungOneKorean 400" panose="020B0503030303020204" pitchFamily="50" charset="-127"/>
                <a:cs typeface="+mn-cs"/>
              </a:endParaRPr>
            </a:p>
          </p:txBody>
        </p:sp>
        <p:grpSp>
          <p:nvGrpSpPr>
            <p:cNvPr id="56" name="그룹 55">
              <a:extLst>
                <a:ext uri="{FF2B5EF4-FFF2-40B4-BE49-F238E27FC236}">
                  <a16:creationId xmlns:a16="http://schemas.microsoft.com/office/drawing/2014/main" id="{736C9D32-DF54-0104-FFFB-9F094121F8C3}"/>
                </a:ext>
              </a:extLst>
            </p:cNvPr>
            <p:cNvGrpSpPr/>
            <p:nvPr/>
          </p:nvGrpSpPr>
          <p:grpSpPr>
            <a:xfrm>
              <a:off x="1670209" y="2264845"/>
              <a:ext cx="4575947" cy="790609"/>
              <a:chOff x="8065952" y="3407152"/>
              <a:chExt cx="4575947" cy="790609"/>
            </a:xfrm>
          </p:grpSpPr>
          <p:sp>
            <p:nvSpPr>
              <p:cNvPr id="57" name="모서리가 둥근 직사각형 322">
                <a:extLst>
                  <a:ext uri="{FF2B5EF4-FFF2-40B4-BE49-F238E27FC236}">
                    <a16:creationId xmlns:a16="http://schemas.microsoft.com/office/drawing/2014/main" id="{116F16D6-7831-A95F-BBD3-085719AAC28F}"/>
                  </a:ext>
                </a:extLst>
              </p:cNvPr>
              <p:cNvSpPr/>
              <p:nvPr/>
            </p:nvSpPr>
            <p:spPr>
              <a:xfrm>
                <a:off x="8065952" y="3407152"/>
                <a:ext cx="4575947" cy="790609"/>
              </a:xfrm>
              <a:prstGeom prst="roundRect">
                <a:avLst>
                  <a:gd name="adj" fmla="val 14891"/>
                </a:avLst>
              </a:prstGeom>
              <a:solidFill>
                <a:schemeClr val="bg1">
                  <a:lumMod val="95000"/>
                </a:schemeClr>
              </a:solidFill>
              <a:ln w="12700" cap="flat" cmpd="sng" algn="ctr">
                <a:solidFill>
                  <a:schemeClr val="bg1">
                    <a:lumMod val="50000"/>
                  </a:schemeClr>
                </a:solidFill>
                <a:prstDash val="solid"/>
                <a:miter lim="800000"/>
              </a:ln>
              <a:effectLst/>
            </p:spPr>
            <p:txBody>
              <a:bodyPr wrap="none"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4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endParaRPr>
              </a:p>
            </p:txBody>
          </p:sp>
          <p:grpSp>
            <p:nvGrpSpPr>
              <p:cNvPr id="58" name="그룹 57">
                <a:extLst>
                  <a:ext uri="{FF2B5EF4-FFF2-40B4-BE49-F238E27FC236}">
                    <a16:creationId xmlns:a16="http://schemas.microsoft.com/office/drawing/2014/main" id="{A91DE668-CEA6-1056-8B63-D3E10DD808BA}"/>
                  </a:ext>
                </a:extLst>
              </p:cNvPr>
              <p:cNvGrpSpPr/>
              <p:nvPr/>
            </p:nvGrpSpPr>
            <p:grpSpPr>
              <a:xfrm>
                <a:off x="8347518" y="3637877"/>
                <a:ext cx="645626" cy="440528"/>
                <a:chOff x="2605468" y="4030117"/>
                <a:chExt cx="645626" cy="440528"/>
              </a:xfrm>
            </p:grpSpPr>
            <p:sp>
              <p:nvSpPr>
                <p:cNvPr id="71" name="직사각형 70">
                  <a:extLst>
                    <a:ext uri="{FF2B5EF4-FFF2-40B4-BE49-F238E27FC236}">
                      <a16:creationId xmlns:a16="http://schemas.microsoft.com/office/drawing/2014/main" id="{BB8E5767-E69F-210D-3BB0-B37CBADC77AF}"/>
                    </a:ext>
                  </a:extLst>
                </p:cNvPr>
                <p:cNvSpPr/>
                <p:nvPr/>
              </p:nvSpPr>
              <p:spPr>
                <a:xfrm>
                  <a:off x="2605468" y="4270590"/>
                  <a:ext cx="645626" cy="2000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700" b="0" i="0" u="none" strike="noStrike" kern="1200" cap="none" spc="-24" normalizeH="0" baseline="0" noProof="0" dirty="0">
                      <a:ln>
                        <a:solidFill>
                          <a:srgbClr val="3F51B5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도메인 전문가</a:t>
                  </a:r>
                </a:p>
              </p:txBody>
            </p:sp>
            <p:pic>
              <p:nvPicPr>
                <p:cNvPr id="72" name="그림 71">
                  <a:extLst>
                    <a:ext uri="{FF2B5EF4-FFF2-40B4-BE49-F238E27FC236}">
                      <a16:creationId xmlns:a16="http://schemas.microsoft.com/office/drawing/2014/main" id="{B71AC162-6FAE-918F-CC2D-C6CB9050171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 cstate="print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schemeClr val="accent4">
                      <a:shade val="45000"/>
                      <a:satMod val="135000"/>
                    </a:schemeClr>
                    <a:prstClr val="white"/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22911" y="4030117"/>
                  <a:ext cx="232302" cy="244800"/>
                </a:xfrm>
                <a:prstGeom prst="rect">
                  <a:avLst/>
                </a:prstGeom>
              </p:spPr>
            </p:pic>
          </p:grp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55033981-5C3B-FAFC-C548-281B5BCAF776}"/>
                  </a:ext>
                </a:extLst>
              </p:cNvPr>
              <p:cNvGrpSpPr/>
              <p:nvPr/>
            </p:nvGrpSpPr>
            <p:grpSpPr>
              <a:xfrm>
                <a:off x="9502515" y="3433234"/>
                <a:ext cx="2762558" cy="665726"/>
                <a:chOff x="9204925" y="3433024"/>
                <a:chExt cx="2762558" cy="665726"/>
              </a:xfrm>
            </p:grpSpPr>
            <p:pic>
              <p:nvPicPr>
                <p:cNvPr id="63" name="그림 62">
                  <a:extLst>
                    <a:ext uri="{FF2B5EF4-FFF2-40B4-BE49-F238E27FC236}">
                      <a16:creationId xmlns:a16="http://schemas.microsoft.com/office/drawing/2014/main" id="{4B99B28E-E566-1AE7-769B-F795BDBF837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chemeClr val="tx2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9415532" y="3650837"/>
                  <a:ext cx="267515" cy="292729"/>
                </a:xfrm>
                <a:prstGeom prst="rect">
                  <a:avLst/>
                </a:prstGeom>
              </p:spPr>
            </p:pic>
            <p:pic>
              <p:nvPicPr>
                <p:cNvPr id="64" name="그림 63">
                  <a:extLst>
                    <a:ext uri="{FF2B5EF4-FFF2-40B4-BE49-F238E27FC236}">
                      <a16:creationId xmlns:a16="http://schemas.microsoft.com/office/drawing/2014/main" id="{8D8866AC-F1C9-2051-9B74-56CCB80BBA0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chemeClr val="accent5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10435656" y="3641779"/>
                  <a:ext cx="267515" cy="292729"/>
                </a:xfrm>
                <a:prstGeom prst="rect">
                  <a:avLst/>
                </a:prstGeom>
              </p:spPr>
            </p:pic>
            <p:pic>
              <p:nvPicPr>
                <p:cNvPr id="65" name="그림 64">
                  <a:extLst>
                    <a:ext uri="{FF2B5EF4-FFF2-40B4-BE49-F238E27FC236}">
                      <a16:creationId xmlns:a16="http://schemas.microsoft.com/office/drawing/2014/main" id="{5861DFD1-3125-6FB8-2A70-DEDD4B922B83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chemeClr val="accent6">
                      <a:tint val="45000"/>
                      <a:satMod val="400000"/>
                    </a:schemeClr>
                  </a:duotone>
                </a:blip>
                <a:stretch>
                  <a:fillRect/>
                </a:stretch>
              </p:blipFill>
              <p:spPr>
                <a:xfrm>
                  <a:off x="11417369" y="3650837"/>
                  <a:ext cx="267516" cy="292729"/>
                </a:xfrm>
                <a:prstGeom prst="rect">
                  <a:avLst/>
                </a:prstGeom>
              </p:spPr>
            </p:pic>
            <p:sp>
              <p:nvSpPr>
                <p:cNvPr id="66" name="직사각형 65">
                  <a:extLst>
                    <a:ext uri="{FF2B5EF4-FFF2-40B4-BE49-F238E27FC236}">
                      <a16:creationId xmlns:a16="http://schemas.microsoft.com/office/drawing/2014/main" id="{37511388-6902-93C2-317E-ED52E682C521}"/>
                    </a:ext>
                  </a:extLst>
                </p:cNvPr>
                <p:cNvSpPr/>
                <p:nvPr/>
              </p:nvSpPr>
              <p:spPr>
                <a:xfrm>
                  <a:off x="9291296" y="3898695"/>
                  <a:ext cx="571760" cy="2000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700" b="0" i="0" u="none" strike="noStrike" kern="1200" cap="none" spc="-24" normalizeH="0" baseline="0" noProof="0" dirty="0">
                      <a:ln>
                        <a:solidFill>
                          <a:srgbClr val="3F51B5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데이터 지능</a:t>
                  </a:r>
                </a:p>
              </p:txBody>
            </p:sp>
            <p:sp>
              <p:nvSpPr>
                <p:cNvPr id="67" name="직사각형 66">
                  <a:extLst>
                    <a:ext uri="{FF2B5EF4-FFF2-40B4-BE49-F238E27FC236}">
                      <a16:creationId xmlns:a16="http://schemas.microsoft.com/office/drawing/2014/main" id="{83C66795-661C-1540-6145-155CBCC432A7}"/>
                    </a:ext>
                  </a:extLst>
                </p:cNvPr>
                <p:cNvSpPr/>
                <p:nvPr/>
              </p:nvSpPr>
              <p:spPr>
                <a:xfrm>
                  <a:off x="10104375" y="3898695"/>
                  <a:ext cx="976971" cy="20005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700" b="0" i="0" u="none" strike="noStrike" kern="1200" cap="none" spc="-24" normalizeH="0" baseline="0" noProof="0" dirty="0">
                      <a:ln>
                        <a:solidFill>
                          <a:srgbClr val="3F51B5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코드 지능</a:t>
                  </a:r>
                </a:p>
              </p:txBody>
            </p:sp>
            <p:sp>
              <p:nvSpPr>
                <p:cNvPr id="68" name="직사각형 67">
                  <a:extLst>
                    <a:ext uri="{FF2B5EF4-FFF2-40B4-BE49-F238E27FC236}">
                      <a16:creationId xmlns:a16="http://schemas.microsoft.com/office/drawing/2014/main" id="{5A0A5EDE-825C-32C2-75D4-559CAE43E261}"/>
                    </a:ext>
                  </a:extLst>
                </p:cNvPr>
                <p:cNvSpPr/>
                <p:nvPr/>
              </p:nvSpPr>
              <p:spPr>
                <a:xfrm>
                  <a:off x="11330295" y="3898695"/>
                  <a:ext cx="497893" cy="20005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700" b="0" i="0" u="none" strike="noStrike" kern="1200" cap="none" spc="-24" normalizeH="0" baseline="0" noProof="0" dirty="0">
                      <a:ln>
                        <a:solidFill>
                          <a:srgbClr val="3F51B5">
                            <a:alpha val="0"/>
                          </a:srgbClr>
                        </a:solidFill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배포 지능</a:t>
                  </a:r>
                </a:p>
              </p:txBody>
            </p:sp>
            <p:sp>
              <p:nvSpPr>
                <p:cNvPr id="69" name="모서리가 둥근 직사각형 336">
                  <a:extLst>
                    <a:ext uri="{FF2B5EF4-FFF2-40B4-BE49-F238E27FC236}">
                      <a16:creationId xmlns:a16="http://schemas.microsoft.com/office/drawing/2014/main" id="{2BA18F1D-F814-4451-6D46-B16473FCD91C}"/>
                    </a:ext>
                  </a:extLst>
                </p:cNvPr>
                <p:cNvSpPr/>
                <p:nvPr/>
              </p:nvSpPr>
              <p:spPr>
                <a:xfrm>
                  <a:off x="9204925" y="3517519"/>
                  <a:ext cx="2762558" cy="555975"/>
                </a:xfrm>
                <a:prstGeom prst="roundRect">
                  <a:avLst>
                    <a:gd name="adj" fmla="val 11858"/>
                  </a:avLst>
                </a:prstGeom>
                <a:noFill/>
                <a:ln>
                  <a:solidFill>
                    <a:schemeClr val="accent5">
                      <a:lumMod val="60000"/>
                      <a:lumOff val="40000"/>
                    </a:schemeClr>
                  </a:solidFill>
                  <a:prstDash val="dash"/>
                </a:ln>
              </p:spPr>
              <p:txBody>
                <a:bodyPr wrap="none" rtlCol="0" anchor="ctr">
                  <a:noAutofit/>
                </a:bodyPr>
                <a:lstStyle/>
                <a:p>
                  <a:pPr marL="0" marR="0" lvl="0" indent="0" algn="ctr" defTabSz="805062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endParaRPr>
                </a:p>
                <a:p>
                  <a:pPr marL="0" marR="0" lvl="0" indent="0" algn="ctr" defTabSz="805062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ko-KR" sz="900" b="0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85000"/>
                        <a:lumOff val="15000"/>
                      </a:prstClr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endParaRPr>
                </a:p>
              </p:txBody>
            </p:sp>
            <p:sp>
              <p:nvSpPr>
                <p:cNvPr id="70" name="직사각형 69">
                  <a:extLst>
                    <a:ext uri="{FF2B5EF4-FFF2-40B4-BE49-F238E27FC236}">
                      <a16:creationId xmlns:a16="http://schemas.microsoft.com/office/drawing/2014/main" id="{3B6E3BD4-38E0-EA9B-0EE6-77CF6657D3BF}"/>
                    </a:ext>
                  </a:extLst>
                </p:cNvPr>
                <p:cNvSpPr/>
                <p:nvPr/>
              </p:nvSpPr>
              <p:spPr>
                <a:xfrm>
                  <a:off x="10000146" y="3433024"/>
                  <a:ext cx="1170160" cy="25805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</p:spPr>
              <p:txBody>
                <a:bodyPr wrap="none">
                  <a:spAutoFit/>
                </a:bodyPr>
                <a:lstStyle/>
                <a:p>
                  <a:pPr marL="0" marR="0" lvl="0" indent="0" algn="ctr" defTabSz="805062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en-US" sz="1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✅ </a:t>
                  </a:r>
                  <a:r>
                    <a:rPr kumimoji="0" lang="en-US" altLang="ko-KR" sz="10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>
                          <a:lumMod val="85000"/>
                          <a:lumOff val="15000"/>
                        </a:prstClr>
                      </a:solidFill>
                      <a:effectLst/>
                      <a:uLnTx/>
                      <a:uFillTx/>
                      <a:latin typeface="SamsungOneKorean 400" panose="020B0503030303020204" pitchFamily="50" charset="-127"/>
                      <a:ea typeface="SamsungOneKorean 400" panose="020B0503030303020204" pitchFamily="50" charset="-127"/>
                      <a:cs typeface="+mn-cs"/>
                    </a:rPr>
                    <a:t>AI Self-Service</a:t>
                  </a: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D03A23FE-823D-4A29-9354-8334F47EF860}"/>
                  </a:ext>
                </a:extLst>
              </p:cNvPr>
              <p:cNvGrpSpPr/>
              <p:nvPr/>
            </p:nvGrpSpPr>
            <p:grpSpPr>
              <a:xfrm>
                <a:off x="9066851" y="3673088"/>
                <a:ext cx="338304" cy="324411"/>
                <a:chOff x="9348043" y="3683882"/>
                <a:chExt cx="338304" cy="324411"/>
              </a:xfrm>
            </p:grpSpPr>
            <p:sp>
              <p:nvSpPr>
                <p:cNvPr id="61" name="원호 60">
                  <a:extLst>
                    <a:ext uri="{FF2B5EF4-FFF2-40B4-BE49-F238E27FC236}">
                      <a16:creationId xmlns:a16="http://schemas.microsoft.com/office/drawing/2014/main" id="{F5000143-C959-3F87-FA62-ADAC95E76A65}"/>
                    </a:ext>
                  </a:extLst>
                </p:cNvPr>
                <p:cNvSpPr/>
                <p:nvPr/>
              </p:nvSpPr>
              <p:spPr>
                <a:xfrm rot="17419492">
                  <a:off x="9405665" y="3727610"/>
                  <a:ext cx="260640" cy="300725"/>
                </a:xfrm>
                <a:prstGeom prst="arc">
                  <a:avLst>
                    <a:gd name="adj1" fmla="val 17848361"/>
                    <a:gd name="adj2" fmla="val 1356935"/>
                  </a:avLst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endParaRPr>
                </a:p>
              </p:txBody>
            </p:sp>
            <p:sp>
              <p:nvSpPr>
                <p:cNvPr id="62" name="원호 61">
                  <a:extLst>
                    <a:ext uri="{FF2B5EF4-FFF2-40B4-BE49-F238E27FC236}">
                      <a16:creationId xmlns:a16="http://schemas.microsoft.com/office/drawing/2014/main" id="{CEED5805-76F1-B235-2E60-86F0AAA2DA14}"/>
                    </a:ext>
                  </a:extLst>
                </p:cNvPr>
                <p:cNvSpPr/>
                <p:nvPr/>
              </p:nvSpPr>
              <p:spPr>
                <a:xfrm rot="6619492">
                  <a:off x="9368086" y="3663839"/>
                  <a:ext cx="260640" cy="300725"/>
                </a:xfrm>
                <a:prstGeom prst="arc">
                  <a:avLst>
                    <a:gd name="adj1" fmla="val 17848361"/>
                    <a:gd name="adj2" fmla="val 1356935"/>
                  </a:avLst>
                </a:prstGeom>
                <a:ln>
                  <a:solidFill>
                    <a:schemeClr val="tx1"/>
                  </a:solidFill>
                  <a:headEnd type="none" w="med" len="med"/>
                  <a:tailEnd type="triangl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SamsungOneKorean 400" panose="020B0503030303020204" pitchFamily="50" charset="-127"/>
                    <a:ea typeface="SamsungOneKorean 400" panose="020B0503030303020204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73" name="직사각형 72">
              <a:extLst>
                <a:ext uri="{FF2B5EF4-FFF2-40B4-BE49-F238E27FC236}">
                  <a16:creationId xmlns:a16="http://schemas.microsoft.com/office/drawing/2014/main" id="{59E100C8-59BB-561A-AE48-7174EA714FAF}"/>
                </a:ext>
              </a:extLst>
            </p:cNvPr>
            <p:cNvSpPr/>
            <p:nvPr/>
          </p:nvSpPr>
          <p:spPr>
            <a:xfrm>
              <a:off x="2517325" y="3046801"/>
              <a:ext cx="2782756" cy="2580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rPr>
                <a:t>도메인 전문가 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rPr>
                <a:t>End to End </a:t>
              </a:r>
              <a:r>
                <a:rPr kumimoji="0" lang="ko-KR" altLang="en-US" sz="10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rPr>
                <a:t>셀프</a:t>
              </a:r>
              <a:r>
                <a:rPr kumimoji="0" lang="en-US" altLang="ko-KR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rPr>
                <a:t> </a:t>
              </a:r>
              <a:r>
                <a:rPr kumimoji="0" lang="ko-KR" altLang="en-US" sz="1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SamsungOneKorean 400" panose="020B0503030303020204" pitchFamily="50" charset="-127"/>
                  <a:ea typeface="SamsungOneKorean 400" panose="020B0503030303020204" pitchFamily="50" charset="-127"/>
                  <a:cs typeface="+mn-cs"/>
                </a:rPr>
                <a:t>처리 </a:t>
              </a:r>
              <a:endParaRPr kumimoji="0" lang="en-US" altLang="ko-KR" sz="10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SamsungOneKorean 400" panose="020B0503030303020204" pitchFamily="50" charset="-127"/>
                <a:ea typeface="SamsungOneKorean 400" panose="020B05030303030202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144402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0689E0-DB17-688C-19DF-2F5475D3C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Agent vs Multi-Agent</a:t>
            </a:r>
            <a:endParaRPr lang="ko-KR" altLang="en-US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7814558C-6823-899B-A603-C58C8821E6B0}"/>
              </a:ext>
            </a:extLst>
          </p:cNvPr>
          <p:cNvGrpSpPr/>
          <p:nvPr/>
        </p:nvGrpSpPr>
        <p:grpSpPr>
          <a:xfrm>
            <a:off x="395288" y="691137"/>
            <a:ext cx="8353426" cy="4148865"/>
            <a:chOff x="276685" y="1258263"/>
            <a:chExt cx="11662979" cy="5165396"/>
          </a:xfrm>
        </p:grpSpPr>
        <p:sp>
          <p:nvSpPr>
            <p:cNvPr id="6" name="모서리가 둥근 직사각형 125">
              <a:extLst>
                <a:ext uri="{FF2B5EF4-FFF2-40B4-BE49-F238E27FC236}">
                  <a16:creationId xmlns:a16="http://schemas.microsoft.com/office/drawing/2014/main" id="{5ABE3E4E-CCEB-5C97-B8CC-5F529AF47DD8}"/>
                </a:ext>
              </a:extLst>
            </p:cNvPr>
            <p:cNvSpPr/>
            <p:nvPr/>
          </p:nvSpPr>
          <p:spPr>
            <a:xfrm>
              <a:off x="301034" y="1301642"/>
              <a:ext cx="5745954" cy="5122017"/>
            </a:xfrm>
            <a:prstGeom prst="roundRect">
              <a:avLst>
                <a:gd name="adj" fmla="val 377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Freeform 12">
              <a:extLst>
                <a:ext uri="{FF2B5EF4-FFF2-40B4-BE49-F238E27FC236}">
                  <a16:creationId xmlns:a16="http://schemas.microsoft.com/office/drawing/2014/main" id="{7D51BBFD-9D69-95C3-11CA-894BB6829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283" y="3936015"/>
              <a:ext cx="741800" cy="612659"/>
            </a:xfrm>
            <a:custGeom>
              <a:avLst/>
              <a:gdLst>
                <a:gd name="T0" fmla="*/ 0 w 642"/>
                <a:gd name="T1" fmla="*/ 309 h 617"/>
                <a:gd name="T2" fmla="*/ 321 w 642"/>
                <a:gd name="T3" fmla="*/ 0 h 617"/>
                <a:gd name="T4" fmla="*/ 642 w 642"/>
                <a:gd name="T5" fmla="*/ 309 h 617"/>
                <a:gd name="T6" fmla="*/ 321 w 642"/>
                <a:gd name="T7" fmla="*/ 617 h 617"/>
                <a:gd name="T8" fmla="*/ 0 w 642"/>
                <a:gd name="T9" fmla="*/ 309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2" h="617">
                  <a:moveTo>
                    <a:pt x="0" y="309"/>
                  </a:moveTo>
                  <a:cubicBezTo>
                    <a:pt x="1" y="45"/>
                    <a:pt x="175" y="0"/>
                    <a:pt x="321" y="0"/>
                  </a:cubicBezTo>
                  <a:cubicBezTo>
                    <a:pt x="467" y="0"/>
                    <a:pt x="641" y="45"/>
                    <a:pt x="642" y="309"/>
                  </a:cubicBezTo>
                  <a:cubicBezTo>
                    <a:pt x="641" y="572"/>
                    <a:pt x="467" y="617"/>
                    <a:pt x="321" y="617"/>
                  </a:cubicBezTo>
                  <a:cubicBezTo>
                    <a:pt x="175" y="617"/>
                    <a:pt x="1" y="572"/>
                    <a:pt x="0" y="309"/>
                  </a:cubicBezTo>
                  <a:close/>
                </a:path>
              </a:pathLst>
            </a:custGeom>
            <a:solidFill>
              <a:srgbClr val="333E5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모서리가 둥근 직사각형 125">
              <a:extLst>
                <a:ext uri="{FF2B5EF4-FFF2-40B4-BE49-F238E27FC236}">
                  <a16:creationId xmlns:a16="http://schemas.microsoft.com/office/drawing/2014/main" id="{46B511C7-1116-7B4A-B24F-EE5EE551AFF6}"/>
                </a:ext>
              </a:extLst>
            </p:cNvPr>
            <p:cNvSpPr/>
            <p:nvPr/>
          </p:nvSpPr>
          <p:spPr>
            <a:xfrm>
              <a:off x="6169361" y="1301642"/>
              <a:ext cx="5745954" cy="5122017"/>
            </a:xfrm>
            <a:prstGeom prst="roundRect">
              <a:avLst>
                <a:gd name="adj" fmla="val 377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모서리가 둥근 직사각형 138">
              <a:extLst>
                <a:ext uri="{FF2B5EF4-FFF2-40B4-BE49-F238E27FC236}">
                  <a16:creationId xmlns:a16="http://schemas.microsoft.com/office/drawing/2014/main" id="{AB4DD36D-B89B-4128-7A98-B32D92757249}"/>
                </a:ext>
              </a:extLst>
            </p:cNvPr>
            <p:cNvSpPr/>
            <p:nvPr/>
          </p:nvSpPr>
          <p:spPr>
            <a:xfrm>
              <a:off x="6891017" y="3216034"/>
              <a:ext cx="4338642" cy="784545"/>
            </a:xfrm>
            <a:prstGeom prst="roundRect">
              <a:avLst>
                <a:gd name="adj" fmla="val 3568"/>
              </a:avLst>
            </a:prstGeom>
            <a:solidFill>
              <a:srgbClr val="D3DF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50" b="0" i="0" u="none" strike="noStrike" kern="120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496E261C-E197-D78B-2B14-B13634CCDB1E}"/>
                </a:ext>
              </a:extLst>
            </p:cNvPr>
            <p:cNvGrpSpPr/>
            <p:nvPr/>
          </p:nvGrpSpPr>
          <p:grpSpPr>
            <a:xfrm>
              <a:off x="7302072" y="3424815"/>
              <a:ext cx="636658" cy="322709"/>
              <a:chOff x="4041206" y="2397242"/>
              <a:chExt cx="636658" cy="322709"/>
            </a:xfrm>
          </p:grpSpPr>
          <p:sp>
            <p:nvSpPr>
              <p:cNvPr id="204" name="모서리가 둥근 직사각형 103">
                <a:extLst>
                  <a:ext uri="{FF2B5EF4-FFF2-40B4-BE49-F238E27FC236}">
                    <a16:creationId xmlns:a16="http://schemas.microsoft.com/office/drawing/2014/main" id="{DF0DF654-086A-AF9E-D241-433DA5CD4D0D}"/>
                  </a:ext>
                </a:extLst>
              </p:cNvPr>
              <p:cNvSpPr/>
              <p:nvPr/>
            </p:nvSpPr>
            <p:spPr bwMode="gray">
              <a:xfrm>
                <a:off x="4041206" y="2397242"/>
                <a:ext cx="636658" cy="322709"/>
              </a:xfrm>
              <a:prstGeom prst="roundRect">
                <a:avLst/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205" name="그룹 204">
                <a:extLst>
                  <a:ext uri="{FF2B5EF4-FFF2-40B4-BE49-F238E27FC236}">
                    <a16:creationId xmlns:a16="http://schemas.microsoft.com/office/drawing/2014/main" id="{38F92B6A-C2C4-BCA1-FAC0-1E75D4A292B2}"/>
                  </a:ext>
                </a:extLst>
              </p:cNvPr>
              <p:cNvGrpSpPr/>
              <p:nvPr/>
            </p:nvGrpSpPr>
            <p:grpSpPr>
              <a:xfrm>
                <a:off x="4231974" y="2458406"/>
                <a:ext cx="255123" cy="200380"/>
                <a:chOff x="17290804" y="7826307"/>
                <a:chExt cx="756105" cy="593863"/>
              </a:xfrm>
            </p:grpSpPr>
            <p:sp>
              <p:nvSpPr>
                <p:cNvPr id="206" name="Freeform 107">
                  <a:extLst>
                    <a:ext uri="{FF2B5EF4-FFF2-40B4-BE49-F238E27FC236}">
                      <a16:creationId xmlns:a16="http://schemas.microsoft.com/office/drawing/2014/main" id="{C18E7885-1A48-723B-A348-42F1757ACFC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361211" y="7953344"/>
                  <a:ext cx="612231" cy="466826"/>
                </a:xfrm>
                <a:custGeom>
                  <a:avLst/>
                  <a:gdLst>
                    <a:gd name="T0" fmla="*/ 154 w 192"/>
                    <a:gd name="T1" fmla="*/ 145 h 145"/>
                    <a:gd name="T2" fmla="*/ 37 w 192"/>
                    <a:gd name="T3" fmla="*/ 145 h 145"/>
                    <a:gd name="T4" fmla="*/ 0 w 192"/>
                    <a:gd name="T5" fmla="*/ 109 h 145"/>
                    <a:gd name="T6" fmla="*/ 0 w 192"/>
                    <a:gd name="T7" fmla="*/ 36 h 145"/>
                    <a:gd name="T8" fmla="*/ 37 w 192"/>
                    <a:gd name="T9" fmla="*/ 0 h 145"/>
                    <a:gd name="T10" fmla="*/ 154 w 192"/>
                    <a:gd name="T11" fmla="*/ 0 h 145"/>
                    <a:gd name="T12" fmla="*/ 192 w 192"/>
                    <a:gd name="T13" fmla="*/ 36 h 145"/>
                    <a:gd name="T14" fmla="*/ 192 w 192"/>
                    <a:gd name="T15" fmla="*/ 109 h 145"/>
                    <a:gd name="T16" fmla="*/ 154 w 192"/>
                    <a:gd name="T17" fmla="*/ 145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45">
                      <a:moveTo>
                        <a:pt x="154" y="145"/>
                      </a:moveTo>
                      <a:cubicBezTo>
                        <a:pt x="37" y="145"/>
                        <a:pt x="37" y="145"/>
                        <a:pt x="37" y="145"/>
                      </a:cubicBezTo>
                      <a:cubicBezTo>
                        <a:pt x="17" y="145"/>
                        <a:pt x="0" y="129"/>
                        <a:pt x="0" y="109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0" y="16"/>
                        <a:pt x="17" y="0"/>
                        <a:pt x="37" y="0"/>
                      </a:cubicBezTo>
                      <a:cubicBezTo>
                        <a:pt x="154" y="0"/>
                        <a:pt x="154" y="0"/>
                        <a:pt x="154" y="0"/>
                      </a:cubicBezTo>
                      <a:cubicBezTo>
                        <a:pt x="175" y="0"/>
                        <a:pt x="192" y="16"/>
                        <a:pt x="192" y="36"/>
                      </a:cubicBezTo>
                      <a:cubicBezTo>
                        <a:pt x="192" y="109"/>
                        <a:pt x="192" y="109"/>
                        <a:pt x="192" y="109"/>
                      </a:cubicBezTo>
                      <a:cubicBezTo>
                        <a:pt x="192" y="129"/>
                        <a:pt x="175" y="145"/>
                        <a:pt x="154" y="14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07" name="Freeform 108">
                  <a:extLst>
                    <a:ext uri="{FF2B5EF4-FFF2-40B4-BE49-F238E27FC236}">
                      <a16:creationId xmlns:a16="http://schemas.microsoft.com/office/drawing/2014/main" id="{F6061E7A-224C-D9A8-03F9-EC0EFC375F9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90804" y="8107933"/>
                  <a:ext cx="70407" cy="192853"/>
                </a:xfrm>
                <a:custGeom>
                  <a:avLst/>
                  <a:gdLst>
                    <a:gd name="T0" fmla="*/ 22 w 22"/>
                    <a:gd name="T1" fmla="*/ 60 h 60"/>
                    <a:gd name="T2" fmla="*/ 0 w 22"/>
                    <a:gd name="T3" fmla="*/ 30 h 60"/>
                    <a:gd name="T4" fmla="*/ 22 w 22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" h="60">
                      <a:moveTo>
                        <a:pt x="22" y="60"/>
                      </a:moveTo>
                      <a:cubicBezTo>
                        <a:pt x="8" y="57"/>
                        <a:pt x="0" y="45"/>
                        <a:pt x="0" y="30"/>
                      </a:cubicBezTo>
                      <a:cubicBezTo>
                        <a:pt x="0" y="15"/>
                        <a:pt x="8" y="2"/>
                        <a:pt x="22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08" name="Freeform 109">
                  <a:extLst>
                    <a:ext uri="{FF2B5EF4-FFF2-40B4-BE49-F238E27FC236}">
                      <a16:creationId xmlns:a16="http://schemas.microsoft.com/office/drawing/2014/main" id="{B1C944B6-6853-C87F-0971-4D619A7BFB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3441" y="8107933"/>
                  <a:ext cx="73468" cy="192853"/>
                </a:xfrm>
                <a:custGeom>
                  <a:avLst/>
                  <a:gdLst>
                    <a:gd name="T0" fmla="*/ 0 w 23"/>
                    <a:gd name="T1" fmla="*/ 60 h 60"/>
                    <a:gd name="T2" fmla="*/ 23 w 23"/>
                    <a:gd name="T3" fmla="*/ 30 h 60"/>
                    <a:gd name="T4" fmla="*/ 0 w 23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" h="60">
                      <a:moveTo>
                        <a:pt x="0" y="60"/>
                      </a:moveTo>
                      <a:cubicBezTo>
                        <a:pt x="13" y="57"/>
                        <a:pt x="23" y="45"/>
                        <a:pt x="23" y="30"/>
                      </a:cubicBezTo>
                      <a:cubicBezTo>
                        <a:pt x="23" y="15"/>
                        <a:pt x="13" y="2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09" name="Line 110">
                  <a:extLst>
                    <a:ext uri="{FF2B5EF4-FFF2-40B4-BE49-F238E27FC236}">
                      <a16:creationId xmlns:a16="http://schemas.microsoft.com/office/drawing/2014/main" id="{4370AD78-C718-E4BA-1DA7-CC86E833BB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67326" y="7898244"/>
                  <a:ext cx="0" cy="55101"/>
                </a:xfrm>
                <a:prstGeom prst="lin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10" name="Oval 111">
                  <a:extLst>
                    <a:ext uri="{FF2B5EF4-FFF2-40B4-BE49-F238E27FC236}">
                      <a16:creationId xmlns:a16="http://schemas.microsoft.com/office/drawing/2014/main" id="{A0B70B39-2D4A-0F42-CC06-89343DC2217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35184" y="7826307"/>
                  <a:ext cx="64284" cy="71937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11" name="Oval 112">
                  <a:extLst>
                    <a:ext uri="{FF2B5EF4-FFF2-40B4-BE49-F238E27FC236}">
                      <a16:creationId xmlns:a16="http://schemas.microsoft.com/office/drawing/2014/main" id="{CECBA480-E501-3D5C-5CDC-41876BD2B74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92840" y="8071199"/>
                  <a:ext cx="120916" cy="119385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12" name="Oval 113">
                  <a:extLst>
                    <a:ext uri="{FF2B5EF4-FFF2-40B4-BE49-F238E27FC236}">
                      <a16:creationId xmlns:a16="http://schemas.microsoft.com/office/drawing/2014/main" id="{532AC4CC-B650-FC7A-09D5-74F0B0E0BF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22427" y="8071199"/>
                  <a:ext cx="117854" cy="119385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13" name="Freeform 114">
                  <a:extLst>
                    <a:ext uri="{FF2B5EF4-FFF2-40B4-BE49-F238E27FC236}">
                      <a16:creationId xmlns:a16="http://schemas.microsoft.com/office/drawing/2014/main" id="{FD7E7358-93F6-9AEF-BA5D-2FBA25EAF1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55594" y="8309969"/>
                  <a:ext cx="223464" cy="55101"/>
                </a:xfrm>
                <a:custGeom>
                  <a:avLst/>
                  <a:gdLst>
                    <a:gd name="T0" fmla="*/ 0 w 70"/>
                    <a:gd name="T1" fmla="*/ 0 h 17"/>
                    <a:gd name="T2" fmla="*/ 70 w 70"/>
                    <a:gd name="T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0" h="17">
                      <a:moveTo>
                        <a:pt x="0" y="0"/>
                      </a:moveTo>
                      <a:cubicBezTo>
                        <a:pt x="0" y="0"/>
                        <a:pt x="29" y="17"/>
                        <a:pt x="7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86E842F-1415-D22B-4E21-C3BEF70A3189}"/>
                </a:ext>
              </a:extLst>
            </p:cNvPr>
            <p:cNvCxnSpPr>
              <a:stCxn id="204" idx="3"/>
              <a:endCxn id="173" idx="1"/>
            </p:cNvCxnSpPr>
            <p:nvPr/>
          </p:nvCxnSpPr>
          <p:spPr>
            <a:xfrm>
              <a:off x="7938730" y="3586170"/>
              <a:ext cx="326211" cy="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prstDash val="solid"/>
              <a:round/>
              <a:headEnd type="none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839381AD-D72E-C7B7-A7C2-84FC4018314B}"/>
                </a:ext>
              </a:extLst>
            </p:cNvPr>
            <p:cNvCxnSpPr>
              <a:stCxn id="173" idx="3"/>
              <a:endCxn id="184" idx="1"/>
            </p:cNvCxnSpPr>
            <p:nvPr/>
          </p:nvCxnSpPr>
          <p:spPr>
            <a:xfrm>
              <a:off x="8901599" y="3586170"/>
              <a:ext cx="326211" cy="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prstDash val="solid"/>
              <a:round/>
              <a:headEnd type="none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28277AF6-F9CE-F3F7-420D-D740F6720E82}"/>
                </a:ext>
              </a:extLst>
            </p:cNvPr>
            <p:cNvCxnSpPr>
              <a:stCxn id="184" idx="3"/>
              <a:endCxn id="194" idx="1"/>
            </p:cNvCxnSpPr>
            <p:nvPr/>
          </p:nvCxnSpPr>
          <p:spPr>
            <a:xfrm>
              <a:off x="9864468" y="3586170"/>
              <a:ext cx="326212" cy="0"/>
            </a:xfrm>
            <a:prstGeom prst="line">
              <a:avLst/>
            </a:prstGeom>
            <a:noFill/>
            <a:ln w="9525" cap="sq">
              <a:solidFill>
                <a:schemeClr val="tx1"/>
              </a:solidFill>
              <a:prstDash val="solid"/>
              <a:round/>
              <a:headEnd type="none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89CDF4C1-41CA-217D-6602-3E7E93D05E62}"/>
                </a:ext>
              </a:extLst>
            </p:cNvPr>
            <p:cNvGrpSpPr/>
            <p:nvPr/>
          </p:nvGrpSpPr>
          <p:grpSpPr>
            <a:xfrm>
              <a:off x="10190680" y="3424815"/>
              <a:ext cx="636658" cy="322709"/>
              <a:chOff x="6929814" y="2397242"/>
              <a:chExt cx="636658" cy="322709"/>
            </a:xfrm>
          </p:grpSpPr>
          <p:sp>
            <p:nvSpPr>
              <p:cNvPr id="194" name="모서리가 둥근 직사각형 117">
                <a:extLst>
                  <a:ext uri="{FF2B5EF4-FFF2-40B4-BE49-F238E27FC236}">
                    <a16:creationId xmlns:a16="http://schemas.microsoft.com/office/drawing/2014/main" id="{71D1B4C9-1717-24B5-3C73-E05761558E9E}"/>
                  </a:ext>
                </a:extLst>
              </p:cNvPr>
              <p:cNvSpPr/>
              <p:nvPr/>
            </p:nvSpPr>
            <p:spPr bwMode="gray">
              <a:xfrm>
                <a:off x="6929814" y="2397242"/>
                <a:ext cx="636658" cy="322709"/>
              </a:xfrm>
              <a:prstGeom prst="roundRect">
                <a:avLst/>
              </a:prstGeom>
              <a:solidFill>
                <a:srgbClr val="1428A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95" name="그룹 194">
                <a:extLst>
                  <a:ext uri="{FF2B5EF4-FFF2-40B4-BE49-F238E27FC236}">
                    <a16:creationId xmlns:a16="http://schemas.microsoft.com/office/drawing/2014/main" id="{757584A5-9648-552C-BD82-5FF27285B0CC}"/>
                  </a:ext>
                </a:extLst>
              </p:cNvPr>
              <p:cNvGrpSpPr/>
              <p:nvPr/>
            </p:nvGrpSpPr>
            <p:grpSpPr>
              <a:xfrm>
                <a:off x="7120582" y="2458406"/>
                <a:ext cx="255123" cy="200380"/>
                <a:chOff x="17290804" y="7826307"/>
                <a:chExt cx="756105" cy="593863"/>
              </a:xfrm>
            </p:grpSpPr>
            <p:sp>
              <p:nvSpPr>
                <p:cNvPr id="196" name="Freeform 107">
                  <a:extLst>
                    <a:ext uri="{FF2B5EF4-FFF2-40B4-BE49-F238E27FC236}">
                      <a16:creationId xmlns:a16="http://schemas.microsoft.com/office/drawing/2014/main" id="{E33CBF90-08B6-105B-A521-4A0E065ABA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361211" y="7953344"/>
                  <a:ext cx="612231" cy="466826"/>
                </a:xfrm>
                <a:custGeom>
                  <a:avLst/>
                  <a:gdLst>
                    <a:gd name="T0" fmla="*/ 154 w 192"/>
                    <a:gd name="T1" fmla="*/ 145 h 145"/>
                    <a:gd name="T2" fmla="*/ 37 w 192"/>
                    <a:gd name="T3" fmla="*/ 145 h 145"/>
                    <a:gd name="T4" fmla="*/ 0 w 192"/>
                    <a:gd name="T5" fmla="*/ 109 h 145"/>
                    <a:gd name="T6" fmla="*/ 0 w 192"/>
                    <a:gd name="T7" fmla="*/ 36 h 145"/>
                    <a:gd name="T8" fmla="*/ 37 w 192"/>
                    <a:gd name="T9" fmla="*/ 0 h 145"/>
                    <a:gd name="T10" fmla="*/ 154 w 192"/>
                    <a:gd name="T11" fmla="*/ 0 h 145"/>
                    <a:gd name="T12" fmla="*/ 192 w 192"/>
                    <a:gd name="T13" fmla="*/ 36 h 145"/>
                    <a:gd name="T14" fmla="*/ 192 w 192"/>
                    <a:gd name="T15" fmla="*/ 109 h 145"/>
                    <a:gd name="T16" fmla="*/ 154 w 192"/>
                    <a:gd name="T17" fmla="*/ 145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45">
                      <a:moveTo>
                        <a:pt x="154" y="145"/>
                      </a:moveTo>
                      <a:cubicBezTo>
                        <a:pt x="37" y="145"/>
                        <a:pt x="37" y="145"/>
                        <a:pt x="37" y="145"/>
                      </a:cubicBezTo>
                      <a:cubicBezTo>
                        <a:pt x="17" y="145"/>
                        <a:pt x="0" y="129"/>
                        <a:pt x="0" y="109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0" y="16"/>
                        <a:pt x="17" y="0"/>
                        <a:pt x="37" y="0"/>
                      </a:cubicBezTo>
                      <a:cubicBezTo>
                        <a:pt x="154" y="0"/>
                        <a:pt x="154" y="0"/>
                        <a:pt x="154" y="0"/>
                      </a:cubicBezTo>
                      <a:cubicBezTo>
                        <a:pt x="175" y="0"/>
                        <a:pt x="192" y="16"/>
                        <a:pt x="192" y="36"/>
                      </a:cubicBezTo>
                      <a:cubicBezTo>
                        <a:pt x="192" y="109"/>
                        <a:pt x="192" y="109"/>
                        <a:pt x="192" y="109"/>
                      </a:cubicBezTo>
                      <a:cubicBezTo>
                        <a:pt x="192" y="129"/>
                        <a:pt x="175" y="145"/>
                        <a:pt x="154" y="14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97" name="Freeform 108">
                  <a:extLst>
                    <a:ext uri="{FF2B5EF4-FFF2-40B4-BE49-F238E27FC236}">
                      <a16:creationId xmlns:a16="http://schemas.microsoft.com/office/drawing/2014/main" id="{FD28DDE3-5553-64CE-8B77-3D2021929F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90804" y="8107933"/>
                  <a:ext cx="70407" cy="192853"/>
                </a:xfrm>
                <a:custGeom>
                  <a:avLst/>
                  <a:gdLst>
                    <a:gd name="T0" fmla="*/ 22 w 22"/>
                    <a:gd name="T1" fmla="*/ 60 h 60"/>
                    <a:gd name="T2" fmla="*/ 0 w 22"/>
                    <a:gd name="T3" fmla="*/ 30 h 60"/>
                    <a:gd name="T4" fmla="*/ 22 w 22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" h="60">
                      <a:moveTo>
                        <a:pt x="22" y="60"/>
                      </a:moveTo>
                      <a:cubicBezTo>
                        <a:pt x="8" y="57"/>
                        <a:pt x="0" y="45"/>
                        <a:pt x="0" y="30"/>
                      </a:cubicBezTo>
                      <a:cubicBezTo>
                        <a:pt x="0" y="15"/>
                        <a:pt x="8" y="2"/>
                        <a:pt x="22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98" name="Freeform 109">
                  <a:extLst>
                    <a:ext uri="{FF2B5EF4-FFF2-40B4-BE49-F238E27FC236}">
                      <a16:creationId xmlns:a16="http://schemas.microsoft.com/office/drawing/2014/main" id="{5AC6EDB1-E08C-113D-B747-1AC253742E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3441" y="8107933"/>
                  <a:ext cx="73468" cy="192853"/>
                </a:xfrm>
                <a:custGeom>
                  <a:avLst/>
                  <a:gdLst>
                    <a:gd name="T0" fmla="*/ 0 w 23"/>
                    <a:gd name="T1" fmla="*/ 60 h 60"/>
                    <a:gd name="T2" fmla="*/ 23 w 23"/>
                    <a:gd name="T3" fmla="*/ 30 h 60"/>
                    <a:gd name="T4" fmla="*/ 0 w 23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" h="60">
                      <a:moveTo>
                        <a:pt x="0" y="60"/>
                      </a:moveTo>
                      <a:cubicBezTo>
                        <a:pt x="13" y="57"/>
                        <a:pt x="23" y="45"/>
                        <a:pt x="23" y="30"/>
                      </a:cubicBezTo>
                      <a:cubicBezTo>
                        <a:pt x="23" y="15"/>
                        <a:pt x="13" y="2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99" name="Line 110">
                  <a:extLst>
                    <a:ext uri="{FF2B5EF4-FFF2-40B4-BE49-F238E27FC236}">
                      <a16:creationId xmlns:a16="http://schemas.microsoft.com/office/drawing/2014/main" id="{76DCBA27-4763-75D4-06EB-866508F8B88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667326" y="7898244"/>
                  <a:ext cx="0" cy="55101"/>
                </a:xfrm>
                <a:prstGeom prst="lin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00" name="Oval 111">
                  <a:extLst>
                    <a:ext uri="{FF2B5EF4-FFF2-40B4-BE49-F238E27FC236}">
                      <a16:creationId xmlns:a16="http://schemas.microsoft.com/office/drawing/2014/main" id="{04D322A8-D55E-81DA-B4EA-2C5A7573EC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635184" y="7826307"/>
                  <a:ext cx="64284" cy="71937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01" name="Oval 112">
                  <a:extLst>
                    <a:ext uri="{FF2B5EF4-FFF2-40B4-BE49-F238E27FC236}">
                      <a16:creationId xmlns:a16="http://schemas.microsoft.com/office/drawing/2014/main" id="{D47CE862-0E63-3826-EAAD-F6FBDF4447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92840" y="8071199"/>
                  <a:ext cx="120916" cy="119385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02" name="Oval 113">
                  <a:extLst>
                    <a:ext uri="{FF2B5EF4-FFF2-40B4-BE49-F238E27FC236}">
                      <a16:creationId xmlns:a16="http://schemas.microsoft.com/office/drawing/2014/main" id="{EF2838FD-FF0C-17F4-F214-5CBD6700B8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22427" y="8071199"/>
                  <a:ext cx="117854" cy="119385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203" name="Freeform 114">
                  <a:extLst>
                    <a:ext uri="{FF2B5EF4-FFF2-40B4-BE49-F238E27FC236}">
                      <a16:creationId xmlns:a16="http://schemas.microsoft.com/office/drawing/2014/main" id="{C337CC7F-B079-5100-94C6-9FD7EADDB40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55594" y="8309969"/>
                  <a:ext cx="223464" cy="55101"/>
                </a:xfrm>
                <a:custGeom>
                  <a:avLst/>
                  <a:gdLst>
                    <a:gd name="T0" fmla="*/ 0 w 70"/>
                    <a:gd name="T1" fmla="*/ 0 h 17"/>
                    <a:gd name="T2" fmla="*/ 70 w 70"/>
                    <a:gd name="T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0" h="17">
                      <a:moveTo>
                        <a:pt x="0" y="0"/>
                      </a:moveTo>
                      <a:cubicBezTo>
                        <a:pt x="0" y="0"/>
                        <a:pt x="29" y="17"/>
                        <a:pt x="7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grpSp>
          <p:nvGrpSpPr>
            <p:cNvPr id="15" name="그룹 14">
              <a:extLst>
                <a:ext uri="{FF2B5EF4-FFF2-40B4-BE49-F238E27FC236}">
                  <a16:creationId xmlns:a16="http://schemas.microsoft.com/office/drawing/2014/main" id="{BD1E8DC6-B31A-5961-5D38-7067047080DE}"/>
                </a:ext>
              </a:extLst>
            </p:cNvPr>
            <p:cNvGrpSpPr/>
            <p:nvPr/>
          </p:nvGrpSpPr>
          <p:grpSpPr>
            <a:xfrm>
              <a:off x="9227810" y="3424815"/>
              <a:ext cx="636658" cy="322709"/>
              <a:chOff x="5966944" y="2397242"/>
              <a:chExt cx="636658" cy="322709"/>
            </a:xfrm>
          </p:grpSpPr>
          <p:sp>
            <p:nvSpPr>
              <p:cNvPr id="184" name="모서리가 둥근 직사각형 128">
                <a:extLst>
                  <a:ext uri="{FF2B5EF4-FFF2-40B4-BE49-F238E27FC236}">
                    <a16:creationId xmlns:a16="http://schemas.microsoft.com/office/drawing/2014/main" id="{207D6D4A-B7BD-2CE1-4723-3C4450F1D8C7}"/>
                  </a:ext>
                </a:extLst>
              </p:cNvPr>
              <p:cNvSpPr/>
              <p:nvPr/>
            </p:nvSpPr>
            <p:spPr bwMode="gray">
              <a:xfrm>
                <a:off x="5966944" y="2397242"/>
                <a:ext cx="636658" cy="322709"/>
              </a:xfrm>
              <a:prstGeom prst="roundRect">
                <a:avLst/>
              </a:prstGeom>
              <a:solidFill>
                <a:srgbClr val="6779A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1FC2AEFB-3CD1-F1F5-C0B5-C5C36139889F}"/>
                  </a:ext>
                </a:extLst>
              </p:cNvPr>
              <p:cNvGrpSpPr/>
              <p:nvPr/>
            </p:nvGrpSpPr>
            <p:grpSpPr>
              <a:xfrm>
                <a:off x="6159368" y="2464541"/>
                <a:ext cx="251810" cy="188111"/>
                <a:chOff x="3973754" y="3277260"/>
                <a:chExt cx="573310" cy="428283"/>
              </a:xfrm>
            </p:grpSpPr>
            <p:grpSp>
              <p:nvGrpSpPr>
                <p:cNvPr id="186" name="그룹 185">
                  <a:extLst>
                    <a:ext uri="{FF2B5EF4-FFF2-40B4-BE49-F238E27FC236}">
                      <a16:creationId xmlns:a16="http://schemas.microsoft.com/office/drawing/2014/main" id="{AA06A64E-D24C-C4E0-C319-8313AAC9B899}"/>
                    </a:ext>
                  </a:extLst>
                </p:cNvPr>
                <p:cNvGrpSpPr/>
                <p:nvPr/>
              </p:nvGrpSpPr>
              <p:grpSpPr>
                <a:xfrm>
                  <a:off x="3973754" y="3351576"/>
                  <a:ext cx="573310" cy="353967"/>
                  <a:chOff x="17290804" y="7953344"/>
                  <a:chExt cx="756105" cy="466826"/>
                </a:xfrm>
              </p:grpSpPr>
              <p:sp>
                <p:nvSpPr>
                  <p:cNvPr id="188" name="Freeform 107">
                    <a:extLst>
                      <a:ext uri="{FF2B5EF4-FFF2-40B4-BE49-F238E27FC236}">
                        <a16:creationId xmlns:a16="http://schemas.microsoft.com/office/drawing/2014/main" id="{DEF6712A-7968-3709-FE9D-64EF3997F4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361211" y="7953344"/>
                    <a:ext cx="612231" cy="466826"/>
                  </a:xfrm>
                  <a:custGeom>
                    <a:avLst/>
                    <a:gdLst>
                      <a:gd name="T0" fmla="*/ 154 w 192"/>
                      <a:gd name="T1" fmla="*/ 145 h 145"/>
                      <a:gd name="T2" fmla="*/ 37 w 192"/>
                      <a:gd name="T3" fmla="*/ 145 h 145"/>
                      <a:gd name="T4" fmla="*/ 0 w 192"/>
                      <a:gd name="T5" fmla="*/ 109 h 145"/>
                      <a:gd name="T6" fmla="*/ 0 w 192"/>
                      <a:gd name="T7" fmla="*/ 36 h 145"/>
                      <a:gd name="T8" fmla="*/ 37 w 192"/>
                      <a:gd name="T9" fmla="*/ 0 h 145"/>
                      <a:gd name="T10" fmla="*/ 154 w 192"/>
                      <a:gd name="T11" fmla="*/ 0 h 145"/>
                      <a:gd name="T12" fmla="*/ 192 w 192"/>
                      <a:gd name="T13" fmla="*/ 36 h 145"/>
                      <a:gd name="T14" fmla="*/ 192 w 192"/>
                      <a:gd name="T15" fmla="*/ 109 h 145"/>
                      <a:gd name="T16" fmla="*/ 154 w 192"/>
                      <a:gd name="T17" fmla="*/ 145 h 14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</a:cxnLst>
                    <a:rect l="0" t="0" r="r" b="b"/>
                    <a:pathLst>
                      <a:path w="192" h="145">
                        <a:moveTo>
                          <a:pt x="154" y="145"/>
                        </a:moveTo>
                        <a:cubicBezTo>
                          <a:pt x="37" y="145"/>
                          <a:pt x="37" y="145"/>
                          <a:pt x="37" y="145"/>
                        </a:cubicBezTo>
                        <a:cubicBezTo>
                          <a:pt x="17" y="145"/>
                          <a:pt x="0" y="129"/>
                          <a:pt x="0" y="109"/>
                        </a:cubicBezTo>
                        <a:cubicBezTo>
                          <a:pt x="0" y="36"/>
                          <a:pt x="0" y="36"/>
                          <a:pt x="0" y="36"/>
                        </a:cubicBezTo>
                        <a:cubicBezTo>
                          <a:pt x="0" y="16"/>
                          <a:pt x="17" y="0"/>
                          <a:pt x="37" y="0"/>
                        </a:cubicBezTo>
                        <a:cubicBezTo>
                          <a:pt x="154" y="0"/>
                          <a:pt x="154" y="0"/>
                          <a:pt x="154" y="0"/>
                        </a:cubicBezTo>
                        <a:cubicBezTo>
                          <a:pt x="175" y="0"/>
                          <a:pt x="192" y="16"/>
                          <a:pt x="192" y="36"/>
                        </a:cubicBezTo>
                        <a:cubicBezTo>
                          <a:pt x="192" y="109"/>
                          <a:pt x="192" y="109"/>
                          <a:pt x="192" y="109"/>
                        </a:cubicBezTo>
                        <a:cubicBezTo>
                          <a:pt x="192" y="129"/>
                          <a:pt x="175" y="145"/>
                          <a:pt x="154" y="145"/>
                        </a:cubicBezTo>
                        <a:close/>
                      </a:path>
                    </a:pathLst>
                  </a:custGeom>
                  <a:noFill/>
                  <a:ln w="12700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89" name="Freeform 108">
                    <a:extLst>
                      <a:ext uri="{FF2B5EF4-FFF2-40B4-BE49-F238E27FC236}">
                        <a16:creationId xmlns:a16="http://schemas.microsoft.com/office/drawing/2014/main" id="{B11C7BCE-C48C-1226-D9B1-26FD4A4129D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290804" y="8107933"/>
                    <a:ext cx="70407" cy="192853"/>
                  </a:xfrm>
                  <a:custGeom>
                    <a:avLst/>
                    <a:gdLst>
                      <a:gd name="T0" fmla="*/ 22 w 22"/>
                      <a:gd name="T1" fmla="*/ 60 h 60"/>
                      <a:gd name="T2" fmla="*/ 0 w 22"/>
                      <a:gd name="T3" fmla="*/ 30 h 60"/>
                      <a:gd name="T4" fmla="*/ 22 w 22"/>
                      <a:gd name="T5" fmla="*/ 0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2" h="60">
                        <a:moveTo>
                          <a:pt x="22" y="60"/>
                        </a:moveTo>
                        <a:cubicBezTo>
                          <a:pt x="8" y="57"/>
                          <a:pt x="0" y="45"/>
                          <a:pt x="0" y="30"/>
                        </a:cubicBezTo>
                        <a:cubicBezTo>
                          <a:pt x="0" y="15"/>
                          <a:pt x="8" y="2"/>
                          <a:pt x="22" y="0"/>
                        </a:cubicBezTo>
                      </a:path>
                    </a:pathLst>
                  </a:custGeom>
                  <a:noFill/>
                  <a:ln w="12700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90" name="Freeform 109">
                    <a:extLst>
                      <a:ext uri="{FF2B5EF4-FFF2-40B4-BE49-F238E27FC236}">
                        <a16:creationId xmlns:a16="http://schemas.microsoft.com/office/drawing/2014/main" id="{7BA421F3-D9FA-4A86-AA0B-743A79F460A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973441" y="8107933"/>
                    <a:ext cx="73468" cy="192853"/>
                  </a:xfrm>
                  <a:custGeom>
                    <a:avLst/>
                    <a:gdLst>
                      <a:gd name="T0" fmla="*/ 0 w 23"/>
                      <a:gd name="T1" fmla="*/ 60 h 60"/>
                      <a:gd name="T2" fmla="*/ 23 w 23"/>
                      <a:gd name="T3" fmla="*/ 30 h 60"/>
                      <a:gd name="T4" fmla="*/ 0 w 23"/>
                      <a:gd name="T5" fmla="*/ 0 h 6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23" h="60">
                        <a:moveTo>
                          <a:pt x="0" y="60"/>
                        </a:moveTo>
                        <a:cubicBezTo>
                          <a:pt x="13" y="57"/>
                          <a:pt x="23" y="45"/>
                          <a:pt x="23" y="30"/>
                        </a:cubicBezTo>
                        <a:cubicBezTo>
                          <a:pt x="23" y="15"/>
                          <a:pt x="13" y="2"/>
                          <a:pt x="0" y="0"/>
                        </a:cubicBezTo>
                      </a:path>
                    </a:pathLst>
                  </a:custGeom>
                  <a:noFill/>
                  <a:ln w="12700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91" name="Oval 112">
                    <a:extLst>
                      <a:ext uri="{FF2B5EF4-FFF2-40B4-BE49-F238E27FC236}">
                        <a16:creationId xmlns:a16="http://schemas.microsoft.com/office/drawing/2014/main" id="{51E9D04A-A8BA-EFC4-444E-C80BAC0B14E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492840" y="8071199"/>
                    <a:ext cx="120916" cy="119385"/>
                  </a:xfrm>
                  <a:prstGeom prst="ellipse">
                    <a:avLst/>
                  </a:prstGeom>
                  <a:noFill/>
                  <a:ln w="12700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92" name="Oval 113">
                    <a:extLst>
                      <a:ext uri="{FF2B5EF4-FFF2-40B4-BE49-F238E27FC236}">
                        <a16:creationId xmlns:a16="http://schemas.microsoft.com/office/drawing/2014/main" id="{C50E38F7-D0C2-5151-20D5-971CF0D838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17722427" y="8071199"/>
                    <a:ext cx="117854" cy="119385"/>
                  </a:xfrm>
                  <a:prstGeom prst="ellipse">
                    <a:avLst/>
                  </a:prstGeom>
                  <a:noFill/>
                  <a:ln w="12700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93" name="Freeform 114">
                    <a:extLst>
                      <a:ext uri="{FF2B5EF4-FFF2-40B4-BE49-F238E27FC236}">
                        <a16:creationId xmlns:a16="http://schemas.microsoft.com/office/drawing/2014/main" id="{1951F79D-748E-0FDC-289F-280CDAB744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7555594" y="8309969"/>
                    <a:ext cx="223464" cy="55101"/>
                  </a:xfrm>
                  <a:custGeom>
                    <a:avLst/>
                    <a:gdLst>
                      <a:gd name="T0" fmla="*/ 0 w 70"/>
                      <a:gd name="T1" fmla="*/ 0 h 17"/>
                      <a:gd name="T2" fmla="*/ 70 w 70"/>
                      <a:gd name="T3" fmla="*/ 0 h 17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</a:cxnLst>
                    <a:rect l="0" t="0" r="r" b="b"/>
                    <a:pathLst>
                      <a:path w="70" h="17">
                        <a:moveTo>
                          <a:pt x="0" y="0"/>
                        </a:moveTo>
                        <a:cubicBezTo>
                          <a:pt x="0" y="0"/>
                          <a:pt x="29" y="17"/>
                          <a:pt x="70" y="0"/>
                        </a:cubicBezTo>
                      </a:path>
                    </a:pathLst>
                  </a:custGeom>
                  <a:noFill/>
                  <a:ln w="12700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sp>
              <p:nvSpPr>
                <p:cNvPr id="187" name="Freeform 108">
                  <a:extLst>
                    <a:ext uri="{FF2B5EF4-FFF2-40B4-BE49-F238E27FC236}">
                      <a16:creationId xmlns:a16="http://schemas.microsoft.com/office/drawing/2014/main" id="{B616CBFB-15AF-F836-8E43-8DDCB848EA7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5400000">
                  <a:off x="4227873" y="3169734"/>
                  <a:ext cx="65073" cy="280126"/>
                </a:xfrm>
                <a:custGeom>
                  <a:avLst/>
                  <a:gdLst>
                    <a:gd name="T0" fmla="*/ 22 w 22"/>
                    <a:gd name="T1" fmla="*/ 60 h 60"/>
                    <a:gd name="T2" fmla="*/ 0 w 22"/>
                    <a:gd name="T3" fmla="*/ 30 h 60"/>
                    <a:gd name="T4" fmla="*/ 22 w 22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" h="60">
                      <a:moveTo>
                        <a:pt x="22" y="60"/>
                      </a:moveTo>
                      <a:cubicBezTo>
                        <a:pt x="8" y="57"/>
                        <a:pt x="0" y="45"/>
                        <a:pt x="0" y="30"/>
                      </a:cubicBezTo>
                      <a:cubicBezTo>
                        <a:pt x="0" y="15"/>
                        <a:pt x="8" y="2"/>
                        <a:pt x="22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D9BC56F-E034-72EE-8EC7-D55F6992A6ED}"/>
                </a:ext>
              </a:extLst>
            </p:cNvPr>
            <p:cNvSpPr/>
            <p:nvPr/>
          </p:nvSpPr>
          <p:spPr>
            <a:xfrm>
              <a:off x="7332525" y="3086477"/>
              <a:ext cx="3436474" cy="214829"/>
            </a:xfrm>
            <a:prstGeom prst="rect">
              <a:avLst/>
            </a:prstGeom>
            <a:solidFill>
              <a:srgbClr val="010825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고객 맞춤형 상품 판매</a:t>
              </a:r>
              <a:r>
                <a:rPr kumimoji="0" lang="en-US" altLang="ko-KR" sz="10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10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추천</a:t>
              </a:r>
              <a:r>
                <a:rPr kumimoji="0" lang="en-US" altLang="ko-KR" sz="10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</a:t>
              </a:r>
              <a:r>
                <a:rPr kumimoji="0" lang="ko-KR" altLang="en-US" sz="10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홍보 </a:t>
              </a:r>
              <a:r>
                <a:rPr kumimoji="0" lang="en-US" altLang="ko-KR" sz="10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Process</a:t>
              </a:r>
            </a:p>
          </p:txBody>
        </p: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2362357F-3AAF-ACCC-EDEA-1FE3140C7427}"/>
                </a:ext>
              </a:extLst>
            </p:cNvPr>
            <p:cNvGrpSpPr/>
            <p:nvPr/>
          </p:nvGrpSpPr>
          <p:grpSpPr>
            <a:xfrm>
              <a:off x="8264941" y="3424815"/>
              <a:ext cx="636658" cy="322709"/>
              <a:chOff x="5047618" y="2399823"/>
              <a:chExt cx="636658" cy="322709"/>
            </a:xfrm>
          </p:grpSpPr>
          <p:sp>
            <p:nvSpPr>
              <p:cNvPr id="173" name="모서리가 둥근 직사각형 141">
                <a:extLst>
                  <a:ext uri="{FF2B5EF4-FFF2-40B4-BE49-F238E27FC236}">
                    <a16:creationId xmlns:a16="http://schemas.microsoft.com/office/drawing/2014/main" id="{D19686E1-9AE3-2366-84E7-EFF3F656B812}"/>
                  </a:ext>
                </a:extLst>
              </p:cNvPr>
              <p:cNvSpPr/>
              <p:nvPr/>
            </p:nvSpPr>
            <p:spPr bwMode="gray">
              <a:xfrm>
                <a:off x="5047618" y="2399823"/>
                <a:ext cx="636658" cy="322709"/>
              </a:xfrm>
              <a:prstGeom prst="roundRect">
                <a:avLst/>
              </a:prstGeom>
              <a:solidFill>
                <a:srgbClr val="333E5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grpSp>
            <p:nvGrpSpPr>
              <p:cNvPr id="174" name="그룹 173">
                <a:extLst>
                  <a:ext uri="{FF2B5EF4-FFF2-40B4-BE49-F238E27FC236}">
                    <a16:creationId xmlns:a16="http://schemas.microsoft.com/office/drawing/2014/main" id="{59BD0840-ED0A-F825-8053-5C91A84BD0F1}"/>
                  </a:ext>
                </a:extLst>
              </p:cNvPr>
              <p:cNvGrpSpPr/>
              <p:nvPr/>
            </p:nvGrpSpPr>
            <p:grpSpPr>
              <a:xfrm>
                <a:off x="5238386" y="2482420"/>
                <a:ext cx="255123" cy="157515"/>
                <a:chOff x="6522343" y="3519433"/>
                <a:chExt cx="255123" cy="157515"/>
              </a:xfrm>
            </p:grpSpPr>
            <p:sp>
              <p:nvSpPr>
                <p:cNvPr id="175" name="Freeform 107">
                  <a:extLst>
                    <a:ext uri="{FF2B5EF4-FFF2-40B4-BE49-F238E27FC236}">
                      <a16:creationId xmlns:a16="http://schemas.microsoft.com/office/drawing/2014/main" id="{44C9A16D-337B-E175-3547-01EDABB3545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46100" y="3519433"/>
                  <a:ext cx="206577" cy="157515"/>
                </a:xfrm>
                <a:custGeom>
                  <a:avLst/>
                  <a:gdLst>
                    <a:gd name="T0" fmla="*/ 154 w 192"/>
                    <a:gd name="T1" fmla="*/ 145 h 145"/>
                    <a:gd name="T2" fmla="*/ 37 w 192"/>
                    <a:gd name="T3" fmla="*/ 145 h 145"/>
                    <a:gd name="T4" fmla="*/ 0 w 192"/>
                    <a:gd name="T5" fmla="*/ 109 h 145"/>
                    <a:gd name="T6" fmla="*/ 0 w 192"/>
                    <a:gd name="T7" fmla="*/ 36 h 145"/>
                    <a:gd name="T8" fmla="*/ 37 w 192"/>
                    <a:gd name="T9" fmla="*/ 0 h 145"/>
                    <a:gd name="T10" fmla="*/ 154 w 192"/>
                    <a:gd name="T11" fmla="*/ 0 h 145"/>
                    <a:gd name="T12" fmla="*/ 192 w 192"/>
                    <a:gd name="T13" fmla="*/ 36 h 145"/>
                    <a:gd name="T14" fmla="*/ 192 w 192"/>
                    <a:gd name="T15" fmla="*/ 109 h 145"/>
                    <a:gd name="T16" fmla="*/ 154 w 192"/>
                    <a:gd name="T17" fmla="*/ 145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45">
                      <a:moveTo>
                        <a:pt x="154" y="145"/>
                      </a:moveTo>
                      <a:cubicBezTo>
                        <a:pt x="37" y="145"/>
                        <a:pt x="37" y="145"/>
                        <a:pt x="37" y="145"/>
                      </a:cubicBezTo>
                      <a:cubicBezTo>
                        <a:pt x="17" y="145"/>
                        <a:pt x="0" y="129"/>
                        <a:pt x="0" y="109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0" y="16"/>
                        <a:pt x="17" y="0"/>
                        <a:pt x="37" y="0"/>
                      </a:cubicBezTo>
                      <a:cubicBezTo>
                        <a:pt x="154" y="0"/>
                        <a:pt x="154" y="0"/>
                        <a:pt x="154" y="0"/>
                      </a:cubicBezTo>
                      <a:cubicBezTo>
                        <a:pt x="175" y="0"/>
                        <a:pt x="192" y="16"/>
                        <a:pt x="192" y="36"/>
                      </a:cubicBezTo>
                      <a:cubicBezTo>
                        <a:pt x="192" y="109"/>
                        <a:pt x="192" y="109"/>
                        <a:pt x="192" y="109"/>
                      </a:cubicBezTo>
                      <a:cubicBezTo>
                        <a:pt x="192" y="129"/>
                        <a:pt x="175" y="145"/>
                        <a:pt x="154" y="14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76" name="Freeform 108">
                  <a:extLst>
                    <a:ext uri="{FF2B5EF4-FFF2-40B4-BE49-F238E27FC236}">
                      <a16:creationId xmlns:a16="http://schemas.microsoft.com/office/drawing/2014/main" id="{F5FC500C-B6C7-AE08-3528-07F22EB63AA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522343" y="3571594"/>
                  <a:ext cx="23757" cy="65072"/>
                </a:xfrm>
                <a:custGeom>
                  <a:avLst/>
                  <a:gdLst>
                    <a:gd name="T0" fmla="*/ 22 w 22"/>
                    <a:gd name="T1" fmla="*/ 60 h 60"/>
                    <a:gd name="T2" fmla="*/ 0 w 22"/>
                    <a:gd name="T3" fmla="*/ 30 h 60"/>
                    <a:gd name="T4" fmla="*/ 22 w 22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" h="60">
                      <a:moveTo>
                        <a:pt x="22" y="60"/>
                      </a:moveTo>
                      <a:cubicBezTo>
                        <a:pt x="8" y="57"/>
                        <a:pt x="0" y="45"/>
                        <a:pt x="0" y="30"/>
                      </a:cubicBezTo>
                      <a:cubicBezTo>
                        <a:pt x="0" y="15"/>
                        <a:pt x="8" y="2"/>
                        <a:pt x="22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77" name="Freeform 109">
                  <a:extLst>
                    <a:ext uri="{FF2B5EF4-FFF2-40B4-BE49-F238E27FC236}">
                      <a16:creationId xmlns:a16="http://schemas.microsoft.com/office/drawing/2014/main" id="{6552FFD4-BBB1-3780-251D-15842B09AAA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752677" y="3571594"/>
                  <a:ext cx="24789" cy="65072"/>
                </a:xfrm>
                <a:custGeom>
                  <a:avLst/>
                  <a:gdLst>
                    <a:gd name="T0" fmla="*/ 0 w 23"/>
                    <a:gd name="T1" fmla="*/ 60 h 60"/>
                    <a:gd name="T2" fmla="*/ 23 w 23"/>
                    <a:gd name="T3" fmla="*/ 30 h 60"/>
                    <a:gd name="T4" fmla="*/ 0 w 23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" h="60">
                      <a:moveTo>
                        <a:pt x="0" y="60"/>
                      </a:moveTo>
                      <a:cubicBezTo>
                        <a:pt x="13" y="57"/>
                        <a:pt x="23" y="45"/>
                        <a:pt x="23" y="30"/>
                      </a:cubicBezTo>
                      <a:cubicBezTo>
                        <a:pt x="23" y="15"/>
                        <a:pt x="13" y="2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78" name="Oval 112">
                  <a:extLst>
                    <a:ext uri="{FF2B5EF4-FFF2-40B4-BE49-F238E27FC236}">
                      <a16:creationId xmlns:a16="http://schemas.microsoft.com/office/drawing/2014/main" id="{964270A2-58C6-FF26-BE80-78CF875D189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590513" y="3559199"/>
                  <a:ext cx="40799" cy="40283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79" name="Oval 113">
                  <a:extLst>
                    <a:ext uri="{FF2B5EF4-FFF2-40B4-BE49-F238E27FC236}">
                      <a16:creationId xmlns:a16="http://schemas.microsoft.com/office/drawing/2014/main" id="{6ACEA391-7375-0D60-759F-3AFE055A39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667980" y="3559199"/>
                  <a:ext cx="39766" cy="40283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80" name="Freeform 114">
                  <a:extLst>
                    <a:ext uri="{FF2B5EF4-FFF2-40B4-BE49-F238E27FC236}">
                      <a16:creationId xmlns:a16="http://schemas.microsoft.com/office/drawing/2014/main" id="{23F1461B-A693-6559-1166-2C5895DD84D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6611688" y="3639764"/>
                  <a:ext cx="75401" cy="18592"/>
                </a:xfrm>
                <a:custGeom>
                  <a:avLst/>
                  <a:gdLst>
                    <a:gd name="T0" fmla="*/ 0 w 70"/>
                    <a:gd name="T1" fmla="*/ 0 h 17"/>
                    <a:gd name="T2" fmla="*/ 70 w 70"/>
                    <a:gd name="T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0" h="17">
                      <a:moveTo>
                        <a:pt x="0" y="0"/>
                      </a:moveTo>
                      <a:cubicBezTo>
                        <a:pt x="0" y="0"/>
                        <a:pt x="29" y="17"/>
                        <a:pt x="7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181" name="직선 연결선 180">
                  <a:extLst>
                    <a:ext uri="{FF2B5EF4-FFF2-40B4-BE49-F238E27FC236}">
                      <a16:creationId xmlns:a16="http://schemas.microsoft.com/office/drawing/2014/main" id="{4BA90C74-6A00-EF7F-B1F4-8CE5B56B0376}"/>
                    </a:ext>
                  </a:extLst>
                </p:cNvPr>
                <p:cNvCxnSpPr>
                  <a:stCxn id="175" idx="3"/>
                  <a:endCxn id="178" idx="2"/>
                </p:cNvCxnSpPr>
                <p:nvPr/>
              </p:nvCxnSpPr>
              <p:spPr>
                <a:xfrm>
                  <a:off x="6546100" y="3558540"/>
                  <a:ext cx="44413" cy="20801"/>
                </a:xfrm>
                <a:prstGeom prst="lin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  <p:cxnSp>
              <p:nvCxnSpPr>
                <p:cNvPr id="182" name="직선 연결선 181">
                  <a:extLst>
                    <a:ext uri="{FF2B5EF4-FFF2-40B4-BE49-F238E27FC236}">
                      <a16:creationId xmlns:a16="http://schemas.microsoft.com/office/drawing/2014/main" id="{E407FBFC-8ACE-A83C-D980-9FD6EAF8F876}"/>
                    </a:ext>
                  </a:extLst>
                </p:cNvPr>
                <p:cNvCxnSpPr>
                  <a:stCxn id="175" idx="6"/>
                  <a:endCxn id="179" idx="6"/>
                </p:cNvCxnSpPr>
                <p:nvPr/>
              </p:nvCxnSpPr>
              <p:spPr>
                <a:xfrm flipH="1">
                  <a:off x="6707746" y="3558540"/>
                  <a:ext cx="44931" cy="20801"/>
                </a:xfrm>
                <a:prstGeom prst="lin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  <p:cxnSp>
              <p:nvCxnSpPr>
                <p:cNvPr id="183" name="직선 연결선 182">
                  <a:extLst>
                    <a:ext uri="{FF2B5EF4-FFF2-40B4-BE49-F238E27FC236}">
                      <a16:creationId xmlns:a16="http://schemas.microsoft.com/office/drawing/2014/main" id="{C3BE000E-C9F4-4D1D-AF1B-43B9FCD1E1E1}"/>
                    </a:ext>
                  </a:extLst>
                </p:cNvPr>
                <p:cNvCxnSpPr>
                  <a:stCxn id="179" idx="2"/>
                  <a:endCxn id="178" idx="6"/>
                </p:cNvCxnSpPr>
                <p:nvPr/>
              </p:nvCxnSpPr>
              <p:spPr>
                <a:xfrm flipH="1">
                  <a:off x="6631312" y="3579341"/>
                  <a:ext cx="36668" cy="0"/>
                </a:xfrm>
                <a:prstGeom prst="lin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</p:grpSp>
        </p:grp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446D46F-A520-6234-D5A6-DDF9E55E8959}"/>
                </a:ext>
              </a:extLst>
            </p:cNvPr>
            <p:cNvSpPr/>
            <p:nvPr/>
          </p:nvSpPr>
          <p:spPr>
            <a:xfrm>
              <a:off x="7257208" y="3708668"/>
              <a:ext cx="902402" cy="3222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구매상담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338E945-23D0-E95C-CB85-1C769E70A9ED}"/>
                </a:ext>
              </a:extLst>
            </p:cNvPr>
            <p:cNvSpPr/>
            <p:nvPr/>
          </p:nvSpPr>
          <p:spPr>
            <a:xfrm>
              <a:off x="8235748" y="3708668"/>
              <a:ext cx="902402" cy="3222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상품추천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0FC1C870-8E86-04DF-7FEE-625A52014C78}"/>
                </a:ext>
              </a:extLst>
            </p:cNvPr>
            <p:cNvSpPr/>
            <p:nvPr/>
          </p:nvSpPr>
          <p:spPr>
            <a:xfrm>
              <a:off x="9187399" y="3708668"/>
              <a:ext cx="902402" cy="3222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프로모션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5983B6CB-9D56-66A8-3D11-CE13004A5F46}"/>
                </a:ext>
              </a:extLst>
            </p:cNvPr>
            <p:cNvSpPr/>
            <p:nvPr/>
          </p:nvSpPr>
          <p:spPr>
            <a:xfrm>
              <a:off x="10280548" y="3708668"/>
              <a:ext cx="580115" cy="3222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판매</a:t>
              </a:r>
              <a:endPara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22" name="직선 화살표 연결선 21">
              <a:extLst>
                <a:ext uri="{FF2B5EF4-FFF2-40B4-BE49-F238E27FC236}">
                  <a16:creationId xmlns:a16="http://schemas.microsoft.com/office/drawing/2014/main" id="{35AF54FE-1120-3AC5-7F72-C287F973385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678243" y="3992675"/>
              <a:ext cx="0" cy="499971"/>
            </a:xfrm>
            <a:prstGeom prst="straightConnector1">
              <a:avLst/>
            </a:prstGeom>
            <a:ln w="15875" cap="rnd">
              <a:solidFill>
                <a:srgbClr val="006DFF"/>
              </a:solidFill>
              <a:prstDash val="sysDot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직선 화살표 연결선 22">
              <a:extLst>
                <a:ext uri="{FF2B5EF4-FFF2-40B4-BE49-F238E27FC236}">
                  <a16:creationId xmlns:a16="http://schemas.microsoft.com/office/drawing/2014/main" id="{747A9B27-666A-C47C-EA48-A5BE32381BE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393326" y="3992675"/>
              <a:ext cx="0" cy="474713"/>
            </a:xfrm>
            <a:prstGeom prst="straightConnector1">
              <a:avLst/>
            </a:prstGeom>
            <a:ln w="15875" cap="rnd">
              <a:solidFill>
                <a:srgbClr val="006DFF"/>
              </a:solidFill>
              <a:prstDash val="sysDot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직사각형 23">
              <a:extLst>
                <a:ext uri="{FF2B5EF4-FFF2-40B4-BE49-F238E27FC236}">
                  <a16:creationId xmlns:a16="http://schemas.microsoft.com/office/drawing/2014/main" id="{A316BDAD-7276-18DC-B1FC-172812914B40}"/>
                </a:ext>
              </a:extLst>
            </p:cNvPr>
            <p:cNvSpPr/>
            <p:nvPr/>
          </p:nvSpPr>
          <p:spPr>
            <a:xfrm>
              <a:off x="6875419" y="4960148"/>
              <a:ext cx="1540260" cy="515590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srgbClr val="006D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Multi-Agent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srgbClr val="006D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Communication</a:t>
              </a:r>
            </a:p>
          </p:txBody>
        </p:sp>
        <p:cxnSp>
          <p:nvCxnSpPr>
            <p:cNvPr id="25" name="직선 화살표 연결선 24">
              <a:extLst>
                <a:ext uri="{FF2B5EF4-FFF2-40B4-BE49-F238E27FC236}">
                  <a16:creationId xmlns:a16="http://schemas.microsoft.com/office/drawing/2014/main" id="{F17CDBB3-531A-466E-AB0B-386E8DECF62F}"/>
                </a:ext>
              </a:extLst>
            </p:cNvPr>
            <p:cNvCxnSpPr>
              <a:stCxn id="33" idx="3"/>
              <a:endCxn id="35" idx="0"/>
            </p:cNvCxnSpPr>
            <p:nvPr/>
          </p:nvCxnSpPr>
          <p:spPr>
            <a:xfrm>
              <a:off x="9062100" y="5768161"/>
              <a:ext cx="670" cy="155561"/>
            </a:xfrm>
            <a:prstGeom prst="straightConnector1">
              <a:avLst/>
            </a:prstGeom>
            <a:ln w="15875" cap="rnd">
              <a:solidFill>
                <a:srgbClr val="6779A1"/>
              </a:solidFill>
              <a:prstDash val="sysDot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Freeform 12">
              <a:extLst>
                <a:ext uri="{FF2B5EF4-FFF2-40B4-BE49-F238E27FC236}">
                  <a16:creationId xmlns:a16="http://schemas.microsoft.com/office/drawing/2014/main" id="{95210421-CB03-B581-A530-721EB34B5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89544" y="4231575"/>
              <a:ext cx="615600" cy="525600"/>
            </a:xfrm>
            <a:custGeom>
              <a:avLst/>
              <a:gdLst>
                <a:gd name="T0" fmla="*/ 0 w 642"/>
                <a:gd name="T1" fmla="*/ 309 h 617"/>
                <a:gd name="T2" fmla="*/ 321 w 642"/>
                <a:gd name="T3" fmla="*/ 0 h 617"/>
                <a:gd name="T4" fmla="*/ 642 w 642"/>
                <a:gd name="T5" fmla="*/ 309 h 617"/>
                <a:gd name="T6" fmla="*/ 321 w 642"/>
                <a:gd name="T7" fmla="*/ 617 h 617"/>
                <a:gd name="T8" fmla="*/ 0 w 642"/>
                <a:gd name="T9" fmla="*/ 309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2" h="617">
                  <a:moveTo>
                    <a:pt x="0" y="309"/>
                  </a:moveTo>
                  <a:cubicBezTo>
                    <a:pt x="1" y="45"/>
                    <a:pt x="175" y="0"/>
                    <a:pt x="321" y="0"/>
                  </a:cubicBezTo>
                  <a:cubicBezTo>
                    <a:pt x="467" y="0"/>
                    <a:pt x="641" y="45"/>
                    <a:pt x="642" y="309"/>
                  </a:cubicBezTo>
                  <a:cubicBezTo>
                    <a:pt x="641" y="572"/>
                    <a:pt x="467" y="617"/>
                    <a:pt x="321" y="617"/>
                  </a:cubicBezTo>
                  <a:cubicBezTo>
                    <a:pt x="175" y="617"/>
                    <a:pt x="1" y="572"/>
                    <a:pt x="0" y="309"/>
                  </a:cubicBezTo>
                  <a:close/>
                </a:path>
              </a:pathLst>
            </a:custGeom>
            <a:solidFill>
              <a:srgbClr val="6779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27" name="그룹 26">
              <a:extLst>
                <a:ext uri="{FF2B5EF4-FFF2-40B4-BE49-F238E27FC236}">
                  <a16:creationId xmlns:a16="http://schemas.microsoft.com/office/drawing/2014/main" id="{4692D509-64F5-370B-8FA5-02E762F83A6B}"/>
                </a:ext>
              </a:extLst>
            </p:cNvPr>
            <p:cNvGrpSpPr/>
            <p:nvPr/>
          </p:nvGrpSpPr>
          <p:grpSpPr>
            <a:xfrm>
              <a:off x="10158186" y="4308667"/>
              <a:ext cx="464735" cy="323997"/>
              <a:chOff x="3973754" y="3277260"/>
              <a:chExt cx="573310" cy="428283"/>
            </a:xfrm>
          </p:grpSpPr>
          <p:grpSp>
            <p:nvGrpSpPr>
              <p:cNvPr id="165" name="그룹 164">
                <a:extLst>
                  <a:ext uri="{FF2B5EF4-FFF2-40B4-BE49-F238E27FC236}">
                    <a16:creationId xmlns:a16="http://schemas.microsoft.com/office/drawing/2014/main" id="{44765AE0-9F62-1911-EB10-5C3CA64F6124}"/>
                  </a:ext>
                </a:extLst>
              </p:cNvPr>
              <p:cNvGrpSpPr/>
              <p:nvPr/>
            </p:nvGrpSpPr>
            <p:grpSpPr>
              <a:xfrm>
                <a:off x="3973754" y="3351576"/>
                <a:ext cx="573310" cy="353967"/>
                <a:chOff x="17290804" y="7953344"/>
                <a:chExt cx="756105" cy="466826"/>
              </a:xfrm>
            </p:grpSpPr>
            <p:sp>
              <p:nvSpPr>
                <p:cNvPr id="167" name="Freeform 107">
                  <a:extLst>
                    <a:ext uri="{FF2B5EF4-FFF2-40B4-BE49-F238E27FC236}">
                      <a16:creationId xmlns:a16="http://schemas.microsoft.com/office/drawing/2014/main" id="{DFCE1308-EC60-9F98-ACF1-9F48F2FD2C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361211" y="7953344"/>
                  <a:ext cx="612231" cy="466826"/>
                </a:xfrm>
                <a:custGeom>
                  <a:avLst/>
                  <a:gdLst>
                    <a:gd name="T0" fmla="*/ 154 w 192"/>
                    <a:gd name="T1" fmla="*/ 145 h 145"/>
                    <a:gd name="T2" fmla="*/ 37 w 192"/>
                    <a:gd name="T3" fmla="*/ 145 h 145"/>
                    <a:gd name="T4" fmla="*/ 0 w 192"/>
                    <a:gd name="T5" fmla="*/ 109 h 145"/>
                    <a:gd name="T6" fmla="*/ 0 w 192"/>
                    <a:gd name="T7" fmla="*/ 36 h 145"/>
                    <a:gd name="T8" fmla="*/ 37 w 192"/>
                    <a:gd name="T9" fmla="*/ 0 h 145"/>
                    <a:gd name="T10" fmla="*/ 154 w 192"/>
                    <a:gd name="T11" fmla="*/ 0 h 145"/>
                    <a:gd name="T12" fmla="*/ 192 w 192"/>
                    <a:gd name="T13" fmla="*/ 36 h 145"/>
                    <a:gd name="T14" fmla="*/ 192 w 192"/>
                    <a:gd name="T15" fmla="*/ 109 h 145"/>
                    <a:gd name="T16" fmla="*/ 154 w 192"/>
                    <a:gd name="T17" fmla="*/ 145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45">
                      <a:moveTo>
                        <a:pt x="154" y="145"/>
                      </a:moveTo>
                      <a:cubicBezTo>
                        <a:pt x="37" y="145"/>
                        <a:pt x="37" y="145"/>
                        <a:pt x="37" y="145"/>
                      </a:cubicBezTo>
                      <a:cubicBezTo>
                        <a:pt x="17" y="145"/>
                        <a:pt x="0" y="129"/>
                        <a:pt x="0" y="109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0" y="16"/>
                        <a:pt x="17" y="0"/>
                        <a:pt x="37" y="0"/>
                      </a:cubicBezTo>
                      <a:cubicBezTo>
                        <a:pt x="154" y="0"/>
                        <a:pt x="154" y="0"/>
                        <a:pt x="154" y="0"/>
                      </a:cubicBezTo>
                      <a:cubicBezTo>
                        <a:pt x="175" y="0"/>
                        <a:pt x="192" y="16"/>
                        <a:pt x="192" y="36"/>
                      </a:cubicBezTo>
                      <a:cubicBezTo>
                        <a:pt x="192" y="109"/>
                        <a:pt x="192" y="109"/>
                        <a:pt x="192" y="109"/>
                      </a:cubicBezTo>
                      <a:cubicBezTo>
                        <a:pt x="192" y="129"/>
                        <a:pt x="175" y="145"/>
                        <a:pt x="154" y="14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68" name="Freeform 108">
                  <a:extLst>
                    <a:ext uri="{FF2B5EF4-FFF2-40B4-BE49-F238E27FC236}">
                      <a16:creationId xmlns:a16="http://schemas.microsoft.com/office/drawing/2014/main" id="{DC586391-C604-0FE0-2BEB-2DCB3D0199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90804" y="8107933"/>
                  <a:ext cx="70407" cy="192853"/>
                </a:xfrm>
                <a:custGeom>
                  <a:avLst/>
                  <a:gdLst>
                    <a:gd name="T0" fmla="*/ 22 w 22"/>
                    <a:gd name="T1" fmla="*/ 60 h 60"/>
                    <a:gd name="T2" fmla="*/ 0 w 22"/>
                    <a:gd name="T3" fmla="*/ 30 h 60"/>
                    <a:gd name="T4" fmla="*/ 22 w 22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" h="60">
                      <a:moveTo>
                        <a:pt x="22" y="60"/>
                      </a:moveTo>
                      <a:cubicBezTo>
                        <a:pt x="8" y="57"/>
                        <a:pt x="0" y="45"/>
                        <a:pt x="0" y="30"/>
                      </a:cubicBezTo>
                      <a:cubicBezTo>
                        <a:pt x="0" y="15"/>
                        <a:pt x="8" y="2"/>
                        <a:pt x="22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69" name="Freeform 109">
                  <a:extLst>
                    <a:ext uri="{FF2B5EF4-FFF2-40B4-BE49-F238E27FC236}">
                      <a16:creationId xmlns:a16="http://schemas.microsoft.com/office/drawing/2014/main" id="{929550BD-8433-FEE0-EDB5-887C2C5296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3441" y="8107933"/>
                  <a:ext cx="73468" cy="192853"/>
                </a:xfrm>
                <a:custGeom>
                  <a:avLst/>
                  <a:gdLst>
                    <a:gd name="T0" fmla="*/ 0 w 23"/>
                    <a:gd name="T1" fmla="*/ 60 h 60"/>
                    <a:gd name="T2" fmla="*/ 23 w 23"/>
                    <a:gd name="T3" fmla="*/ 30 h 60"/>
                    <a:gd name="T4" fmla="*/ 0 w 23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" h="60">
                      <a:moveTo>
                        <a:pt x="0" y="60"/>
                      </a:moveTo>
                      <a:cubicBezTo>
                        <a:pt x="13" y="57"/>
                        <a:pt x="23" y="45"/>
                        <a:pt x="23" y="30"/>
                      </a:cubicBezTo>
                      <a:cubicBezTo>
                        <a:pt x="23" y="15"/>
                        <a:pt x="13" y="2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70" name="Oval 112">
                  <a:extLst>
                    <a:ext uri="{FF2B5EF4-FFF2-40B4-BE49-F238E27FC236}">
                      <a16:creationId xmlns:a16="http://schemas.microsoft.com/office/drawing/2014/main" id="{91FA0049-42F6-D00E-6CF3-A7FB5ACE67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92840" y="8071199"/>
                  <a:ext cx="120916" cy="119385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71" name="Oval 113">
                  <a:extLst>
                    <a:ext uri="{FF2B5EF4-FFF2-40B4-BE49-F238E27FC236}">
                      <a16:creationId xmlns:a16="http://schemas.microsoft.com/office/drawing/2014/main" id="{4CA60334-F434-78A1-A504-A9DBD10AE87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22427" y="8071199"/>
                  <a:ext cx="117854" cy="119385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72" name="Freeform 114">
                  <a:extLst>
                    <a:ext uri="{FF2B5EF4-FFF2-40B4-BE49-F238E27FC236}">
                      <a16:creationId xmlns:a16="http://schemas.microsoft.com/office/drawing/2014/main" id="{B27977DA-1024-06A5-3C93-350742554DE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55594" y="8309969"/>
                  <a:ext cx="223464" cy="55101"/>
                </a:xfrm>
                <a:custGeom>
                  <a:avLst/>
                  <a:gdLst>
                    <a:gd name="T0" fmla="*/ 0 w 70"/>
                    <a:gd name="T1" fmla="*/ 0 h 17"/>
                    <a:gd name="T2" fmla="*/ 70 w 70"/>
                    <a:gd name="T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0" h="17">
                      <a:moveTo>
                        <a:pt x="0" y="0"/>
                      </a:moveTo>
                      <a:cubicBezTo>
                        <a:pt x="0" y="0"/>
                        <a:pt x="29" y="17"/>
                        <a:pt x="7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166" name="Freeform 108">
                <a:extLst>
                  <a:ext uri="{FF2B5EF4-FFF2-40B4-BE49-F238E27FC236}">
                    <a16:creationId xmlns:a16="http://schemas.microsoft.com/office/drawing/2014/main" id="{02CC24F1-AED9-CA7F-D2D9-30B128375489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227873" y="3169734"/>
                <a:ext cx="65073" cy="280126"/>
              </a:xfrm>
              <a:custGeom>
                <a:avLst/>
                <a:gdLst>
                  <a:gd name="T0" fmla="*/ 22 w 22"/>
                  <a:gd name="T1" fmla="*/ 60 h 60"/>
                  <a:gd name="T2" fmla="*/ 0 w 22"/>
                  <a:gd name="T3" fmla="*/ 30 h 60"/>
                  <a:gd name="T4" fmla="*/ 22 w 22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60">
                    <a:moveTo>
                      <a:pt x="22" y="60"/>
                    </a:moveTo>
                    <a:cubicBezTo>
                      <a:pt x="8" y="57"/>
                      <a:pt x="0" y="45"/>
                      <a:pt x="0" y="30"/>
                    </a:cubicBezTo>
                    <a:cubicBezTo>
                      <a:pt x="0" y="15"/>
                      <a:pt x="8" y="2"/>
                      <a:pt x="22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21F2038E-1B46-5ACF-852A-ABEA3961AFE2}"/>
                </a:ext>
              </a:extLst>
            </p:cNvPr>
            <p:cNvSpPr/>
            <p:nvPr/>
          </p:nvSpPr>
          <p:spPr>
            <a:xfrm>
              <a:off x="10724151" y="4273348"/>
              <a:ext cx="830783" cy="4726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프로모션</a:t>
              </a:r>
              <a:endParaRPr kumimoji="0" lang="en-US" altLang="ko-KR" sz="800" b="0" i="0" u="none" strike="noStrike" kern="1200" cap="none" spc="0" normalizeH="0" baseline="0" noProof="0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Agent</a:t>
              </a:r>
              <a:endParaRPr kumimoji="0" lang="ko-KR" altLang="en-US" sz="400" b="0" i="0" u="none" strike="noStrike" kern="1200" cap="none" spc="0" normalizeH="0" baseline="0" noProof="0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7115493-846E-812C-60C8-F5EE0634EB91}"/>
                </a:ext>
              </a:extLst>
            </p:cNvPr>
            <p:cNvSpPr/>
            <p:nvPr/>
          </p:nvSpPr>
          <p:spPr>
            <a:xfrm>
              <a:off x="7920699" y="4280030"/>
              <a:ext cx="882259" cy="4726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구매 상담</a:t>
              </a:r>
              <a:endParaRPr kumimoji="0" lang="en-US" altLang="ko-KR" sz="800" b="0" i="0" u="none" strike="noStrike" kern="1200" cap="none" spc="0" normalizeH="0" baseline="0" noProof="0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Agent</a:t>
              </a:r>
              <a:endParaRPr kumimoji="0" lang="ko-KR" altLang="en-US" sz="400" b="0" i="0" u="none" strike="noStrike" kern="1200" cap="none" spc="0" normalizeH="0" baseline="0" noProof="0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30" name="Freeform 12">
              <a:extLst>
                <a:ext uri="{FF2B5EF4-FFF2-40B4-BE49-F238E27FC236}">
                  <a16:creationId xmlns:a16="http://schemas.microsoft.com/office/drawing/2014/main" id="{89F37469-60CC-2BDD-27AC-D0AC276B3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567" y="4242195"/>
              <a:ext cx="615588" cy="525770"/>
            </a:xfrm>
            <a:custGeom>
              <a:avLst/>
              <a:gdLst>
                <a:gd name="T0" fmla="*/ 0 w 642"/>
                <a:gd name="T1" fmla="*/ 309 h 617"/>
                <a:gd name="T2" fmla="*/ 321 w 642"/>
                <a:gd name="T3" fmla="*/ 0 h 617"/>
                <a:gd name="T4" fmla="*/ 642 w 642"/>
                <a:gd name="T5" fmla="*/ 309 h 617"/>
                <a:gd name="T6" fmla="*/ 321 w 642"/>
                <a:gd name="T7" fmla="*/ 617 h 617"/>
                <a:gd name="T8" fmla="*/ 0 w 642"/>
                <a:gd name="T9" fmla="*/ 309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2" h="617">
                  <a:moveTo>
                    <a:pt x="0" y="309"/>
                  </a:moveTo>
                  <a:cubicBezTo>
                    <a:pt x="1" y="45"/>
                    <a:pt x="175" y="0"/>
                    <a:pt x="321" y="0"/>
                  </a:cubicBezTo>
                  <a:cubicBezTo>
                    <a:pt x="467" y="0"/>
                    <a:pt x="641" y="45"/>
                    <a:pt x="642" y="309"/>
                  </a:cubicBezTo>
                  <a:cubicBezTo>
                    <a:pt x="641" y="572"/>
                    <a:pt x="467" y="617"/>
                    <a:pt x="321" y="617"/>
                  </a:cubicBezTo>
                  <a:cubicBezTo>
                    <a:pt x="175" y="617"/>
                    <a:pt x="1" y="572"/>
                    <a:pt x="0" y="309"/>
                  </a:cubicBezTo>
                  <a:close/>
                </a:path>
              </a:pathLst>
            </a:custGeom>
            <a:solidFill>
              <a:srgbClr val="333E5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1" name="그룹 30">
              <a:extLst>
                <a:ext uri="{FF2B5EF4-FFF2-40B4-BE49-F238E27FC236}">
                  <a16:creationId xmlns:a16="http://schemas.microsoft.com/office/drawing/2014/main" id="{AA10F38B-1448-C319-D542-74D67FE7611D}"/>
                </a:ext>
              </a:extLst>
            </p:cNvPr>
            <p:cNvGrpSpPr/>
            <p:nvPr/>
          </p:nvGrpSpPr>
          <p:grpSpPr>
            <a:xfrm>
              <a:off x="7464811" y="4348694"/>
              <a:ext cx="424558" cy="289839"/>
              <a:chOff x="6522343" y="3519433"/>
              <a:chExt cx="255123" cy="157515"/>
            </a:xfrm>
          </p:grpSpPr>
          <p:sp>
            <p:nvSpPr>
              <p:cNvPr id="156" name="Freeform 107">
                <a:extLst>
                  <a:ext uri="{FF2B5EF4-FFF2-40B4-BE49-F238E27FC236}">
                    <a16:creationId xmlns:a16="http://schemas.microsoft.com/office/drawing/2014/main" id="{5D2F3EC8-2B47-E27B-A7C3-BA087FCE58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46100" y="3519433"/>
                <a:ext cx="206577" cy="157515"/>
              </a:xfrm>
              <a:custGeom>
                <a:avLst/>
                <a:gdLst>
                  <a:gd name="T0" fmla="*/ 154 w 192"/>
                  <a:gd name="T1" fmla="*/ 145 h 145"/>
                  <a:gd name="T2" fmla="*/ 37 w 192"/>
                  <a:gd name="T3" fmla="*/ 145 h 145"/>
                  <a:gd name="T4" fmla="*/ 0 w 192"/>
                  <a:gd name="T5" fmla="*/ 109 h 145"/>
                  <a:gd name="T6" fmla="*/ 0 w 192"/>
                  <a:gd name="T7" fmla="*/ 36 h 145"/>
                  <a:gd name="T8" fmla="*/ 37 w 192"/>
                  <a:gd name="T9" fmla="*/ 0 h 145"/>
                  <a:gd name="T10" fmla="*/ 154 w 192"/>
                  <a:gd name="T11" fmla="*/ 0 h 145"/>
                  <a:gd name="T12" fmla="*/ 192 w 192"/>
                  <a:gd name="T13" fmla="*/ 36 h 145"/>
                  <a:gd name="T14" fmla="*/ 192 w 192"/>
                  <a:gd name="T15" fmla="*/ 109 h 145"/>
                  <a:gd name="T16" fmla="*/ 154 w 192"/>
                  <a:gd name="T17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2" h="145">
                    <a:moveTo>
                      <a:pt x="154" y="145"/>
                    </a:moveTo>
                    <a:cubicBezTo>
                      <a:pt x="37" y="145"/>
                      <a:pt x="37" y="145"/>
                      <a:pt x="37" y="145"/>
                    </a:cubicBezTo>
                    <a:cubicBezTo>
                      <a:pt x="17" y="145"/>
                      <a:pt x="0" y="129"/>
                      <a:pt x="0" y="109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16"/>
                      <a:pt x="17" y="0"/>
                      <a:pt x="37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75" y="0"/>
                      <a:pt x="192" y="16"/>
                      <a:pt x="192" y="36"/>
                    </a:cubicBezTo>
                    <a:cubicBezTo>
                      <a:pt x="192" y="109"/>
                      <a:pt x="192" y="109"/>
                      <a:pt x="192" y="109"/>
                    </a:cubicBezTo>
                    <a:cubicBezTo>
                      <a:pt x="192" y="129"/>
                      <a:pt x="175" y="145"/>
                      <a:pt x="154" y="145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7" name="Freeform 108">
                <a:extLst>
                  <a:ext uri="{FF2B5EF4-FFF2-40B4-BE49-F238E27FC236}">
                    <a16:creationId xmlns:a16="http://schemas.microsoft.com/office/drawing/2014/main" id="{639F679C-B25D-EC8D-F0F1-91878E99C0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22343" y="3571594"/>
                <a:ext cx="23757" cy="65072"/>
              </a:xfrm>
              <a:custGeom>
                <a:avLst/>
                <a:gdLst>
                  <a:gd name="T0" fmla="*/ 22 w 22"/>
                  <a:gd name="T1" fmla="*/ 60 h 60"/>
                  <a:gd name="T2" fmla="*/ 0 w 22"/>
                  <a:gd name="T3" fmla="*/ 30 h 60"/>
                  <a:gd name="T4" fmla="*/ 22 w 22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60">
                    <a:moveTo>
                      <a:pt x="22" y="60"/>
                    </a:moveTo>
                    <a:cubicBezTo>
                      <a:pt x="8" y="57"/>
                      <a:pt x="0" y="45"/>
                      <a:pt x="0" y="30"/>
                    </a:cubicBezTo>
                    <a:cubicBezTo>
                      <a:pt x="0" y="15"/>
                      <a:pt x="8" y="2"/>
                      <a:pt x="22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8" name="Freeform 109">
                <a:extLst>
                  <a:ext uri="{FF2B5EF4-FFF2-40B4-BE49-F238E27FC236}">
                    <a16:creationId xmlns:a16="http://schemas.microsoft.com/office/drawing/2014/main" id="{C413E7E7-51FE-28EF-D83F-3EB191C422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752677" y="3571594"/>
                <a:ext cx="24789" cy="65072"/>
              </a:xfrm>
              <a:custGeom>
                <a:avLst/>
                <a:gdLst>
                  <a:gd name="T0" fmla="*/ 0 w 23"/>
                  <a:gd name="T1" fmla="*/ 60 h 60"/>
                  <a:gd name="T2" fmla="*/ 23 w 23"/>
                  <a:gd name="T3" fmla="*/ 30 h 60"/>
                  <a:gd name="T4" fmla="*/ 0 w 23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" h="60">
                    <a:moveTo>
                      <a:pt x="0" y="60"/>
                    </a:moveTo>
                    <a:cubicBezTo>
                      <a:pt x="13" y="57"/>
                      <a:pt x="23" y="45"/>
                      <a:pt x="23" y="30"/>
                    </a:cubicBezTo>
                    <a:cubicBezTo>
                      <a:pt x="23" y="15"/>
                      <a:pt x="13" y="2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9" name="Oval 112">
                <a:extLst>
                  <a:ext uri="{FF2B5EF4-FFF2-40B4-BE49-F238E27FC236}">
                    <a16:creationId xmlns:a16="http://schemas.microsoft.com/office/drawing/2014/main" id="{F0DFF247-A420-09CA-923C-8AEBB5599E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590513" y="3559199"/>
                <a:ext cx="40799" cy="40283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0" name="Oval 113">
                <a:extLst>
                  <a:ext uri="{FF2B5EF4-FFF2-40B4-BE49-F238E27FC236}">
                    <a16:creationId xmlns:a16="http://schemas.microsoft.com/office/drawing/2014/main" id="{53D8E369-4FB7-5CDB-A8B9-51D8A2C29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667980" y="3559199"/>
                <a:ext cx="39766" cy="40283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61" name="Freeform 114">
                <a:extLst>
                  <a:ext uri="{FF2B5EF4-FFF2-40B4-BE49-F238E27FC236}">
                    <a16:creationId xmlns:a16="http://schemas.microsoft.com/office/drawing/2014/main" id="{B02E2E9A-88AA-A0D1-1C76-64AA58F65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611688" y="3639764"/>
                <a:ext cx="75401" cy="18592"/>
              </a:xfrm>
              <a:custGeom>
                <a:avLst/>
                <a:gdLst>
                  <a:gd name="T0" fmla="*/ 0 w 70"/>
                  <a:gd name="T1" fmla="*/ 0 h 17"/>
                  <a:gd name="T2" fmla="*/ 70 w 70"/>
                  <a:gd name="T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0" h="17">
                    <a:moveTo>
                      <a:pt x="0" y="0"/>
                    </a:moveTo>
                    <a:cubicBezTo>
                      <a:pt x="0" y="0"/>
                      <a:pt x="29" y="17"/>
                      <a:pt x="70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cxnSp>
            <p:nvCxnSpPr>
              <p:cNvPr id="162" name="직선 연결선 161">
                <a:extLst>
                  <a:ext uri="{FF2B5EF4-FFF2-40B4-BE49-F238E27FC236}">
                    <a16:creationId xmlns:a16="http://schemas.microsoft.com/office/drawing/2014/main" id="{B5F1225D-7785-A73B-B036-7414DBFC0117}"/>
                  </a:ext>
                </a:extLst>
              </p:cNvPr>
              <p:cNvCxnSpPr>
                <a:stCxn id="156" idx="3"/>
                <a:endCxn id="159" idx="2"/>
              </p:cNvCxnSpPr>
              <p:nvPr/>
            </p:nvCxnSpPr>
            <p:spPr>
              <a:xfrm>
                <a:off x="6546100" y="3558540"/>
                <a:ext cx="44413" cy="20801"/>
              </a:xfrm>
              <a:prstGeom prst="lin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  <p:cxnSp>
            <p:nvCxnSpPr>
              <p:cNvPr id="163" name="직선 연결선 162">
                <a:extLst>
                  <a:ext uri="{FF2B5EF4-FFF2-40B4-BE49-F238E27FC236}">
                    <a16:creationId xmlns:a16="http://schemas.microsoft.com/office/drawing/2014/main" id="{63369D86-AC53-42F1-E9CF-C2704B42C135}"/>
                  </a:ext>
                </a:extLst>
              </p:cNvPr>
              <p:cNvCxnSpPr>
                <a:stCxn id="156" idx="6"/>
                <a:endCxn id="160" idx="6"/>
              </p:cNvCxnSpPr>
              <p:nvPr/>
            </p:nvCxnSpPr>
            <p:spPr>
              <a:xfrm flipH="1">
                <a:off x="6707746" y="3558540"/>
                <a:ext cx="44931" cy="20801"/>
              </a:xfrm>
              <a:prstGeom prst="lin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  <p:cxnSp>
            <p:nvCxnSpPr>
              <p:cNvPr id="164" name="직선 연결선 163">
                <a:extLst>
                  <a:ext uri="{FF2B5EF4-FFF2-40B4-BE49-F238E27FC236}">
                    <a16:creationId xmlns:a16="http://schemas.microsoft.com/office/drawing/2014/main" id="{94D6D76E-BFC2-D559-0384-4BF600F27F00}"/>
                  </a:ext>
                </a:extLst>
              </p:cNvPr>
              <p:cNvCxnSpPr>
                <a:stCxn id="160" idx="2"/>
                <a:endCxn id="159" idx="6"/>
              </p:cNvCxnSpPr>
              <p:nvPr/>
            </p:nvCxnSpPr>
            <p:spPr>
              <a:xfrm flipH="1">
                <a:off x="6631312" y="3579341"/>
                <a:ext cx="36668" cy="0"/>
              </a:xfrm>
              <a:prstGeom prst="lin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cxnSp>
        </p:grp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52443A55-527E-9623-B1EC-BAB0D4967DC3}"/>
                </a:ext>
              </a:extLst>
            </p:cNvPr>
            <p:cNvSpPr/>
            <p:nvPr/>
          </p:nvSpPr>
          <p:spPr>
            <a:xfrm>
              <a:off x="9380594" y="5362423"/>
              <a:ext cx="1350020" cy="343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Leader Agent</a:t>
              </a:r>
            </a:p>
          </p:txBody>
        </p:sp>
        <p:sp>
          <p:nvSpPr>
            <p:cNvPr id="33" name="Freeform 12">
              <a:extLst>
                <a:ext uri="{FF2B5EF4-FFF2-40B4-BE49-F238E27FC236}">
                  <a16:creationId xmlns:a16="http://schemas.microsoft.com/office/drawing/2014/main" id="{C7765021-5ECB-33A1-C5F4-473116636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4300" y="5242561"/>
              <a:ext cx="615600" cy="525600"/>
            </a:xfrm>
            <a:custGeom>
              <a:avLst/>
              <a:gdLst>
                <a:gd name="T0" fmla="*/ 0 w 642"/>
                <a:gd name="T1" fmla="*/ 309 h 617"/>
                <a:gd name="T2" fmla="*/ 321 w 642"/>
                <a:gd name="T3" fmla="*/ 0 h 617"/>
                <a:gd name="T4" fmla="*/ 642 w 642"/>
                <a:gd name="T5" fmla="*/ 309 h 617"/>
                <a:gd name="T6" fmla="*/ 321 w 642"/>
                <a:gd name="T7" fmla="*/ 617 h 617"/>
                <a:gd name="T8" fmla="*/ 0 w 642"/>
                <a:gd name="T9" fmla="*/ 309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2" h="617">
                  <a:moveTo>
                    <a:pt x="0" y="309"/>
                  </a:moveTo>
                  <a:cubicBezTo>
                    <a:pt x="1" y="45"/>
                    <a:pt x="175" y="0"/>
                    <a:pt x="321" y="0"/>
                  </a:cubicBezTo>
                  <a:cubicBezTo>
                    <a:pt x="467" y="0"/>
                    <a:pt x="641" y="45"/>
                    <a:pt x="642" y="309"/>
                  </a:cubicBezTo>
                  <a:cubicBezTo>
                    <a:pt x="641" y="572"/>
                    <a:pt x="467" y="617"/>
                    <a:pt x="321" y="617"/>
                  </a:cubicBezTo>
                  <a:cubicBezTo>
                    <a:pt x="175" y="617"/>
                    <a:pt x="1" y="572"/>
                    <a:pt x="0" y="309"/>
                  </a:cubicBezTo>
                  <a:close/>
                </a:path>
              </a:pathLst>
            </a:custGeom>
            <a:solidFill>
              <a:srgbClr val="1428A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34" name="그룹 33">
              <a:extLst>
                <a:ext uri="{FF2B5EF4-FFF2-40B4-BE49-F238E27FC236}">
                  <a16:creationId xmlns:a16="http://schemas.microsoft.com/office/drawing/2014/main" id="{A2CD10D8-69C0-464F-6FF0-936201B1A417}"/>
                </a:ext>
              </a:extLst>
            </p:cNvPr>
            <p:cNvGrpSpPr/>
            <p:nvPr/>
          </p:nvGrpSpPr>
          <p:grpSpPr>
            <a:xfrm>
              <a:off x="8843657" y="5324657"/>
              <a:ext cx="448855" cy="312803"/>
              <a:chOff x="17290804" y="7826307"/>
              <a:chExt cx="756105" cy="593863"/>
            </a:xfrm>
          </p:grpSpPr>
          <p:sp>
            <p:nvSpPr>
              <p:cNvPr id="148" name="Freeform 107">
                <a:extLst>
                  <a:ext uri="{FF2B5EF4-FFF2-40B4-BE49-F238E27FC236}">
                    <a16:creationId xmlns:a16="http://schemas.microsoft.com/office/drawing/2014/main" id="{7D4358C6-011D-DE74-C607-9A0A6CFCE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61211" y="7953344"/>
                <a:ext cx="612231" cy="466826"/>
              </a:xfrm>
              <a:custGeom>
                <a:avLst/>
                <a:gdLst>
                  <a:gd name="T0" fmla="*/ 154 w 192"/>
                  <a:gd name="T1" fmla="*/ 145 h 145"/>
                  <a:gd name="T2" fmla="*/ 37 w 192"/>
                  <a:gd name="T3" fmla="*/ 145 h 145"/>
                  <a:gd name="T4" fmla="*/ 0 w 192"/>
                  <a:gd name="T5" fmla="*/ 109 h 145"/>
                  <a:gd name="T6" fmla="*/ 0 w 192"/>
                  <a:gd name="T7" fmla="*/ 36 h 145"/>
                  <a:gd name="T8" fmla="*/ 37 w 192"/>
                  <a:gd name="T9" fmla="*/ 0 h 145"/>
                  <a:gd name="T10" fmla="*/ 154 w 192"/>
                  <a:gd name="T11" fmla="*/ 0 h 145"/>
                  <a:gd name="T12" fmla="*/ 192 w 192"/>
                  <a:gd name="T13" fmla="*/ 36 h 145"/>
                  <a:gd name="T14" fmla="*/ 192 w 192"/>
                  <a:gd name="T15" fmla="*/ 109 h 145"/>
                  <a:gd name="T16" fmla="*/ 154 w 192"/>
                  <a:gd name="T17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2" h="145">
                    <a:moveTo>
                      <a:pt x="154" y="145"/>
                    </a:moveTo>
                    <a:cubicBezTo>
                      <a:pt x="37" y="145"/>
                      <a:pt x="37" y="145"/>
                      <a:pt x="37" y="145"/>
                    </a:cubicBezTo>
                    <a:cubicBezTo>
                      <a:pt x="17" y="145"/>
                      <a:pt x="0" y="129"/>
                      <a:pt x="0" y="109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16"/>
                      <a:pt x="17" y="0"/>
                      <a:pt x="37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75" y="0"/>
                      <a:pt x="192" y="16"/>
                      <a:pt x="192" y="36"/>
                    </a:cubicBezTo>
                    <a:cubicBezTo>
                      <a:pt x="192" y="109"/>
                      <a:pt x="192" y="109"/>
                      <a:pt x="192" y="109"/>
                    </a:cubicBezTo>
                    <a:cubicBezTo>
                      <a:pt x="192" y="129"/>
                      <a:pt x="175" y="145"/>
                      <a:pt x="154" y="145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49" name="Freeform 108">
                <a:extLst>
                  <a:ext uri="{FF2B5EF4-FFF2-40B4-BE49-F238E27FC236}">
                    <a16:creationId xmlns:a16="http://schemas.microsoft.com/office/drawing/2014/main" id="{20E22792-0448-8F59-7501-26342A9543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0804" y="8107933"/>
                <a:ext cx="70407" cy="192853"/>
              </a:xfrm>
              <a:custGeom>
                <a:avLst/>
                <a:gdLst>
                  <a:gd name="T0" fmla="*/ 22 w 22"/>
                  <a:gd name="T1" fmla="*/ 60 h 60"/>
                  <a:gd name="T2" fmla="*/ 0 w 22"/>
                  <a:gd name="T3" fmla="*/ 30 h 60"/>
                  <a:gd name="T4" fmla="*/ 22 w 22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60">
                    <a:moveTo>
                      <a:pt x="22" y="60"/>
                    </a:moveTo>
                    <a:cubicBezTo>
                      <a:pt x="8" y="57"/>
                      <a:pt x="0" y="45"/>
                      <a:pt x="0" y="30"/>
                    </a:cubicBezTo>
                    <a:cubicBezTo>
                      <a:pt x="0" y="15"/>
                      <a:pt x="8" y="2"/>
                      <a:pt x="22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0" name="Freeform 109">
                <a:extLst>
                  <a:ext uri="{FF2B5EF4-FFF2-40B4-BE49-F238E27FC236}">
                    <a16:creationId xmlns:a16="http://schemas.microsoft.com/office/drawing/2014/main" id="{55409037-811C-955D-6C01-23D1662D19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3441" y="8107933"/>
                <a:ext cx="73468" cy="192853"/>
              </a:xfrm>
              <a:custGeom>
                <a:avLst/>
                <a:gdLst>
                  <a:gd name="T0" fmla="*/ 0 w 23"/>
                  <a:gd name="T1" fmla="*/ 60 h 60"/>
                  <a:gd name="T2" fmla="*/ 23 w 23"/>
                  <a:gd name="T3" fmla="*/ 30 h 60"/>
                  <a:gd name="T4" fmla="*/ 0 w 23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" h="60">
                    <a:moveTo>
                      <a:pt x="0" y="60"/>
                    </a:moveTo>
                    <a:cubicBezTo>
                      <a:pt x="13" y="57"/>
                      <a:pt x="23" y="45"/>
                      <a:pt x="23" y="30"/>
                    </a:cubicBezTo>
                    <a:cubicBezTo>
                      <a:pt x="23" y="15"/>
                      <a:pt x="13" y="2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1" name="Line 110">
                <a:extLst>
                  <a:ext uri="{FF2B5EF4-FFF2-40B4-BE49-F238E27FC236}">
                    <a16:creationId xmlns:a16="http://schemas.microsoft.com/office/drawing/2014/main" id="{B94622AF-8510-FC79-A0E0-8426AF9924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67326" y="7898244"/>
                <a:ext cx="0" cy="55101"/>
              </a:xfrm>
              <a:prstGeom prst="lin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2" name="Oval 111">
                <a:extLst>
                  <a:ext uri="{FF2B5EF4-FFF2-40B4-BE49-F238E27FC236}">
                    <a16:creationId xmlns:a16="http://schemas.microsoft.com/office/drawing/2014/main" id="{FF769626-F088-80D7-ED74-CB21922320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35184" y="7826307"/>
                <a:ext cx="64284" cy="71937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3" name="Oval 112">
                <a:extLst>
                  <a:ext uri="{FF2B5EF4-FFF2-40B4-BE49-F238E27FC236}">
                    <a16:creationId xmlns:a16="http://schemas.microsoft.com/office/drawing/2014/main" id="{C09F0872-FD1E-955B-DFF9-CF5FF650B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2840" y="8071199"/>
                <a:ext cx="120916" cy="119385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4" name="Oval 113">
                <a:extLst>
                  <a:ext uri="{FF2B5EF4-FFF2-40B4-BE49-F238E27FC236}">
                    <a16:creationId xmlns:a16="http://schemas.microsoft.com/office/drawing/2014/main" id="{F7B18EAF-4FA3-E63B-61C7-568C106DD3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22427" y="8071199"/>
                <a:ext cx="117854" cy="119385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55" name="Freeform 114">
                <a:extLst>
                  <a:ext uri="{FF2B5EF4-FFF2-40B4-BE49-F238E27FC236}">
                    <a16:creationId xmlns:a16="http://schemas.microsoft.com/office/drawing/2014/main" id="{00C6E777-A95F-92FD-35A3-31EB932D45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55594" y="8309969"/>
                <a:ext cx="223464" cy="55101"/>
              </a:xfrm>
              <a:custGeom>
                <a:avLst/>
                <a:gdLst>
                  <a:gd name="T0" fmla="*/ 0 w 70"/>
                  <a:gd name="T1" fmla="*/ 0 h 17"/>
                  <a:gd name="T2" fmla="*/ 70 w 70"/>
                  <a:gd name="T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0" h="17">
                    <a:moveTo>
                      <a:pt x="0" y="0"/>
                    </a:moveTo>
                    <a:cubicBezTo>
                      <a:pt x="0" y="0"/>
                      <a:pt x="29" y="17"/>
                      <a:pt x="70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35" name="직사각형 34">
              <a:extLst>
                <a:ext uri="{FF2B5EF4-FFF2-40B4-BE49-F238E27FC236}">
                  <a16:creationId xmlns:a16="http://schemas.microsoft.com/office/drawing/2014/main" id="{D2D82B39-3776-6A31-A5C2-6CD622C7F94D}"/>
                </a:ext>
              </a:extLst>
            </p:cNvPr>
            <p:cNvSpPr/>
            <p:nvPr/>
          </p:nvSpPr>
          <p:spPr>
            <a:xfrm>
              <a:off x="8855743" y="5923722"/>
              <a:ext cx="414054" cy="214829"/>
            </a:xfrm>
            <a:prstGeom prst="rect">
              <a:avLst/>
            </a:prstGeom>
            <a:solidFill>
              <a:schemeClr val="bg1"/>
            </a:solidFill>
            <a:ln w="190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-5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User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13F77D5-8419-8C64-D59F-4526445E4FCE}"/>
                </a:ext>
              </a:extLst>
            </p:cNvPr>
            <p:cNvSpPr txBox="1"/>
            <p:nvPr/>
          </p:nvSpPr>
          <p:spPr>
            <a:xfrm>
              <a:off x="6442869" y="2099974"/>
              <a:ext cx="5209468" cy="54307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1" indent="0" algn="ctr" defTabSz="1038739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문제 해결을 위해 업무 프로세스 내</a:t>
              </a:r>
              <a:endParaRPr kumimoji="0" lang="en-US" altLang="ko-KR" sz="1200" b="0" i="0" u="none" strike="noStrike" kern="1200" cap="none" spc="0" normalizeH="0" baseline="0" noProof="0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0" marR="0" lvl="1" indent="0" algn="ctr" defTabSz="1038739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srgbClr val="006D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상호 작용할 수 있는 다수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srgbClr val="006D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LLM Agent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srgbClr val="006D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간 협업</a:t>
              </a:r>
              <a:endParaRPr kumimoji="0" lang="en-US" altLang="ko-KR" sz="1200" b="0" i="0" u="none" strike="noStrike" kern="1200" cap="none" spc="0" normalizeH="0" baseline="0" noProof="0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srgbClr val="006DFF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cxnSp>
          <p:nvCxnSpPr>
            <p:cNvPr id="37" name="직선 연결선 36">
              <a:extLst>
                <a:ext uri="{FF2B5EF4-FFF2-40B4-BE49-F238E27FC236}">
                  <a16:creationId xmlns:a16="http://schemas.microsoft.com/office/drawing/2014/main" id="{C0110230-04D3-CE1A-AB3E-7DCF1C21AEB9}"/>
                </a:ext>
              </a:extLst>
            </p:cNvPr>
            <p:cNvCxnSpPr/>
            <p:nvPr/>
          </p:nvCxnSpPr>
          <p:spPr>
            <a:xfrm>
              <a:off x="8079814" y="4729093"/>
              <a:ext cx="561298" cy="590962"/>
            </a:xfrm>
            <a:prstGeom prst="line">
              <a:avLst/>
            </a:prstGeom>
            <a:noFill/>
            <a:ln w="9525" cap="sq">
              <a:solidFill>
                <a:srgbClr val="006DFF"/>
              </a:solidFill>
              <a:prstDash val="solid"/>
              <a:round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38" name="직선 화살표 연결선 37">
              <a:extLst>
                <a:ext uri="{FF2B5EF4-FFF2-40B4-BE49-F238E27FC236}">
                  <a16:creationId xmlns:a16="http://schemas.microsoft.com/office/drawing/2014/main" id="{586C5221-FEA1-7D6F-B521-BB217188A951}"/>
                </a:ext>
              </a:extLst>
            </p:cNvPr>
            <p:cNvCxnSpPr>
              <a:cxnSpLocks/>
              <a:endCxn id="9" idx="2"/>
            </p:cNvCxnSpPr>
            <p:nvPr/>
          </p:nvCxnSpPr>
          <p:spPr>
            <a:xfrm flipV="1">
              <a:off x="9058082" y="4000579"/>
              <a:ext cx="2256" cy="466810"/>
            </a:xfrm>
            <a:prstGeom prst="straightConnector1">
              <a:avLst/>
            </a:prstGeom>
            <a:ln w="15875" cap="rnd">
              <a:solidFill>
                <a:srgbClr val="006DFF"/>
              </a:solidFill>
              <a:prstDash val="sysDot"/>
              <a:round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Freeform 12">
              <a:extLst>
                <a:ext uri="{FF2B5EF4-FFF2-40B4-BE49-F238E27FC236}">
                  <a16:creationId xmlns:a16="http://schemas.microsoft.com/office/drawing/2014/main" id="{D8CE1473-B4AD-DCFF-7BE4-1FC59BA82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54300" y="4231575"/>
              <a:ext cx="615600" cy="525600"/>
            </a:xfrm>
            <a:custGeom>
              <a:avLst/>
              <a:gdLst>
                <a:gd name="T0" fmla="*/ 0 w 642"/>
                <a:gd name="T1" fmla="*/ 309 h 617"/>
                <a:gd name="T2" fmla="*/ 321 w 642"/>
                <a:gd name="T3" fmla="*/ 0 h 617"/>
                <a:gd name="T4" fmla="*/ 642 w 642"/>
                <a:gd name="T5" fmla="*/ 309 h 617"/>
                <a:gd name="T6" fmla="*/ 321 w 642"/>
                <a:gd name="T7" fmla="*/ 617 h 617"/>
                <a:gd name="T8" fmla="*/ 0 w 642"/>
                <a:gd name="T9" fmla="*/ 309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2" h="617">
                  <a:moveTo>
                    <a:pt x="0" y="309"/>
                  </a:moveTo>
                  <a:cubicBezTo>
                    <a:pt x="1" y="45"/>
                    <a:pt x="175" y="0"/>
                    <a:pt x="321" y="0"/>
                  </a:cubicBezTo>
                  <a:cubicBezTo>
                    <a:pt x="467" y="0"/>
                    <a:pt x="641" y="45"/>
                    <a:pt x="642" y="309"/>
                  </a:cubicBezTo>
                  <a:cubicBezTo>
                    <a:pt x="641" y="572"/>
                    <a:pt x="467" y="617"/>
                    <a:pt x="321" y="617"/>
                  </a:cubicBezTo>
                  <a:cubicBezTo>
                    <a:pt x="175" y="617"/>
                    <a:pt x="1" y="572"/>
                    <a:pt x="0" y="309"/>
                  </a:cubicBezTo>
                  <a:close/>
                </a:path>
              </a:pathLst>
            </a:custGeom>
            <a:solidFill>
              <a:srgbClr val="6779A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94A585EE-6DF1-565A-C08E-779DAC1F52C8}"/>
                </a:ext>
              </a:extLst>
            </p:cNvPr>
            <p:cNvGrpSpPr/>
            <p:nvPr/>
          </p:nvGrpSpPr>
          <p:grpSpPr>
            <a:xfrm>
              <a:off x="8822942" y="4308667"/>
              <a:ext cx="464735" cy="323997"/>
              <a:chOff x="3973754" y="3277260"/>
              <a:chExt cx="573310" cy="428283"/>
            </a:xfrm>
          </p:grpSpPr>
          <p:grpSp>
            <p:nvGrpSpPr>
              <p:cNvPr id="140" name="그룹 139">
                <a:extLst>
                  <a:ext uri="{FF2B5EF4-FFF2-40B4-BE49-F238E27FC236}">
                    <a16:creationId xmlns:a16="http://schemas.microsoft.com/office/drawing/2014/main" id="{AA28E3A3-644D-55F2-A32C-0F2946B6C5B6}"/>
                  </a:ext>
                </a:extLst>
              </p:cNvPr>
              <p:cNvGrpSpPr/>
              <p:nvPr/>
            </p:nvGrpSpPr>
            <p:grpSpPr>
              <a:xfrm>
                <a:off x="3973754" y="3351576"/>
                <a:ext cx="573310" cy="353967"/>
                <a:chOff x="17290804" y="7953344"/>
                <a:chExt cx="756105" cy="466826"/>
              </a:xfrm>
            </p:grpSpPr>
            <p:sp>
              <p:nvSpPr>
                <p:cNvPr id="142" name="Freeform 107">
                  <a:extLst>
                    <a:ext uri="{FF2B5EF4-FFF2-40B4-BE49-F238E27FC236}">
                      <a16:creationId xmlns:a16="http://schemas.microsoft.com/office/drawing/2014/main" id="{5E6ABBFC-5C1A-4ADB-0FE2-8B9B1716D71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361211" y="7953344"/>
                  <a:ext cx="612231" cy="466826"/>
                </a:xfrm>
                <a:custGeom>
                  <a:avLst/>
                  <a:gdLst>
                    <a:gd name="T0" fmla="*/ 154 w 192"/>
                    <a:gd name="T1" fmla="*/ 145 h 145"/>
                    <a:gd name="T2" fmla="*/ 37 w 192"/>
                    <a:gd name="T3" fmla="*/ 145 h 145"/>
                    <a:gd name="T4" fmla="*/ 0 w 192"/>
                    <a:gd name="T5" fmla="*/ 109 h 145"/>
                    <a:gd name="T6" fmla="*/ 0 w 192"/>
                    <a:gd name="T7" fmla="*/ 36 h 145"/>
                    <a:gd name="T8" fmla="*/ 37 w 192"/>
                    <a:gd name="T9" fmla="*/ 0 h 145"/>
                    <a:gd name="T10" fmla="*/ 154 w 192"/>
                    <a:gd name="T11" fmla="*/ 0 h 145"/>
                    <a:gd name="T12" fmla="*/ 192 w 192"/>
                    <a:gd name="T13" fmla="*/ 36 h 145"/>
                    <a:gd name="T14" fmla="*/ 192 w 192"/>
                    <a:gd name="T15" fmla="*/ 109 h 145"/>
                    <a:gd name="T16" fmla="*/ 154 w 192"/>
                    <a:gd name="T17" fmla="*/ 145 h 14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</a:cxnLst>
                  <a:rect l="0" t="0" r="r" b="b"/>
                  <a:pathLst>
                    <a:path w="192" h="145">
                      <a:moveTo>
                        <a:pt x="154" y="145"/>
                      </a:moveTo>
                      <a:cubicBezTo>
                        <a:pt x="37" y="145"/>
                        <a:pt x="37" y="145"/>
                        <a:pt x="37" y="145"/>
                      </a:cubicBezTo>
                      <a:cubicBezTo>
                        <a:pt x="17" y="145"/>
                        <a:pt x="0" y="129"/>
                        <a:pt x="0" y="109"/>
                      </a:cubicBezTo>
                      <a:cubicBezTo>
                        <a:pt x="0" y="36"/>
                        <a:pt x="0" y="36"/>
                        <a:pt x="0" y="36"/>
                      </a:cubicBezTo>
                      <a:cubicBezTo>
                        <a:pt x="0" y="16"/>
                        <a:pt x="17" y="0"/>
                        <a:pt x="37" y="0"/>
                      </a:cubicBezTo>
                      <a:cubicBezTo>
                        <a:pt x="154" y="0"/>
                        <a:pt x="154" y="0"/>
                        <a:pt x="154" y="0"/>
                      </a:cubicBezTo>
                      <a:cubicBezTo>
                        <a:pt x="175" y="0"/>
                        <a:pt x="192" y="16"/>
                        <a:pt x="192" y="36"/>
                      </a:cubicBezTo>
                      <a:cubicBezTo>
                        <a:pt x="192" y="109"/>
                        <a:pt x="192" y="109"/>
                        <a:pt x="192" y="109"/>
                      </a:cubicBezTo>
                      <a:cubicBezTo>
                        <a:pt x="192" y="129"/>
                        <a:pt x="175" y="145"/>
                        <a:pt x="154" y="145"/>
                      </a:cubicBezTo>
                      <a:close/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43" name="Freeform 108">
                  <a:extLst>
                    <a:ext uri="{FF2B5EF4-FFF2-40B4-BE49-F238E27FC236}">
                      <a16:creationId xmlns:a16="http://schemas.microsoft.com/office/drawing/2014/main" id="{213437E7-71C8-FCEB-0B2B-7936E04CC68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290804" y="8107933"/>
                  <a:ext cx="70407" cy="192853"/>
                </a:xfrm>
                <a:custGeom>
                  <a:avLst/>
                  <a:gdLst>
                    <a:gd name="T0" fmla="*/ 22 w 22"/>
                    <a:gd name="T1" fmla="*/ 60 h 60"/>
                    <a:gd name="T2" fmla="*/ 0 w 22"/>
                    <a:gd name="T3" fmla="*/ 30 h 60"/>
                    <a:gd name="T4" fmla="*/ 22 w 22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2" h="60">
                      <a:moveTo>
                        <a:pt x="22" y="60"/>
                      </a:moveTo>
                      <a:cubicBezTo>
                        <a:pt x="8" y="57"/>
                        <a:pt x="0" y="45"/>
                        <a:pt x="0" y="30"/>
                      </a:cubicBezTo>
                      <a:cubicBezTo>
                        <a:pt x="0" y="15"/>
                        <a:pt x="8" y="2"/>
                        <a:pt x="22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44" name="Freeform 109">
                  <a:extLst>
                    <a:ext uri="{FF2B5EF4-FFF2-40B4-BE49-F238E27FC236}">
                      <a16:creationId xmlns:a16="http://schemas.microsoft.com/office/drawing/2014/main" id="{C344EEC7-B959-45C8-ACCD-FDC4161D47E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73441" y="8107933"/>
                  <a:ext cx="73468" cy="192853"/>
                </a:xfrm>
                <a:custGeom>
                  <a:avLst/>
                  <a:gdLst>
                    <a:gd name="T0" fmla="*/ 0 w 23"/>
                    <a:gd name="T1" fmla="*/ 60 h 60"/>
                    <a:gd name="T2" fmla="*/ 23 w 23"/>
                    <a:gd name="T3" fmla="*/ 30 h 60"/>
                    <a:gd name="T4" fmla="*/ 0 w 23"/>
                    <a:gd name="T5" fmla="*/ 0 h 6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3" h="60">
                      <a:moveTo>
                        <a:pt x="0" y="60"/>
                      </a:moveTo>
                      <a:cubicBezTo>
                        <a:pt x="13" y="57"/>
                        <a:pt x="23" y="45"/>
                        <a:pt x="23" y="30"/>
                      </a:cubicBezTo>
                      <a:cubicBezTo>
                        <a:pt x="23" y="15"/>
                        <a:pt x="13" y="2"/>
                        <a:pt x="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45" name="Oval 112">
                  <a:extLst>
                    <a:ext uri="{FF2B5EF4-FFF2-40B4-BE49-F238E27FC236}">
                      <a16:creationId xmlns:a16="http://schemas.microsoft.com/office/drawing/2014/main" id="{190A5E6F-AA85-3AAD-CD0B-2642E2A3DD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492840" y="8071199"/>
                  <a:ext cx="120916" cy="119385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46" name="Oval 113">
                  <a:extLst>
                    <a:ext uri="{FF2B5EF4-FFF2-40B4-BE49-F238E27FC236}">
                      <a16:creationId xmlns:a16="http://schemas.microsoft.com/office/drawing/2014/main" id="{CDD1477D-159A-7C45-051D-A1402DEDA70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17722427" y="8071199"/>
                  <a:ext cx="117854" cy="119385"/>
                </a:xfrm>
                <a:prstGeom prst="ellips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sp>
              <p:nvSpPr>
                <p:cNvPr id="147" name="Freeform 114">
                  <a:extLst>
                    <a:ext uri="{FF2B5EF4-FFF2-40B4-BE49-F238E27FC236}">
                      <a16:creationId xmlns:a16="http://schemas.microsoft.com/office/drawing/2014/main" id="{67FB1BE6-D137-7402-0A1F-C4E59D5E01B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55594" y="8309969"/>
                  <a:ext cx="223464" cy="55101"/>
                </a:xfrm>
                <a:custGeom>
                  <a:avLst/>
                  <a:gdLst>
                    <a:gd name="T0" fmla="*/ 0 w 70"/>
                    <a:gd name="T1" fmla="*/ 0 h 17"/>
                    <a:gd name="T2" fmla="*/ 70 w 70"/>
                    <a:gd name="T3" fmla="*/ 0 h 1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</a:cxnLst>
                  <a:rect l="0" t="0" r="r" b="b"/>
                  <a:pathLst>
                    <a:path w="70" h="17">
                      <a:moveTo>
                        <a:pt x="0" y="0"/>
                      </a:moveTo>
                      <a:cubicBezTo>
                        <a:pt x="0" y="0"/>
                        <a:pt x="29" y="17"/>
                        <a:pt x="70" y="0"/>
                      </a:cubicBezTo>
                    </a:path>
                  </a:pathLst>
                </a:cu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  <p:sp>
            <p:nvSpPr>
              <p:cNvPr id="141" name="Freeform 108">
                <a:extLst>
                  <a:ext uri="{FF2B5EF4-FFF2-40B4-BE49-F238E27FC236}">
                    <a16:creationId xmlns:a16="http://schemas.microsoft.com/office/drawing/2014/main" id="{0F0EF4D6-A1C6-03C7-59AA-035C2028A7B4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227873" y="3169734"/>
                <a:ext cx="65073" cy="280126"/>
              </a:xfrm>
              <a:custGeom>
                <a:avLst/>
                <a:gdLst>
                  <a:gd name="T0" fmla="*/ 22 w 22"/>
                  <a:gd name="T1" fmla="*/ 60 h 60"/>
                  <a:gd name="T2" fmla="*/ 0 w 22"/>
                  <a:gd name="T3" fmla="*/ 30 h 60"/>
                  <a:gd name="T4" fmla="*/ 22 w 22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60">
                    <a:moveTo>
                      <a:pt x="22" y="60"/>
                    </a:moveTo>
                    <a:cubicBezTo>
                      <a:pt x="8" y="57"/>
                      <a:pt x="0" y="45"/>
                      <a:pt x="0" y="30"/>
                    </a:cubicBezTo>
                    <a:cubicBezTo>
                      <a:pt x="0" y="15"/>
                      <a:pt x="8" y="2"/>
                      <a:pt x="22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41" name="직사각형 40">
              <a:extLst>
                <a:ext uri="{FF2B5EF4-FFF2-40B4-BE49-F238E27FC236}">
                  <a16:creationId xmlns:a16="http://schemas.microsoft.com/office/drawing/2014/main" id="{274F0654-9D02-80A3-E830-C1E82F15A4C9}"/>
                </a:ext>
              </a:extLst>
            </p:cNvPr>
            <p:cNvSpPr/>
            <p:nvPr/>
          </p:nvSpPr>
          <p:spPr>
            <a:xfrm>
              <a:off x="9327931" y="4265874"/>
              <a:ext cx="882259" cy="47262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8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상품 추천</a:t>
              </a:r>
              <a:endParaRPr kumimoji="0" lang="en-US" altLang="ko-KR" sz="800" b="0" i="0" u="none" strike="noStrike" kern="1200" cap="none" spc="0" normalizeH="0" baseline="0" noProof="0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Agent</a:t>
              </a:r>
              <a:endParaRPr kumimoji="0" lang="ko-KR" altLang="en-US" sz="400" b="0" i="0" u="none" strike="noStrike" kern="1200" cap="none" spc="0" normalizeH="0" baseline="0" noProof="0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405B70E4-9950-8CCE-8AA3-F5A136D6B239}"/>
                </a:ext>
              </a:extLst>
            </p:cNvPr>
            <p:cNvCxnSpPr/>
            <p:nvPr/>
          </p:nvCxnSpPr>
          <p:spPr>
            <a:xfrm>
              <a:off x="9058082" y="4788439"/>
              <a:ext cx="6622" cy="393573"/>
            </a:xfrm>
            <a:prstGeom prst="line">
              <a:avLst/>
            </a:prstGeom>
            <a:noFill/>
            <a:ln w="9525" cap="sq">
              <a:solidFill>
                <a:srgbClr val="006DFF"/>
              </a:solidFill>
              <a:prstDash val="solid"/>
              <a:round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AD0B8534-F7B9-2FFF-CC85-3816AA8E7D6C}"/>
                </a:ext>
              </a:extLst>
            </p:cNvPr>
            <p:cNvCxnSpPr/>
            <p:nvPr/>
          </p:nvCxnSpPr>
          <p:spPr>
            <a:xfrm flipH="1">
              <a:off x="9478311" y="4707884"/>
              <a:ext cx="561298" cy="590962"/>
            </a:xfrm>
            <a:prstGeom prst="line">
              <a:avLst/>
            </a:prstGeom>
            <a:noFill/>
            <a:ln w="9525" cap="sq">
              <a:solidFill>
                <a:srgbClr val="006DFF"/>
              </a:solidFill>
              <a:prstDash val="solid"/>
              <a:round/>
              <a:headEnd type="arrow" w="sm" len="sm"/>
              <a:tailEnd type="arrow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sp>
          <p:nvSpPr>
            <p:cNvPr id="44" name="Freeform 12">
              <a:extLst>
                <a:ext uri="{FF2B5EF4-FFF2-40B4-BE49-F238E27FC236}">
                  <a16:creationId xmlns:a16="http://schemas.microsoft.com/office/drawing/2014/main" id="{42DA1EE8-3A57-7FE2-D13D-A1E8B2B75D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6389" y="3124808"/>
              <a:ext cx="799399" cy="564536"/>
            </a:xfrm>
            <a:custGeom>
              <a:avLst/>
              <a:gdLst>
                <a:gd name="T0" fmla="*/ 0 w 642"/>
                <a:gd name="T1" fmla="*/ 309 h 617"/>
                <a:gd name="T2" fmla="*/ 321 w 642"/>
                <a:gd name="T3" fmla="*/ 0 h 617"/>
                <a:gd name="T4" fmla="*/ 642 w 642"/>
                <a:gd name="T5" fmla="*/ 309 h 617"/>
                <a:gd name="T6" fmla="*/ 321 w 642"/>
                <a:gd name="T7" fmla="*/ 617 h 617"/>
                <a:gd name="T8" fmla="*/ 0 w 642"/>
                <a:gd name="T9" fmla="*/ 309 h 6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2" h="617">
                  <a:moveTo>
                    <a:pt x="0" y="309"/>
                  </a:moveTo>
                  <a:cubicBezTo>
                    <a:pt x="1" y="45"/>
                    <a:pt x="175" y="0"/>
                    <a:pt x="321" y="0"/>
                  </a:cubicBezTo>
                  <a:cubicBezTo>
                    <a:pt x="467" y="0"/>
                    <a:pt x="641" y="45"/>
                    <a:pt x="642" y="309"/>
                  </a:cubicBezTo>
                  <a:cubicBezTo>
                    <a:pt x="641" y="572"/>
                    <a:pt x="467" y="617"/>
                    <a:pt x="321" y="617"/>
                  </a:cubicBezTo>
                  <a:cubicBezTo>
                    <a:pt x="175" y="617"/>
                    <a:pt x="1" y="572"/>
                    <a:pt x="0" y="309"/>
                  </a:cubicBezTo>
                  <a:close/>
                </a:path>
              </a:pathLst>
            </a:custGeom>
            <a:solidFill>
              <a:srgbClr val="333E53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49ABFCF0-D14C-9A98-723F-80CD821F68A1}"/>
                </a:ext>
              </a:extLst>
            </p:cNvPr>
            <p:cNvGrpSpPr/>
            <p:nvPr/>
          </p:nvGrpSpPr>
          <p:grpSpPr>
            <a:xfrm>
              <a:off x="1852606" y="3180078"/>
              <a:ext cx="476004" cy="425968"/>
              <a:chOff x="17290804" y="7826307"/>
              <a:chExt cx="756105" cy="593863"/>
            </a:xfrm>
          </p:grpSpPr>
          <p:sp>
            <p:nvSpPr>
              <p:cNvPr id="132" name="Freeform 107">
                <a:extLst>
                  <a:ext uri="{FF2B5EF4-FFF2-40B4-BE49-F238E27FC236}">
                    <a16:creationId xmlns:a16="http://schemas.microsoft.com/office/drawing/2014/main" id="{D3E1D4BE-BCDF-8251-6F33-3E38CAC5D6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361211" y="7953344"/>
                <a:ext cx="612231" cy="466826"/>
              </a:xfrm>
              <a:custGeom>
                <a:avLst/>
                <a:gdLst>
                  <a:gd name="T0" fmla="*/ 154 w 192"/>
                  <a:gd name="T1" fmla="*/ 145 h 145"/>
                  <a:gd name="T2" fmla="*/ 37 w 192"/>
                  <a:gd name="T3" fmla="*/ 145 h 145"/>
                  <a:gd name="T4" fmla="*/ 0 w 192"/>
                  <a:gd name="T5" fmla="*/ 109 h 145"/>
                  <a:gd name="T6" fmla="*/ 0 w 192"/>
                  <a:gd name="T7" fmla="*/ 36 h 145"/>
                  <a:gd name="T8" fmla="*/ 37 w 192"/>
                  <a:gd name="T9" fmla="*/ 0 h 145"/>
                  <a:gd name="T10" fmla="*/ 154 w 192"/>
                  <a:gd name="T11" fmla="*/ 0 h 145"/>
                  <a:gd name="T12" fmla="*/ 192 w 192"/>
                  <a:gd name="T13" fmla="*/ 36 h 145"/>
                  <a:gd name="T14" fmla="*/ 192 w 192"/>
                  <a:gd name="T15" fmla="*/ 109 h 145"/>
                  <a:gd name="T16" fmla="*/ 154 w 192"/>
                  <a:gd name="T17" fmla="*/ 145 h 14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2" h="145">
                    <a:moveTo>
                      <a:pt x="154" y="145"/>
                    </a:moveTo>
                    <a:cubicBezTo>
                      <a:pt x="37" y="145"/>
                      <a:pt x="37" y="145"/>
                      <a:pt x="37" y="145"/>
                    </a:cubicBezTo>
                    <a:cubicBezTo>
                      <a:pt x="17" y="145"/>
                      <a:pt x="0" y="129"/>
                      <a:pt x="0" y="109"/>
                    </a:cubicBezTo>
                    <a:cubicBezTo>
                      <a:pt x="0" y="36"/>
                      <a:pt x="0" y="36"/>
                      <a:pt x="0" y="36"/>
                    </a:cubicBezTo>
                    <a:cubicBezTo>
                      <a:pt x="0" y="16"/>
                      <a:pt x="17" y="0"/>
                      <a:pt x="37" y="0"/>
                    </a:cubicBezTo>
                    <a:cubicBezTo>
                      <a:pt x="154" y="0"/>
                      <a:pt x="154" y="0"/>
                      <a:pt x="154" y="0"/>
                    </a:cubicBezTo>
                    <a:cubicBezTo>
                      <a:pt x="175" y="0"/>
                      <a:pt x="192" y="16"/>
                      <a:pt x="192" y="36"/>
                    </a:cubicBezTo>
                    <a:cubicBezTo>
                      <a:pt x="192" y="109"/>
                      <a:pt x="192" y="109"/>
                      <a:pt x="192" y="109"/>
                    </a:cubicBezTo>
                    <a:cubicBezTo>
                      <a:pt x="192" y="129"/>
                      <a:pt x="175" y="145"/>
                      <a:pt x="154" y="145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3" name="Freeform 108">
                <a:extLst>
                  <a:ext uri="{FF2B5EF4-FFF2-40B4-BE49-F238E27FC236}">
                    <a16:creationId xmlns:a16="http://schemas.microsoft.com/office/drawing/2014/main" id="{64F550F6-B53A-D4F0-A2AC-4A404DE80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90804" y="8107933"/>
                <a:ext cx="70407" cy="192853"/>
              </a:xfrm>
              <a:custGeom>
                <a:avLst/>
                <a:gdLst>
                  <a:gd name="T0" fmla="*/ 22 w 22"/>
                  <a:gd name="T1" fmla="*/ 60 h 60"/>
                  <a:gd name="T2" fmla="*/ 0 w 22"/>
                  <a:gd name="T3" fmla="*/ 30 h 60"/>
                  <a:gd name="T4" fmla="*/ 22 w 22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" h="60">
                    <a:moveTo>
                      <a:pt x="22" y="60"/>
                    </a:moveTo>
                    <a:cubicBezTo>
                      <a:pt x="8" y="57"/>
                      <a:pt x="0" y="45"/>
                      <a:pt x="0" y="30"/>
                    </a:cubicBezTo>
                    <a:cubicBezTo>
                      <a:pt x="0" y="15"/>
                      <a:pt x="8" y="2"/>
                      <a:pt x="22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4" name="Freeform 109">
                <a:extLst>
                  <a:ext uri="{FF2B5EF4-FFF2-40B4-BE49-F238E27FC236}">
                    <a16:creationId xmlns:a16="http://schemas.microsoft.com/office/drawing/2014/main" id="{ACE6955B-6E28-CF0A-1F1A-1847B597A3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73441" y="8107933"/>
                <a:ext cx="73468" cy="192853"/>
              </a:xfrm>
              <a:custGeom>
                <a:avLst/>
                <a:gdLst>
                  <a:gd name="T0" fmla="*/ 0 w 23"/>
                  <a:gd name="T1" fmla="*/ 60 h 60"/>
                  <a:gd name="T2" fmla="*/ 23 w 23"/>
                  <a:gd name="T3" fmla="*/ 30 h 60"/>
                  <a:gd name="T4" fmla="*/ 0 w 23"/>
                  <a:gd name="T5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3" h="60">
                    <a:moveTo>
                      <a:pt x="0" y="60"/>
                    </a:moveTo>
                    <a:cubicBezTo>
                      <a:pt x="13" y="57"/>
                      <a:pt x="23" y="45"/>
                      <a:pt x="23" y="30"/>
                    </a:cubicBezTo>
                    <a:cubicBezTo>
                      <a:pt x="23" y="15"/>
                      <a:pt x="13" y="2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5" name="Line 110">
                <a:extLst>
                  <a:ext uri="{FF2B5EF4-FFF2-40B4-BE49-F238E27FC236}">
                    <a16:creationId xmlns:a16="http://schemas.microsoft.com/office/drawing/2014/main" id="{814E23B8-0DC9-97DC-1A4D-A7BD8D1567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667326" y="7898244"/>
                <a:ext cx="0" cy="55101"/>
              </a:xfrm>
              <a:prstGeom prst="lin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6" name="Oval 111">
                <a:extLst>
                  <a:ext uri="{FF2B5EF4-FFF2-40B4-BE49-F238E27FC236}">
                    <a16:creationId xmlns:a16="http://schemas.microsoft.com/office/drawing/2014/main" id="{802FE3D8-B43B-AF20-F52D-71428B6E4E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635184" y="7826307"/>
                <a:ext cx="64284" cy="71937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7" name="Oval 112">
                <a:extLst>
                  <a:ext uri="{FF2B5EF4-FFF2-40B4-BE49-F238E27FC236}">
                    <a16:creationId xmlns:a16="http://schemas.microsoft.com/office/drawing/2014/main" id="{F3825A3D-0E75-18A5-65A8-5386F645CD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492840" y="8071199"/>
                <a:ext cx="120916" cy="119385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8" name="Oval 113">
                <a:extLst>
                  <a:ext uri="{FF2B5EF4-FFF2-40B4-BE49-F238E27FC236}">
                    <a16:creationId xmlns:a16="http://schemas.microsoft.com/office/drawing/2014/main" id="{73B62F07-EC1D-FC16-BD28-31228DB14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722427" y="8071199"/>
                <a:ext cx="117854" cy="119385"/>
              </a:xfrm>
              <a:prstGeom prst="ellips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9" name="Freeform 114">
                <a:extLst>
                  <a:ext uri="{FF2B5EF4-FFF2-40B4-BE49-F238E27FC236}">
                    <a16:creationId xmlns:a16="http://schemas.microsoft.com/office/drawing/2014/main" id="{A27E8969-6B87-FC72-B9E3-E553C664E8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55594" y="8309969"/>
                <a:ext cx="223464" cy="55101"/>
              </a:xfrm>
              <a:custGeom>
                <a:avLst/>
                <a:gdLst>
                  <a:gd name="T0" fmla="*/ 0 w 70"/>
                  <a:gd name="T1" fmla="*/ 0 h 17"/>
                  <a:gd name="T2" fmla="*/ 70 w 70"/>
                  <a:gd name="T3" fmla="*/ 0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70" h="17">
                    <a:moveTo>
                      <a:pt x="0" y="0"/>
                    </a:moveTo>
                    <a:cubicBezTo>
                      <a:pt x="0" y="0"/>
                      <a:pt x="29" y="17"/>
                      <a:pt x="70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BCE791DF-1B99-37FB-F708-1D73863B5B61}"/>
                </a:ext>
              </a:extLst>
            </p:cNvPr>
            <p:cNvGrpSpPr/>
            <p:nvPr/>
          </p:nvGrpSpPr>
          <p:grpSpPr>
            <a:xfrm>
              <a:off x="593330" y="3155571"/>
              <a:ext cx="739660" cy="503011"/>
              <a:chOff x="6507568" y="2854704"/>
              <a:chExt cx="672418" cy="601490"/>
            </a:xfrm>
          </p:grpSpPr>
          <p:sp>
            <p:nvSpPr>
              <p:cNvPr id="130" name="Freeform 7">
                <a:extLst>
                  <a:ext uri="{FF2B5EF4-FFF2-40B4-BE49-F238E27FC236}">
                    <a16:creationId xmlns:a16="http://schemas.microsoft.com/office/drawing/2014/main" id="{D417B48C-E778-9291-656B-9984EC9DBE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6507568" y="2854704"/>
                <a:ext cx="672418" cy="601490"/>
              </a:xfrm>
              <a:custGeom>
                <a:avLst/>
                <a:gdLst>
                  <a:gd name="T0" fmla="*/ 19 w 38"/>
                  <a:gd name="T1" fmla="*/ 0 h 38"/>
                  <a:gd name="T2" fmla="*/ 0 w 38"/>
                  <a:gd name="T3" fmla="*/ 19 h 38"/>
                  <a:gd name="T4" fmla="*/ 19 w 38"/>
                  <a:gd name="T5" fmla="*/ 38 h 38"/>
                  <a:gd name="T6" fmla="*/ 38 w 38"/>
                  <a:gd name="T7" fmla="*/ 19 h 38"/>
                  <a:gd name="T8" fmla="*/ 19 w 38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38">
                    <a:moveTo>
                      <a:pt x="19" y="0"/>
                    </a:moveTo>
                    <a:cubicBezTo>
                      <a:pt x="10" y="0"/>
                      <a:pt x="0" y="1"/>
                      <a:pt x="0" y="19"/>
                    </a:cubicBezTo>
                    <a:cubicBezTo>
                      <a:pt x="0" y="37"/>
                      <a:pt x="9" y="38"/>
                      <a:pt x="19" y="38"/>
                    </a:cubicBezTo>
                    <a:cubicBezTo>
                      <a:pt x="29" y="38"/>
                      <a:pt x="38" y="37"/>
                      <a:pt x="38" y="19"/>
                    </a:cubicBezTo>
                    <a:cubicBezTo>
                      <a:pt x="38" y="1"/>
                      <a:pt x="28" y="0"/>
                      <a:pt x="19" y="0"/>
                    </a:cubicBezTo>
                    <a:close/>
                  </a:path>
                </a:pathLst>
              </a:custGeom>
              <a:solidFill>
                <a:srgbClr val="EFF4FF"/>
              </a:solidFill>
              <a:ln>
                <a:solidFill>
                  <a:srgbClr val="006D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srgbClr val="006DFF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31" name="Rectangle 12">
                <a:extLst>
                  <a:ext uri="{FF2B5EF4-FFF2-40B4-BE49-F238E27FC236}">
                    <a16:creationId xmlns:a16="http://schemas.microsoft.com/office/drawing/2014/main" id="{ED748C2C-A662-9CC9-C0BC-FA64433C37DB}"/>
                  </a:ext>
                </a:extLst>
              </p:cNvPr>
              <p:cNvSpPr/>
              <p:nvPr/>
            </p:nvSpPr>
            <p:spPr>
              <a:xfrm>
                <a:off x="6535931" y="3059917"/>
                <a:ext cx="612625" cy="2049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User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Query</a:t>
                </a:r>
              </a:p>
            </p:txBody>
          </p:sp>
        </p:grpSp>
        <p:cxnSp>
          <p:nvCxnSpPr>
            <p:cNvPr id="47" name="직선 연결선 46">
              <a:extLst>
                <a:ext uri="{FF2B5EF4-FFF2-40B4-BE49-F238E27FC236}">
                  <a16:creationId xmlns:a16="http://schemas.microsoft.com/office/drawing/2014/main" id="{4EF45986-530C-1EAF-9D57-6B1DA8089763}"/>
                </a:ext>
              </a:extLst>
            </p:cNvPr>
            <p:cNvCxnSpPr>
              <a:stCxn id="44" idx="0"/>
              <a:endCxn id="130" idx="3"/>
            </p:cNvCxnSpPr>
            <p:nvPr/>
          </p:nvCxnSpPr>
          <p:spPr>
            <a:xfrm flipH="1" flipV="1">
              <a:off x="1332990" y="3407077"/>
              <a:ext cx="353399" cy="456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8" name="그룹 47">
              <a:extLst>
                <a:ext uri="{FF2B5EF4-FFF2-40B4-BE49-F238E27FC236}">
                  <a16:creationId xmlns:a16="http://schemas.microsoft.com/office/drawing/2014/main" id="{E0FBFF0E-5CF0-33DC-0F0A-A9BF15FF275D}"/>
                </a:ext>
              </a:extLst>
            </p:cNvPr>
            <p:cNvGrpSpPr/>
            <p:nvPr/>
          </p:nvGrpSpPr>
          <p:grpSpPr>
            <a:xfrm>
              <a:off x="4037167" y="3975502"/>
              <a:ext cx="440627" cy="485840"/>
              <a:chOff x="14955144" y="7740594"/>
              <a:chExt cx="713249" cy="766819"/>
            </a:xfrm>
          </p:grpSpPr>
          <p:sp>
            <p:nvSpPr>
              <p:cNvPr id="117" name="Freeform 75">
                <a:extLst>
                  <a:ext uri="{FF2B5EF4-FFF2-40B4-BE49-F238E27FC236}">
                    <a16:creationId xmlns:a16="http://schemas.microsoft.com/office/drawing/2014/main" id="{2C0727E1-D2FF-8648-0901-D4C035C146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31666" y="7826307"/>
                <a:ext cx="336727" cy="593864"/>
              </a:xfrm>
              <a:custGeom>
                <a:avLst/>
                <a:gdLst>
                  <a:gd name="T0" fmla="*/ 0 w 106"/>
                  <a:gd name="T1" fmla="*/ 0 h 184"/>
                  <a:gd name="T2" fmla="*/ 32 w 106"/>
                  <a:gd name="T3" fmla="*/ 0 h 184"/>
                  <a:gd name="T4" fmla="*/ 32 w 106"/>
                  <a:gd name="T5" fmla="*/ 27 h 184"/>
                  <a:gd name="T6" fmla="*/ 50 w 106"/>
                  <a:gd name="T7" fmla="*/ 35 h 184"/>
                  <a:gd name="T8" fmla="*/ 68 w 106"/>
                  <a:gd name="T9" fmla="*/ 16 h 184"/>
                  <a:gd name="T10" fmla="*/ 90 w 106"/>
                  <a:gd name="T11" fmla="*/ 39 h 184"/>
                  <a:gd name="T12" fmla="*/ 72 w 106"/>
                  <a:gd name="T13" fmla="*/ 57 h 184"/>
                  <a:gd name="T14" fmla="*/ 81 w 106"/>
                  <a:gd name="T15" fmla="*/ 76 h 184"/>
                  <a:gd name="T16" fmla="*/ 106 w 106"/>
                  <a:gd name="T17" fmla="*/ 76 h 184"/>
                  <a:gd name="T18" fmla="*/ 106 w 106"/>
                  <a:gd name="T19" fmla="*/ 108 h 184"/>
                  <a:gd name="T20" fmla="*/ 81 w 106"/>
                  <a:gd name="T21" fmla="*/ 108 h 184"/>
                  <a:gd name="T22" fmla="*/ 72 w 106"/>
                  <a:gd name="T23" fmla="*/ 127 h 184"/>
                  <a:gd name="T24" fmla="*/ 90 w 106"/>
                  <a:gd name="T25" fmla="*/ 146 h 184"/>
                  <a:gd name="T26" fmla="*/ 68 w 106"/>
                  <a:gd name="T27" fmla="*/ 169 h 184"/>
                  <a:gd name="T28" fmla="*/ 50 w 106"/>
                  <a:gd name="T29" fmla="*/ 150 h 184"/>
                  <a:gd name="T30" fmla="*/ 32 w 106"/>
                  <a:gd name="T31" fmla="*/ 157 h 184"/>
                  <a:gd name="T32" fmla="*/ 32 w 106"/>
                  <a:gd name="T33" fmla="*/ 184 h 184"/>
                  <a:gd name="T34" fmla="*/ 0 w 106"/>
                  <a:gd name="T35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106" h="184">
                    <a:moveTo>
                      <a:pt x="0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32" y="27"/>
                      <a:pt x="32" y="27"/>
                      <a:pt x="32" y="27"/>
                    </a:cubicBezTo>
                    <a:cubicBezTo>
                      <a:pt x="38" y="29"/>
                      <a:pt x="45" y="31"/>
                      <a:pt x="50" y="35"/>
                    </a:cubicBezTo>
                    <a:cubicBezTo>
                      <a:pt x="68" y="16"/>
                      <a:pt x="68" y="16"/>
                      <a:pt x="68" y="16"/>
                    </a:cubicBezTo>
                    <a:cubicBezTo>
                      <a:pt x="90" y="39"/>
                      <a:pt x="90" y="39"/>
                      <a:pt x="90" y="39"/>
                    </a:cubicBezTo>
                    <a:cubicBezTo>
                      <a:pt x="72" y="57"/>
                      <a:pt x="72" y="57"/>
                      <a:pt x="72" y="57"/>
                    </a:cubicBezTo>
                    <a:cubicBezTo>
                      <a:pt x="76" y="63"/>
                      <a:pt x="79" y="70"/>
                      <a:pt x="81" y="76"/>
                    </a:cubicBezTo>
                    <a:cubicBezTo>
                      <a:pt x="106" y="76"/>
                      <a:pt x="106" y="76"/>
                      <a:pt x="106" y="76"/>
                    </a:cubicBezTo>
                    <a:cubicBezTo>
                      <a:pt x="106" y="108"/>
                      <a:pt x="106" y="108"/>
                      <a:pt x="106" y="108"/>
                    </a:cubicBezTo>
                    <a:cubicBezTo>
                      <a:pt x="81" y="108"/>
                      <a:pt x="81" y="108"/>
                      <a:pt x="81" y="108"/>
                    </a:cubicBezTo>
                    <a:cubicBezTo>
                      <a:pt x="79" y="116"/>
                      <a:pt x="76" y="122"/>
                      <a:pt x="72" y="127"/>
                    </a:cubicBezTo>
                    <a:cubicBezTo>
                      <a:pt x="90" y="146"/>
                      <a:pt x="90" y="146"/>
                      <a:pt x="90" y="146"/>
                    </a:cubicBezTo>
                    <a:cubicBezTo>
                      <a:pt x="68" y="169"/>
                      <a:pt x="68" y="169"/>
                      <a:pt x="68" y="169"/>
                    </a:cubicBezTo>
                    <a:cubicBezTo>
                      <a:pt x="50" y="150"/>
                      <a:pt x="50" y="150"/>
                      <a:pt x="50" y="150"/>
                    </a:cubicBezTo>
                    <a:cubicBezTo>
                      <a:pt x="45" y="154"/>
                      <a:pt x="38" y="156"/>
                      <a:pt x="32" y="157"/>
                    </a:cubicBezTo>
                    <a:cubicBezTo>
                      <a:pt x="32" y="184"/>
                      <a:pt x="32" y="184"/>
                      <a:pt x="32" y="184"/>
                    </a:cubicBezTo>
                    <a:cubicBezTo>
                      <a:pt x="0" y="184"/>
                      <a:pt x="0" y="184"/>
                      <a:pt x="0" y="184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8" name="Line 76">
                <a:extLst>
                  <a:ext uri="{FF2B5EF4-FFF2-40B4-BE49-F238E27FC236}">
                    <a16:creationId xmlns:a16="http://schemas.microsoft.com/office/drawing/2014/main" id="{DF1662F8-7730-EC32-3C51-27A78B3F9C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14830" y="7740594"/>
                <a:ext cx="0" cy="766819"/>
              </a:xfrm>
              <a:prstGeom prst="line">
                <a:avLst/>
              </a:pr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9" name="Freeform 77">
                <a:extLst>
                  <a:ext uri="{FF2B5EF4-FFF2-40B4-BE49-F238E27FC236}">
                    <a16:creationId xmlns:a16="http://schemas.microsoft.com/office/drawing/2014/main" id="{ED160E5B-10DC-5B8C-1BEF-CB03210BC1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14830" y="8023751"/>
                <a:ext cx="96426" cy="198975"/>
              </a:xfrm>
              <a:custGeom>
                <a:avLst/>
                <a:gdLst>
                  <a:gd name="T0" fmla="*/ 0 w 30"/>
                  <a:gd name="T1" fmla="*/ 62 h 62"/>
                  <a:gd name="T2" fmla="*/ 30 w 30"/>
                  <a:gd name="T3" fmla="*/ 31 h 62"/>
                  <a:gd name="T4" fmla="*/ 0 w 30"/>
                  <a:gd name="T5" fmla="*/ 0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0" h="62">
                    <a:moveTo>
                      <a:pt x="0" y="62"/>
                    </a:moveTo>
                    <a:cubicBezTo>
                      <a:pt x="17" y="62"/>
                      <a:pt x="30" y="48"/>
                      <a:pt x="30" y="31"/>
                    </a:cubicBezTo>
                    <a:cubicBezTo>
                      <a:pt x="30" y="14"/>
                      <a:pt x="17" y="0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0" name="Freeform 78">
                <a:extLst>
                  <a:ext uri="{FF2B5EF4-FFF2-40B4-BE49-F238E27FC236}">
                    <a16:creationId xmlns:a16="http://schemas.microsoft.com/office/drawing/2014/main" id="{81ADCA19-7E8E-7534-853D-7E8DDD2C55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82175" y="7968650"/>
                <a:ext cx="117854" cy="312238"/>
              </a:xfrm>
              <a:custGeom>
                <a:avLst/>
                <a:gdLst>
                  <a:gd name="T0" fmla="*/ 0 w 37"/>
                  <a:gd name="T1" fmla="*/ 97 h 97"/>
                  <a:gd name="T2" fmla="*/ 37 w 37"/>
                  <a:gd name="T3" fmla="*/ 48 h 97"/>
                  <a:gd name="T4" fmla="*/ 0 w 37"/>
                  <a:gd name="T5" fmla="*/ 0 h 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7" h="97">
                    <a:moveTo>
                      <a:pt x="0" y="97"/>
                    </a:moveTo>
                    <a:cubicBezTo>
                      <a:pt x="21" y="91"/>
                      <a:pt x="37" y="72"/>
                      <a:pt x="37" y="48"/>
                    </a:cubicBezTo>
                    <a:cubicBezTo>
                      <a:pt x="37" y="25"/>
                      <a:pt x="21" y="5"/>
                      <a:pt x="0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1" name="Freeform 79">
                <a:extLst>
                  <a:ext uri="{FF2B5EF4-FFF2-40B4-BE49-F238E27FC236}">
                    <a16:creationId xmlns:a16="http://schemas.microsoft.com/office/drawing/2014/main" id="{5E563F70-56CB-9134-D0B8-D6039EAAF1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34222" y="7823245"/>
                <a:ext cx="171425" cy="180608"/>
              </a:xfrm>
              <a:custGeom>
                <a:avLst/>
                <a:gdLst>
                  <a:gd name="T0" fmla="*/ 54 w 54"/>
                  <a:gd name="T1" fmla="*/ 13 h 56"/>
                  <a:gd name="T2" fmla="*/ 30 w 54"/>
                  <a:gd name="T3" fmla="*/ 0 h 56"/>
                  <a:gd name="T4" fmla="*/ 0 w 54"/>
                  <a:gd name="T5" fmla="*/ 30 h 56"/>
                  <a:gd name="T6" fmla="*/ 16 w 54"/>
                  <a:gd name="T7" fmla="*/ 56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4" h="56">
                    <a:moveTo>
                      <a:pt x="54" y="13"/>
                    </a:moveTo>
                    <a:cubicBezTo>
                      <a:pt x="49" y="5"/>
                      <a:pt x="39" y="0"/>
                      <a:pt x="30" y="0"/>
                    </a:cubicBezTo>
                    <a:cubicBezTo>
                      <a:pt x="13" y="0"/>
                      <a:pt x="0" y="14"/>
                      <a:pt x="0" y="30"/>
                    </a:cubicBezTo>
                    <a:cubicBezTo>
                      <a:pt x="0" y="42"/>
                      <a:pt x="7" y="52"/>
                      <a:pt x="16" y="56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2" name="Freeform 80">
                <a:extLst>
                  <a:ext uri="{FF2B5EF4-FFF2-40B4-BE49-F238E27FC236}">
                    <a16:creationId xmlns:a16="http://schemas.microsoft.com/office/drawing/2014/main" id="{12E492C0-1527-7DCE-C3E3-DA7B76683C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99019" y="8210481"/>
                <a:ext cx="212750" cy="215811"/>
              </a:xfrm>
              <a:custGeom>
                <a:avLst/>
                <a:gdLst>
                  <a:gd name="T0" fmla="*/ 14 w 67"/>
                  <a:gd name="T1" fmla="*/ 0 h 67"/>
                  <a:gd name="T2" fmla="*/ 0 w 67"/>
                  <a:gd name="T3" fmla="*/ 30 h 67"/>
                  <a:gd name="T4" fmla="*/ 35 w 67"/>
                  <a:gd name="T5" fmla="*/ 67 h 67"/>
                  <a:gd name="T6" fmla="*/ 67 w 67"/>
                  <a:gd name="T7" fmla="*/ 47 h 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67" h="67">
                    <a:moveTo>
                      <a:pt x="14" y="0"/>
                    </a:moveTo>
                    <a:cubicBezTo>
                      <a:pt x="5" y="6"/>
                      <a:pt x="0" y="18"/>
                      <a:pt x="0" y="30"/>
                    </a:cubicBezTo>
                    <a:cubicBezTo>
                      <a:pt x="0" y="50"/>
                      <a:pt x="15" y="67"/>
                      <a:pt x="35" y="67"/>
                    </a:cubicBezTo>
                    <a:cubicBezTo>
                      <a:pt x="49" y="67"/>
                      <a:pt x="62" y="58"/>
                      <a:pt x="67" y="47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3" name="Freeform 81">
                <a:extLst>
                  <a:ext uri="{FF2B5EF4-FFF2-40B4-BE49-F238E27FC236}">
                    <a16:creationId xmlns:a16="http://schemas.microsoft.com/office/drawing/2014/main" id="{C7C4115E-4B58-3B56-55B8-1101590B5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55144" y="8000792"/>
                <a:ext cx="99487" cy="183669"/>
              </a:xfrm>
              <a:custGeom>
                <a:avLst/>
                <a:gdLst>
                  <a:gd name="T0" fmla="*/ 31 w 31"/>
                  <a:gd name="T1" fmla="*/ 0 h 57"/>
                  <a:gd name="T2" fmla="*/ 0 w 31"/>
                  <a:gd name="T3" fmla="*/ 30 h 57"/>
                  <a:gd name="T4" fmla="*/ 17 w 31"/>
                  <a:gd name="T5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31" h="57">
                    <a:moveTo>
                      <a:pt x="31" y="0"/>
                    </a:moveTo>
                    <a:cubicBezTo>
                      <a:pt x="14" y="0"/>
                      <a:pt x="0" y="14"/>
                      <a:pt x="0" y="30"/>
                    </a:cubicBezTo>
                    <a:cubicBezTo>
                      <a:pt x="0" y="42"/>
                      <a:pt x="8" y="53"/>
                      <a:pt x="17" y="57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4" name="Freeform 82">
                <a:extLst>
                  <a:ext uri="{FF2B5EF4-FFF2-40B4-BE49-F238E27FC236}">
                    <a16:creationId xmlns:a16="http://schemas.microsoft.com/office/drawing/2014/main" id="{A8A0F659-16F1-287C-5FB4-E5CCCA6D2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037796" y="7884468"/>
                <a:ext cx="96426" cy="93365"/>
              </a:xfrm>
              <a:custGeom>
                <a:avLst/>
                <a:gdLst>
                  <a:gd name="T0" fmla="*/ 30 w 30"/>
                  <a:gd name="T1" fmla="*/ 0 h 29"/>
                  <a:gd name="T2" fmla="*/ 0 w 30"/>
                  <a:gd name="T3" fmla="*/ 29 h 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0" h="29">
                    <a:moveTo>
                      <a:pt x="30" y="0"/>
                    </a:moveTo>
                    <a:cubicBezTo>
                      <a:pt x="14" y="0"/>
                      <a:pt x="0" y="13"/>
                      <a:pt x="0" y="29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5" name="Freeform 83">
                <a:extLst>
                  <a:ext uri="{FF2B5EF4-FFF2-40B4-BE49-F238E27FC236}">
                    <a16:creationId xmlns:a16="http://schemas.microsoft.com/office/drawing/2014/main" id="{5084360C-A99F-D207-97E1-257FD7075B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90348" y="8198237"/>
                <a:ext cx="91835" cy="137752"/>
              </a:xfrm>
              <a:custGeom>
                <a:avLst/>
                <a:gdLst>
                  <a:gd name="T0" fmla="*/ 29 w 29"/>
                  <a:gd name="T1" fmla="*/ 43 h 43"/>
                  <a:gd name="T2" fmla="*/ 5 w 29"/>
                  <a:gd name="T3" fmla="*/ 0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9" h="43">
                    <a:moveTo>
                      <a:pt x="29" y="43"/>
                    </a:moveTo>
                    <a:cubicBezTo>
                      <a:pt x="10" y="38"/>
                      <a:pt x="0" y="19"/>
                      <a:pt x="5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6" name="Freeform 84">
                <a:extLst>
                  <a:ext uri="{FF2B5EF4-FFF2-40B4-BE49-F238E27FC236}">
                    <a16:creationId xmlns:a16="http://schemas.microsoft.com/office/drawing/2014/main" id="{F3E49444-FD04-C5C4-359A-CB5BF0D0C8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16873" y="7910488"/>
                <a:ext cx="91835" cy="32142"/>
              </a:xfrm>
              <a:custGeom>
                <a:avLst/>
                <a:gdLst>
                  <a:gd name="T0" fmla="*/ 0 w 29"/>
                  <a:gd name="T1" fmla="*/ 0 h 10"/>
                  <a:gd name="T2" fmla="*/ 29 w 29"/>
                  <a:gd name="T3" fmla="*/ 7 h 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9" h="10">
                    <a:moveTo>
                      <a:pt x="0" y="0"/>
                    </a:moveTo>
                    <a:cubicBezTo>
                      <a:pt x="7" y="8"/>
                      <a:pt x="18" y="10"/>
                      <a:pt x="29" y="7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7" name="Freeform 85">
                <a:extLst>
                  <a:ext uri="{FF2B5EF4-FFF2-40B4-BE49-F238E27FC236}">
                    <a16:creationId xmlns:a16="http://schemas.microsoft.com/office/drawing/2014/main" id="{8FB87D10-3E5C-B0CA-A9EF-EC9548A38A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22995" y="8262521"/>
                <a:ext cx="85712" cy="53570"/>
              </a:xfrm>
              <a:custGeom>
                <a:avLst/>
                <a:gdLst>
                  <a:gd name="T0" fmla="*/ 27 w 27"/>
                  <a:gd name="T1" fmla="*/ 0 h 17"/>
                  <a:gd name="T2" fmla="*/ 0 w 27"/>
                  <a:gd name="T3" fmla="*/ 17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7" h="17">
                    <a:moveTo>
                      <a:pt x="27" y="0"/>
                    </a:moveTo>
                    <a:cubicBezTo>
                      <a:pt x="15" y="0"/>
                      <a:pt x="5" y="7"/>
                      <a:pt x="0" y="17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8" name="Freeform 86">
                <a:extLst>
                  <a:ext uri="{FF2B5EF4-FFF2-40B4-BE49-F238E27FC236}">
                    <a16:creationId xmlns:a16="http://schemas.microsoft.com/office/drawing/2014/main" id="{573EE378-C534-4FA9-A6FA-611182F4D8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96975" y="8062015"/>
                <a:ext cx="102549" cy="22959"/>
              </a:xfrm>
              <a:custGeom>
                <a:avLst/>
                <a:gdLst>
                  <a:gd name="T0" fmla="*/ 32 w 32"/>
                  <a:gd name="T1" fmla="*/ 6 h 7"/>
                  <a:gd name="T2" fmla="*/ 0 w 32"/>
                  <a:gd name="T3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32" h="7">
                    <a:moveTo>
                      <a:pt x="32" y="6"/>
                    </a:moveTo>
                    <a:cubicBezTo>
                      <a:pt x="21" y="0"/>
                      <a:pt x="10" y="1"/>
                      <a:pt x="0" y="7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29" name="Freeform 87">
                <a:extLst>
                  <a:ext uri="{FF2B5EF4-FFF2-40B4-BE49-F238E27FC236}">
                    <a16:creationId xmlns:a16="http://schemas.microsoft.com/office/drawing/2014/main" id="{6DC084F4-692C-EF56-7B33-FD483C3B63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05141" y="8084974"/>
                <a:ext cx="91835" cy="35203"/>
              </a:xfrm>
              <a:custGeom>
                <a:avLst/>
                <a:gdLst>
                  <a:gd name="T0" fmla="*/ 0 w 29"/>
                  <a:gd name="T1" fmla="*/ 8 h 11"/>
                  <a:gd name="T2" fmla="*/ 29 w 29"/>
                  <a:gd name="T3" fmla="*/ 0 h 1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</a:cxnLst>
                <a:rect l="0" t="0" r="r" b="b"/>
                <a:pathLst>
                  <a:path w="29" h="11">
                    <a:moveTo>
                      <a:pt x="0" y="8"/>
                    </a:moveTo>
                    <a:cubicBezTo>
                      <a:pt x="11" y="11"/>
                      <a:pt x="22" y="8"/>
                      <a:pt x="29" y="0"/>
                    </a:cubicBezTo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</p:grpSp>
        <p:sp>
          <p:nvSpPr>
            <p:cNvPr id="49" name="Rectangle 12">
              <a:extLst>
                <a:ext uri="{FF2B5EF4-FFF2-40B4-BE49-F238E27FC236}">
                  <a16:creationId xmlns:a16="http://schemas.microsoft.com/office/drawing/2014/main" id="{5F11CB77-45D2-4C9E-FEC1-7E98AB98B78A}"/>
                </a:ext>
              </a:extLst>
            </p:cNvPr>
            <p:cNvSpPr/>
            <p:nvPr/>
          </p:nvSpPr>
          <p:spPr>
            <a:xfrm>
              <a:off x="4609954" y="4122564"/>
              <a:ext cx="612625" cy="204972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LLM</a:t>
              </a:r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3E2587BC-FB13-BA5E-84DF-4D102B789540}"/>
                </a:ext>
              </a:extLst>
            </p:cNvPr>
            <p:cNvGrpSpPr/>
            <p:nvPr/>
          </p:nvGrpSpPr>
          <p:grpSpPr>
            <a:xfrm>
              <a:off x="2846651" y="3155571"/>
              <a:ext cx="883026" cy="503011"/>
              <a:chOff x="8859510" y="2868009"/>
              <a:chExt cx="927985" cy="601490"/>
            </a:xfrm>
          </p:grpSpPr>
          <p:sp>
            <p:nvSpPr>
              <p:cNvPr id="115" name="Freeform 7">
                <a:extLst>
                  <a:ext uri="{FF2B5EF4-FFF2-40B4-BE49-F238E27FC236}">
                    <a16:creationId xmlns:a16="http://schemas.microsoft.com/office/drawing/2014/main" id="{20011A76-C320-C554-00F1-B043EB850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859510" y="2868009"/>
                <a:ext cx="927985" cy="601490"/>
              </a:xfrm>
              <a:custGeom>
                <a:avLst/>
                <a:gdLst>
                  <a:gd name="T0" fmla="*/ 19 w 38"/>
                  <a:gd name="T1" fmla="*/ 0 h 38"/>
                  <a:gd name="T2" fmla="*/ 0 w 38"/>
                  <a:gd name="T3" fmla="*/ 19 h 38"/>
                  <a:gd name="T4" fmla="*/ 19 w 38"/>
                  <a:gd name="T5" fmla="*/ 38 h 38"/>
                  <a:gd name="T6" fmla="*/ 38 w 38"/>
                  <a:gd name="T7" fmla="*/ 19 h 38"/>
                  <a:gd name="T8" fmla="*/ 19 w 38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38">
                    <a:moveTo>
                      <a:pt x="19" y="0"/>
                    </a:moveTo>
                    <a:cubicBezTo>
                      <a:pt x="10" y="0"/>
                      <a:pt x="0" y="1"/>
                      <a:pt x="0" y="19"/>
                    </a:cubicBezTo>
                    <a:cubicBezTo>
                      <a:pt x="0" y="37"/>
                      <a:pt x="9" y="38"/>
                      <a:pt x="19" y="38"/>
                    </a:cubicBezTo>
                    <a:cubicBezTo>
                      <a:pt x="29" y="38"/>
                      <a:pt x="38" y="37"/>
                      <a:pt x="38" y="19"/>
                    </a:cubicBezTo>
                    <a:cubicBezTo>
                      <a:pt x="38" y="1"/>
                      <a:pt x="28" y="0"/>
                      <a:pt x="19" y="0"/>
                    </a:cubicBezTo>
                    <a:close/>
                  </a:path>
                </a:pathLst>
              </a:custGeom>
              <a:solidFill>
                <a:srgbClr val="EFF4FF"/>
              </a:solidFill>
              <a:ln>
                <a:solidFill>
                  <a:srgbClr val="006D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srgbClr val="006DFF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6" name="Rectangle 12">
                <a:extLst>
                  <a:ext uri="{FF2B5EF4-FFF2-40B4-BE49-F238E27FC236}">
                    <a16:creationId xmlns:a16="http://schemas.microsoft.com/office/drawing/2014/main" id="{D5F3FF2E-C2E0-40B2-0F01-5CB91527C106}"/>
                  </a:ext>
                </a:extLst>
              </p:cNvPr>
              <p:cNvSpPr/>
              <p:nvPr/>
            </p:nvSpPr>
            <p:spPr>
              <a:xfrm>
                <a:off x="9017190" y="3073222"/>
                <a:ext cx="612625" cy="2049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Reasoning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추론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9FC24BE2-097D-1642-91DE-B67797802E48}"/>
                </a:ext>
              </a:extLst>
            </p:cNvPr>
            <p:cNvGrpSpPr/>
            <p:nvPr/>
          </p:nvGrpSpPr>
          <p:grpSpPr>
            <a:xfrm>
              <a:off x="3905848" y="3155571"/>
              <a:ext cx="829477" cy="503011"/>
              <a:chOff x="9950570" y="2867574"/>
              <a:chExt cx="766930" cy="601490"/>
            </a:xfrm>
          </p:grpSpPr>
          <p:sp>
            <p:nvSpPr>
              <p:cNvPr id="113" name="Freeform 7">
                <a:extLst>
                  <a:ext uri="{FF2B5EF4-FFF2-40B4-BE49-F238E27FC236}">
                    <a16:creationId xmlns:a16="http://schemas.microsoft.com/office/drawing/2014/main" id="{4CFACEEC-1C44-1A2A-9931-F1AAB9F3D0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9950570" y="2867574"/>
                <a:ext cx="766930" cy="601490"/>
              </a:xfrm>
              <a:custGeom>
                <a:avLst/>
                <a:gdLst>
                  <a:gd name="T0" fmla="*/ 19 w 38"/>
                  <a:gd name="T1" fmla="*/ 0 h 38"/>
                  <a:gd name="T2" fmla="*/ 0 w 38"/>
                  <a:gd name="T3" fmla="*/ 19 h 38"/>
                  <a:gd name="T4" fmla="*/ 19 w 38"/>
                  <a:gd name="T5" fmla="*/ 38 h 38"/>
                  <a:gd name="T6" fmla="*/ 38 w 38"/>
                  <a:gd name="T7" fmla="*/ 19 h 38"/>
                  <a:gd name="T8" fmla="*/ 19 w 38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38">
                    <a:moveTo>
                      <a:pt x="19" y="0"/>
                    </a:moveTo>
                    <a:cubicBezTo>
                      <a:pt x="10" y="0"/>
                      <a:pt x="0" y="1"/>
                      <a:pt x="0" y="19"/>
                    </a:cubicBezTo>
                    <a:cubicBezTo>
                      <a:pt x="0" y="37"/>
                      <a:pt x="9" y="38"/>
                      <a:pt x="19" y="38"/>
                    </a:cubicBezTo>
                    <a:cubicBezTo>
                      <a:pt x="29" y="38"/>
                      <a:pt x="38" y="37"/>
                      <a:pt x="38" y="19"/>
                    </a:cubicBezTo>
                    <a:cubicBezTo>
                      <a:pt x="38" y="1"/>
                      <a:pt x="28" y="0"/>
                      <a:pt x="19" y="0"/>
                    </a:cubicBezTo>
                    <a:close/>
                  </a:path>
                </a:pathLst>
              </a:custGeom>
              <a:solidFill>
                <a:srgbClr val="EFF4FF"/>
              </a:solidFill>
              <a:ln>
                <a:solidFill>
                  <a:srgbClr val="006D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srgbClr val="006DFF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4" name="Rectangle 12">
                <a:extLst>
                  <a:ext uri="{FF2B5EF4-FFF2-40B4-BE49-F238E27FC236}">
                    <a16:creationId xmlns:a16="http://schemas.microsoft.com/office/drawing/2014/main" id="{5A7F4092-921F-C9A2-A231-D23A9AA750CA}"/>
                  </a:ext>
                </a:extLst>
              </p:cNvPr>
              <p:cNvSpPr/>
              <p:nvPr/>
            </p:nvSpPr>
            <p:spPr>
              <a:xfrm>
                <a:off x="10027723" y="3072787"/>
                <a:ext cx="612625" cy="2049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Planning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계획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grpSp>
          <p:nvGrpSpPr>
            <p:cNvPr id="52" name="그룹 51">
              <a:extLst>
                <a:ext uri="{FF2B5EF4-FFF2-40B4-BE49-F238E27FC236}">
                  <a16:creationId xmlns:a16="http://schemas.microsoft.com/office/drawing/2014/main" id="{70ABB48E-6868-73B8-9C26-36B1E736EB00}"/>
                </a:ext>
              </a:extLst>
            </p:cNvPr>
            <p:cNvGrpSpPr/>
            <p:nvPr/>
          </p:nvGrpSpPr>
          <p:grpSpPr>
            <a:xfrm>
              <a:off x="4865725" y="3155571"/>
              <a:ext cx="810673" cy="503011"/>
              <a:chOff x="10914198" y="2867574"/>
              <a:chExt cx="672418" cy="601490"/>
            </a:xfrm>
          </p:grpSpPr>
          <p:sp>
            <p:nvSpPr>
              <p:cNvPr id="111" name="Freeform 7">
                <a:extLst>
                  <a:ext uri="{FF2B5EF4-FFF2-40B4-BE49-F238E27FC236}">
                    <a16:creationId xmlns:a16="http://schemas.microsoft.com/office/drawing/2014/main" id="{B41D8FE1-C2C6-62AD-E923-5C45A2FB1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914198" y="2867574"/>
                <a:ext cx="672418" cy="601490"/>
              </a:xfrm>
              <a:custGeom>
                <a:avLst/>
                <a:gdLst>
                  <a:gd name="T0" fmla="*/ 19 w 38"/>
                  <a:gd name="T1" fmla="*/ 0 h 38"/>
                  <a:gd name="T2" fmla="*/ 0 w 38"/>
                  <a:gd name="T3" fmla="*/ 19 h 38"/>
                  <a:gd name="T4" fmla="*/ 19 w 38"/>
                  <a:gd name="T5" fmla="*/ 38 h 38"/>
                  <a:gd name="T6" fmla="*/ 38 w 38"/>
                  <a:gd name="T7" fmla="*/ 19 h 38"/>
                  <a:gd name="T8" fmla="*/ 19 w 38"/>
                  <a:gd name="T9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38">
                    <a:moveTo>
                      <a:pt x="19" y="0"/>
                    </a:moveTo>
                    <a:cubicBezTo>
                      <a:pt x="10" y="0"/>
                      <a:pt x="0" y="1"/>
                      <a:pt x="0" y="19"/>
                    </a:cubicBezTo>
                    <a:cubicBezTo>
                      <a:pt x="0" y="37"/>
                      <a:pt x="9" y="38"/>
                      <a:pt x="19" y="38"/>
                    </a:cubicBezTo>
                    <a:cubicBezTo>
                      <a:pt x="29" y="38"/>
                      <a:pt x="38" y="37"/>
                      <a:pt x="38" y="19"/>
                    </a:cubicBezTo>
                    <a:cubicBezTo>
                      <a:pt x="38" y="1"/>
                      <a:pt x="28" y="0"/>
                      <a:pt x="19" y="0"/>
                    </a:cubicBezTo>
                    <a:close/>
                  </a:path>
                </a:pathLst>
              </a:custGeom>
              <a:solidFill>
                <a:srgbClr val="EFF4FF"/>
              </a:solidFill>
              <a:ln>
                <a:solidFill>
                  <a:srgbClr val="006DF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srgbClr val="006DFF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2" name="Rectangle 12">
                <a:extLst>
                  <a:ext uri="{FF2B5EF4-FFF2-40B4-BE49-F238E27FC236}">
                    <a16:creationId xmlns:a16="http://schemas.microsoft.com/office/drawing/2014/main" id="{A7D0A906-AE58-2764-75C6-D705D18AF965}"/>
                  </a:ext>
                </a:extLst>
              </p:cNvPr>
              <p:cNvSpPr/>
              <p:nvPr/>
            </p:nvSpPr>
            <p:spPr>
              <a:xfrm>
                <a:off x="10942561" y="3072787"/>
                <a:ext cx="612625" cy="204972"/>
              </a:xfrm>
              <a:prstGeom prst="rect">
                <a:avLst/>
              </a:prstGeom>
              <a:noFill/>
            </p:spPr>
            <p:txBody>
              <a:bodyPr wrap="none" lIns="0" tIns="0" rIns="0" bIns="0" anchor="ctr" anchorCtr="0">
                <a:no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Execution</a:t>
                </a:r>
              </a:p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(</a:t>
                </a:r>
                <a:r>
                  <a:rPr kumimoji="0" lang="ko-KR" altLang="en-US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실행</a:t>
                </a:r>
                <a:r>
                  <a:rPr kumimoji="0" lang="en-US" altLang="ko-KR" sz="10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srgbClr val="0165F9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Arial" panose="020B0604020202020204" pitchFamily="34" charset="0"/>
                  </a:rPr>
                  <a:t>)</a:t>
                </a:r>
              </a:p>
            </p:txBody>
          </p:sp>
        </p:grpSp>
        <p:cxnSp>
          <p:nvCxnSpPr>
            <p:cNvPr id="53" name="직선 연결선 52">
              <a:extLst>
                <a:ext uri="{FF2B5EF4-FFF2-40B4-BE49-F238E27FC236}">
                  <a16:creationId xmlns:a16="http://schemas.microsoft.com/office/drawing/2014/main" id="{FBFBB2A4-92A0-5676-92BB-EFA45C03FC6E}"/>
                </a:ext>
              </a:extLst>
            </p:cNvPr>
            <p:cNvCxnSpPr>
              <a:stCxn id="115" idx="1"/>
              <a:endCxn id="44" idx="2"/>
            </p:cNvCxnSpPr>
            <p:nvPr/>
          </p:nvCxnSpPr>
          <p:spPr>
            <a:xfrm flipH="1">
              <a:off x="2485788" y="3407077"/>
              <a:ext cx="360862" cy="456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직선 연결선 53">
              <a:extLst>
                <a:ext uri="{FF2B5EF4-FFF2-40B4-BE49-F238E27FC236}">
                  <a16:creationId xmlns:a16="http://schemas.microsoft.com/office/drawing/2014/main" id="{4BAD2107-D917-42F3-073C-7A1628FBF9FE}"/>
                </a:ext>
              </a:extLst>
            </p:cNvPr>
            <p:cNvCxnSpPr>
              <a:stCxn id="113" idx="1"/>
              <a:endCxn id="115" idx="3"/>
            </p:cNvCxnSpPr>
            <p:nvPr/>
          </p:nvCxnSpPr>
          <p:spPr>
            <a:xfrm flipH="1">
              <a:off x="3729677" y="3407077"/>
              <a:ext cx="176171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직선 연결선 54">
              <a:extLst>
                <a:ext uri="{FF2B5EF4-FFF2-40B4-BE49-F238E27FC236}">
                  <a16:creationId xmlns:a16="http://schemas.microsoft.com/office/drawing/2014/main" id="{BDCD6D41-9DBE-E74F-936C-25BC406CA8C2}"/>
                </a:ext>
              </a:extLst>
            </p:cNvPr>
            <p:cNvCxnSpPr>
              <a:stCxn id="111" idx="1"/>
              <a:endCxn id="113" idx="3"/>
            </p:cNvCxnSpPr>
            <p:nvPr/>
          </p:nvCxnSpPr>
          <p:spPr>
            <a:xfrm flipH="1">
              <a:off x="4735325" y="3407077"/>
              <a:ext cx="130400" cy="0"/>
            </a:xfrm>
            <a:prstGeom prst="line">
              <a:avLst/>
            </a:prstGeom>
            <a:ln w="15875" cap="rnd">
              <a:solidFill>
                <a:schemeClr val="tx1"/>
              </a:solidFill>
              <a:round/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오른쪽 중괄호 55">
              <a:extLst>
                <a:ext uri="{FF2B5EF4-FFF2-40B4-BE49-F238E27FC236}">
                  <a16:creationId xmlns:a16="http://schemas.microsoft.com/office/drawing/2014/main" id="{37D988CE-E719-66F0-EF5F-34FF062C7648}"/>
                </a:ext>
              </a:extLst>
            </p:cNvPr>
            <p:cNvSpPr/>
            <p:nvPr/>
          </p:nvSpPr>
          <p:spPr>
            <a:xfrm rot="5400000">
              <a:off x="4122384" y="2351120"/>
              <a:ext cx="246849" cy="2798319"/>
            </a:xfrm>
            <a:prstGeom prst="rightBrace">
              <a:avLst/>
            </a:prstGeom>
            <a:noFill/>
            <a:ln w="12700" cap="rnd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57" name="Rectangle 12">
              <a:extLst>
                <a:ext uri="{FF2B5EF4-FFF2-40B4-BE49-F238E27FC236}">
                  <a16:creationId xmlns:a16="http://schemas.microsoft.com/office/drawing/2014/main" id="{29130BF2-3A44-0753-BEAD-6A2C7D9B638F}"/>
                </a:ext>
              </a:extLst>
            </p:cNvPr>
            <p:cNvSpPr/>
            <p:nvPr/>
          </p:nvSpPr>
          <p:spPr>
            <a:xfrm>
              <a:off x="2339958" y="3992675"/>
              <a:ext cx="1229221" cy="240539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0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역할</a:t>
              </a:r>
              <a:r>
                <a:rPr kumimoji="0" lang="en-US" altLang="ko-KR" sz="10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/</a:t>
              </a:r>
              <a:r>
                <a:rPr kumimoji="0" lang="ko-KR" altLang="en-US" sz="10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동작 정의</a:t>
              </a:r>
              <a:endParaRPr kumimoji="0" lang="en-US" altLang="ko-KR" sz="100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DB1FE2EE-243E-A7E7-6F2A-8D960099CB8E}"/>
                </a:ext>
              </a:extLst>
            </p:cNvPr>
            <p:cNvSpPr/>
            <p:nvPr/>
          </p:nvSpPr>
          <p:spPr>
            <a:xfrm>
              <a:off x="1967343" y="4228724"/>
              <a:ext cx="1974452" cy="343726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ko-KR" sz="1000" b="0" i="0" u="none" strike="noStrike" kern="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(Persona, Instruction)</a:t>
              </a:r>
            </a:p>
          </p:txBody>
        </p:sp>
        <p:sp>
          <p:nvSpPr>
            <p:cNvPr id="59" name="모서리가 둥근 직사각형 56">
              <a:extLst>
                <a:ext uri="{FF2B5EF4-FFF2-40B4-BE49-F238E27FC236}">
                  <a16:creationId xmlns:a16="http://schemas.microsoft.com/office/drawing/2014/main" id="{F736592E-9466-B140-E143-230732272A9B}"/>
                </a:ext>
              </a:extLst>
            </p:cNvPr>
            <p:cNvSpPr/>
            <p:nvPr/>
          </p:nvSpPr>
          <p:spPr>
            <a:xfrm>
              <a:off x="593330" y="5112026"/>
              <a:ext cx="5113591" cy="1077124"/>
            </a:xfrm>
            <a:prstGeom prst="roundRect">
              <a:avLst>
                <a:gd name="adj" fmla="val 8100"/>
              </a:avLst>
            </a:prstGeom>
            <a:solidFill>
              <a:srgbClr val="D3DFEE"/>
            </a:solidFill>
            <a:ln w="127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1200" cap="none" spc="-3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60" name="직선 연결선 59">
              <a:extLst>
                <a:ext uri="{FF2B5EF4-FFF2-40B4-BE49-F238E27FC236}">
                  <a16:creationId xmlns:a16="http://schemas.microsoft.com/office/drawing/2014/main" id="{43AE7CBF-EF64-F024-E64C-702ADF0DBBB8}"/>
                </a:ext>
              </a:extLst>
            </p:cNvPr>
            <p:cNvCxnSpPr/>
            <p:nvPr/>
          </p:nvCxnSpPr>
          <p:spPr>
            <a:xfrm flipH="1">
              <a:off x="3679081" y="5549555"/>
              <a:ext cx="162955" cy="2629"/>
            </a:xfrm>
            <a:prstGeom prst="line">
              <a:avLst/>
            </a:prstGeom>
            <a:ln w="31750" cap="rnd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E8C3683E-1A42-FBD1-4ECA-4A463AE3E0C6}"/>
                </a:ext>
              </a:extLst>
            </p:cNvPr>
            <p:cNvGrpSpPr/>
            <p:nvPr/>
          </p:nvGrpSpPr>
          <p:grpSpPr>
            <a:xfrm>
              <a:off x="1337563" y="5257700"/>
              <a:ext cx="540000" cy="793201"/>
              <a:chOff x="2069186" y="4894164"/>
              <a:chExt cx="540000" cy="793201"/>
            </a:xfrm>
          </p:grpSpPr>
          <p:sp>
            <p:nvSpPr>
              <p:cNvPr id="107" name="타원 106">
                <a:extLst>
                  <a:ext uri="{FF2B5EF4-FFF2-40B4-BE49-F238E27FC236}">
                    <a16:creationId xmlns:a16="http://schemas.microsoft.com/office/drawing/2014/main" id="{6BA6F4FD-9DA2-A242-2469-2AD856559E77}"/>
                  </a:ext>
                </a:extLst>
              </p:cNvPr>
              <p:cNvSpPr/>
              <p:nvPr/>
            </p:nvSpPr>
            <p:spPr>
              <a:xfrm>
                <a:off x="2069186" y="4894164"/>
                <a:ext cx="540000" cy="539640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8" name="Freeform 463">
                <a:extLst>
                  <a:ext uri="{FF2B5EF4-FFF2-40B4-BE49-F238E27FC236}">
                    <a16:creationId xmlns:a16="http://schemas.microsoft.com/office/drawing/2014/main" id="{57B5AB51-BB7F-18B4-9ADE-A0C50548FC4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152680" y="4991755"/>
                <a:ext cx="366791" cy="360446"/>
              </a:xfrm>
              <a:custGeom>
                <a:avLst/>
                <a:gdLst>
                  <a:gd name="T0" fmla="*/ 75 w 75"/>
                  <a:gd name="T1" fmla="*/ 44 h 76"/>
                  <a:gd name="T2" fmla="*/ 75 w 75"/>
                  <a:gd name="T3" fmla="*/ 31 h 76"/>
                  <a:gd name="T4" fmla="*/ 68 w 75"/>
                  <a:gd name="T5" fmla="*/ 31 h 76"/>
                  <a:gd name="T6" fmla="*/ 64 w 75"/>
                  <a:gd name="T7" fmla="*/ 20 h 76"/>
                  <a:gd name="T8" fmla="*/ 68 w 75"/>
                  <a:gd name="T9" fmla="*/ 15 h 76"/>
                  <a:gd name="T10" fmla="*/ 59 w 75"/>
                  <a:gd name="T11" fmla="*/ 6 h 76"/>
                  <a:gd name="T12" fmla="*/ 55 w 75"/>
                  <a:gd name="T13" fmla="*/ 11 h 76"/>
                  <a:gd name="T14" fmla="*/ 43 w 75"/>
                  <a:gd name="T15" fmla="*/ 6 h 76"/>
                  <a:gd name="T16" fmla="*/ 43 w 75"/>
                  <a:gd name="T17" fmla="*/ 0 h 76"/>
                  <a:gd name="T18" fmla="*/ 31 w 75"/>
                  <a:gd name="T19" fmla="*/ 0 h 76"/>
                  <a:gd name="T20" fmla="*/ 31 w 75"/>
                  <a:gd name="T21" fmla="*/ 6 h 76"/>
                  <a:gd name="T22" fmla="*/ 20 w 75"/>
                  <a:gd name="T23" fmla="*/ 11 h 76"/>
                  <a:gd name="T24" fmla="*/ 14 w 75"/>
                  <a:gd name="T25" fmla="*/ 6 h 76"/>
                  <a:gd name="T26" fmla="*/ 5 w 75"/>
                  <a:gd name="T27" fmla="*/ 15 h 76"/>
                  <a:gd name="T28" fmla="*/ 11 w 75"/>
                  <a:gd name="T29" fmla="*/ 20 h 76"/>
                  <a:gd name="T30" fmla="*/ 6 w 75"/>
                  <a:gd name="T31" fmla="*/ 31 h 76"/>
                  <a:gd name="T32" fmla="*/ 0 w 75"/>
                  <a:gd name="T33" fmla="*/ 31 h 76"/>
                  <a:gd name="T34" fmla="*/ 0 w 75"/>
                  <a:gd name="T35" fmla="*/ 44 h 76"/>
                  <a:gd name="T36" fmla="*/ 6 w 75"/>
                  <a:gd name="T37" fmla="*/ 44 h 76"/>
                  <a:gd name="T38" fmla="*/ 11 w 75"/>
                  <a:gd name="T39" fmla="*/ 54 h 76"/>
                  <a:gd name="T40" fmla="*/ 5 w 75"/>
                  <a:gd name="T41" fmla="*/ 60 h 76"/>
                  <a:gd name="T42" fmla="*/ 14 w 75"/>
                  <a:gd name="T43" fmla="*/ 69 h 76"/>
                  <a:gd name="T44" fmla="*/ 20 w 75"/>
                  <a:gd name="T45" fmla="*/ 65 h 76"/>
                  <a:gd name="T46" fmla="*/ 31 w 75"/>
                  <a:gd name="T47" fmla="*/ 68 h 76"/>
                  <a:gd name="T48" fmla="*/ 31 w 75"/>
                  <a:gd name="T49" fmla="*/ 76 h 76"/>
                  <a:gd name="T50" fmla="*/ 43 w 75"/>
                  <a:gd name="T51" fmla="*/ 76 h 76"/>
                  <a:gd name="T52" fmla="*/ 43 w 75"/>
                  <a:gd name="T53" fmla="*/ 68 h 76"/>
                  <a:gd name="T54" fmla="*/ 55 w 75"/>
                  <a:gd name="T55" fmla="*/ 65 h 76"/>
                  <a:gd name="T56" fmla="*/ 59 w 75"/>
                  <a:gd name="T57" fmla="*/ 69 h 76"/>
                  <a:gd name="T58" fmla="*/ 68 w 75"/>
                  <a:gd name="T59" fmla="*/ 60 h 76"/>
                  <a:gd name="T60" fmla="*/ 64 w 75"/>
                  <a:gd name="T61" fmla="*/ 54 h 76"/>
                  <a:gd name="T62" fmla="*/ 68 w 75"/>
                  <a:gd name="T63" fmla="*/ 44 h 76"/>
                  <a:gd name="T64" fmla="*/ 75 w 75"/>
                  <a:gd name="T65" fmla="*/ 44 h 76"/>
                  <a:gd name="T66" fmla="*/ 37 w 75"/>
                  <a:gd name="T67" fmla="*/ 57 h 76"/>
                  <a:gd name="T68" fmla="*/ 18 w 75"/>
                  <a:gd name="T69" fmla="*/ 37 h 76"/>
                  <a:gd name="T70" fmla="*/ 37 w 75"/>
                  <a:gd name="T71" fmla="*/ 19 h 76"/>
                  <a:gd name="T72" fmla="*/ 56 w 75"/>
                  <a:gd name="T73" fmla="*/ 37 h 76"/>
                  <a:gd name="T74" fmla="*/ 37 w 75"/>
                  <a:gd name="T75" fmla="*/ 57 h 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75" h="76">
                    <a:moveTo>
                      <a:pt x="75" y="44"/>
                    </a:moveTo>
                    <a:cubicBezTo>
                      <a:pt x="75" y="31"/>
                      <a:pt x="75" y="31"/>
                      <a:pt x="75" y="31"/>
                    </a:cubicBezTo>
                    <a:cubicBezTo>
                      <a:pt x="68" y="31"/>
                      <a:pt x="68" y="31"/>
                      <a:pt x="68" y="31"/>
                    </a:cubicBezTo>
                    <a:cubicBezTo>
                      <a:pt x="67" y="27"/>
                      <a:pt x="66" y="23"/>
                      <a:pt x="64" y="20"/>
                    </a:cubicBezTo>
                    <a:cubicBezTo>
                      <a:pt x="68" y="15"/>
                      <a:pt x="68" y="15"/>
                      <a:pt x="68" y="15"/>
                    </a:cubicBezTo>
                    <a:cubicBezTo>
                      <a:pt x="59" y="6"/>
                      <a:pt x="59" y="6"/>
                      <a:pt x="59" y="6"/>
                    </a:cubicBezTo>
                    <a:cubicBezTo>
                      <a:pt x="55" y="11"/>
                      <a:pt x="55" y="11"/>
                      <a:pt x="55" y="11"/>
                    </a:cubicBezTo>
                    <a:cubicBezTo>
                      <a:pt x="51" y="9"/>
                      <a:pt x="48" y="8"/>
                      <a:pt x="43" y="6"/>
                    </a:cubicBezTo>
                    <a:cubicBezTo>
                      <a:pt x="43" y="0"/>
                      <a:pt x="43" y="0"/>
                      <a:pt x="43" y="0"/>
                    </a:cubicBezTo>
                    <a:cubicBezTo>
                      <a:pt x="31" y="0"/>
                      <a:pt x="31" y="0"/>
                      <a:pt x="31" y="0"/>
                    </a:cubicBezTo>
                    <a:cubicBezTo>
                      <a:pt x="31" y="6"/>
                      <a:pt x="31" y="6"/>
                      <a:pt x="31" y="6"/>
                    </a:cubicBezTo>
                    <a:cubicBezTo>
                      <a:pt x="27" y="8"/>
                      <a:pt x="23" y="9"/>
                      <a:pt x="20" y="11"/>
                    </a:cubicBezTo>
                    <a:cubicBezTo>
                      <a:pt x="14" y="6"/>
                      <a:pt x="14" y="6"/>
                      <a:pt x="14" y="6"/>
                    </a:cubicBezTo>
                    <a:cubicBezTo>
                      <a:pt x="5" y="15"/>
                      <a:pt x="5" y="15"/>
                      <a:pt x="5" y="15"/>
                    </a:cubicBezTo>
                    <a:cubicBezTo>
                      <a:pt x="11" y="20"/>
                      <a:pt x="11" y="20"/>
                      <a:pt x="11" y="20"/>
                    </a:cubicBezTo>
                    <a:cubicBezTo>
                      <a:pt x="9" y="23"/>
                      <a:pt x="6" y="27"/>
                      <a:pt x="6" y="31"/>
                    </a:cubicBezTo>
                    <a:cubicBezTo>
                      <a:pt x="0" y="31"/>
                      <a:pt x="0" y="31"/>
                      <a:pt x="0" y="31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6" y="44"/>
                      <a:pt x="6" y="44"/>
                      <a:pt x="6" y="44"/>
                    </a:cubicBezTo>
                    <a:cubicBezTo>
                      <a:pt x="6" y="49"/>
                      <a:pt x="9" y="52"/>
                      <a:pt x="11" y="54"/>
                    </a:cubicBezTo>
                    <a:cubicBezTo>
                      <a:pt x="5" y="60"/>
                      <a:pt x="5" y="60"/>
                      <a:pt x="5" y="60"/>
                    </a:cubicBezTo>
                    <a:cubicBezTo>
                      <a:pt x="14" y="69"/>
                      <a:pt x="14" y="69"/>
                      <a:pt x="14" y="69"/>
                    </a:cubicBezTo>
                    <a:cubicBezTo>
                      <a:pt x="20" y="65"/>
                      <a:pt x="20" y="65"/>
                      <a:pt x="20" y="65"/>
                    </a:cubicBezTo>
                    <a:cubicBezTo>
                      <a:pt x="23" y="66"/>
                      <a:pt x="27" y="68"/>
                      <a:pt x="31" y="68"/>
                    </a:cubicBezTo>
                    <a:cubicBezTo>
                      <a:pt x="31" y="76"/>
                      <a:pt x="31" y="76"/>
                      <a:pt x="31" y="76"/>
                    </a:cubicBezTo>
                    <a:cubicBezTo>
                      <a:pt x="43" y="76"/>
                      <a:pt x="43" y="76"/>
                      <a:pt x="43" y="76"/>
                    </a:cubicBezTo>
                    <a:cubicBezTo>
                      <a:pt x="43" y="68"/>
                      <a:pt x="43" y="68"/>
                      <a:pt x="43" y="68"/>
                    </a:cubicBezTo>
                    <a:cubicBezTo>
                      <a:pt x="48" y="68"/>
                      <a:pt x="51" y="66"/>
                      <a:pt x="55" y="65"/>
                    </a:cubicBezTo>
                    <a:cubicBezTo>
                      <a:pt x="59" y="69"/>
                      <a:pt x="59" y="69"/>
                      <a:pt x="59" y="69"/>
                    </a:cubicBezTo>
                    <a:cubicBezTo>
                      <a:pt x="68" y="60"/>
                      <a:pt x="68" y="60"/>
                      <a:pt x="68" y="60"/>
                    </a:cubicBezTo>
                    <a:cubicBezTo>
                      <a:pt x="64" y="54"/>
                      <a:pt x="64" y="54"/>
                      <a:pt x="64" y="54"/>
                    </a:cubicBezTo>
                    <a:cubicBezTo>
                      <a:pt x="66" y="52"/>
                      <a:pt x="67" y="49"/>
                      <a:pt x="68" y="44"/>
                    </a:cubicBezTo>
                    <a:lnTo>
                      <a:pt x="75" y="44"/>
                    </a:lnTo>
                    <a:close/>
                    <a:moveTo>
                      <a:pt x="37" y="57"/>
                    </a:moveTo>
                    <a:cubicBezTo>
                      <a:pt x="27" y="57"/>
                      <a:pt x="18" y="49"/>
                      <a:pt x="18" y="37"/>
                    </a:cubicBezTo>
                    <a:cubicBezTo>
                      <a:pt x="18" y="27"/>
                      <a:pt x="27" y="19"/>
                      <a:pt x="37" y="19"/>
                    </a:cubicBezTo>
                    <a:cubicBezTo>
                      <a:pt x="48" y="19"/>
                      <a:pt x="56" y="27"/>
                      <a:pt x="56" y="37"/>
                    </a:cubicBezTo>
                    <a:cubicBezTo>
                      <a:pt x="56" y="49"/>
                      <a:pt x="48" y="57"/>
                      <a:pt x="37" y="57"/>
                    </a:cubicBezTo>
                    <a:close/>
                  </a:path>
                </a:pathLst>
              </a:custGeom>
              <a:noFill/>
              <a:ln w="12700" cap="rnd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l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09" name="TextBox 108">
                <a:extLst>
                  <a:ext uri="{FF2B5EF4-FFF2-40B4-BE49-F238E27FC236}">
                    <a16:creationId xmlns:a16="http://schemas.microsoft.com/office/drawing/2014/main" id="{A4F92ED6-3C90-6D0F-7E6C-40403E331674}"/>
                  </a:ext>
                </a:extLst>
              </p:cNvPr>
              <p:cNvSpPr txBox="1"/>
              <p:nvPr/>
            </p:nvSpPr>
            <p:spPr>
              <a:xfrm>
                <a:off x="2164815" y="5069005"/>
                <a:ext cx="342519" cy="3007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400" b="0" i="0" u="none" strike="noStrike" kern="1200" cap="none" spc="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API</a:t>
                </a:r>
                <a:endParaRPr kumimoji="0" lang="ko-KR" altLang="en-US" sz="1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110" name="TextBox 109">
                <a:extLst>
                  <a:ext uri="{FF2B5EF4-FFF2-40B4-BE49-F238E27FC236}">
                    <a16:creationId xmlns:a16="http://schemas.microsoft.com/office/drawing/2014/main" id="{00A82B04-4174-1EE5-7DDA-1F3B53FAD7BD}"/>
                  </a:ext>
                </a:extLst>
              </p:cNvPr>
              <p:cNvSpPr txBox="1"/>
              <p:nvPr/>
            </p:nvSpPr>
            <p:spPr>
              <a:xfrm>
                <a:off x="2072455" y="5501585"/>
                <a:ext cx="536151" cy="1857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noAutofit/>
              </a:bodyPr>
              <a:lstStyle>
                <a:defPPr>
                  <a:defRPr lang="ko-KR"/>
                </a:defPPr>
                <a:lvl1pPr algn="ctr">
                  <a:defRPr sz="1400">
                    <a:solidFill>
                      <a:schemeClr val="bg1">
                        <a:lumMod val="50000"/>
                      </a:schemeClr>
                    </a:solidFill>
                    <a:latin typeface="+mn-ea"/>
                  </a:defRPr>
                </a:lvl1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API</a:t>
                </a:r>
              </a:p>
            </p:txBody>
          </p:sp>
        </p:grpSp>
        <p:grpSp>
          <p:nvGrpSpPr>
            <p:cNvPr id="62" name="그룹 61">
              <a:extLst>
                <a:ext uri="{FF2B5EF4-FFF2-40B4-BE49-F238E27FC236}">
                  <a16:creationId xmlns:a16="http://schemas.microsoft.com/office/drawing/2014/main" id="{AD42A7FF-0667-1EB0-20E7-42037D237059}"/>
                </a:ext>
              </a:extLst>
            </p:cNvPr>
            <p:cNvGrpSpPr/>
            <p:nvPr/>
          </p:nvGrpSpPr>
          <p:grpSpPr>
            <a:xfrm>
              <a:off x="2068910" y="5257700"/>
              <a:ext cx="686788" cy="793201"/>
              <a:chOff x="2966455" y="4894164"/>
              <a:chExt cx="686788" cy="793201"/>
            </a:xfrm>
          </p:grpSpPr>
          <p:sp>
            <p:nvSpPr>
              <p:cNvPr id="98" name="타원 97">
                <a:extLst>
                  <a:ext uri="{FF2B5EF4-FFF2-40B4-BE49-F238E27FC236}">
                    <a16:creationId xmlns:a16="http://schemas.microsoft.com/office/drawing/2014/main" id="{8F3BB93D-6584-2892-4860-64F2072CD71D}"/>
                  </a:ext>
                </a:extLst>
              </p:cNvPr>
              <p:cNvSpPr/>
              <p:nvPr/>
            </p:nvSpPr>
            <p:spPr>
              <a:xfrm>
                <a:off x="3040954" y="4894164"/>
                <a:ext cx="540000" cy="539640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9" name="TextBox 98">
                <a:extLst>
                  <a:ext uri="{FF2B5EF4-FFF2-40B4-BE49-F238E27FC236}">
                    <a16:creationId xmlns:a16="http://schemas.microsoft.com/office/drawing/2014/main" id="{39E39101-DEAB-5D8F-EA61-73FF2227C245}"/>
                  </a:ext>
                </a:extLst>
              </p:cNvPr>
              <p:cNvSpPr txBox="1"/>
              <p:nvPr/>
            </p:nvSpPr>
            <p:spPr>
              <a:xfrm>
                <a:off x="2966455" y="5501585"/>
                <a:ext cx="686788" cy="1857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noAutofit/>
              </a:bodyPr>
              <a:lstStyle>
                <a:defPPr>
                  <a:defRPr lang="ko-KR"/>
                </a:defPPr>
                <a:lvl1pPr algn="ctr">
                  <a:defRPr sz="1400">
                    <a:solidFill>
                      <a:schemeClr val="bg1">
                        <a:lumMod val="50000"/>
                      </a:schemeClr>
                    </a:solidFill>
                    <a:latin typeface="+mn-ea"/>
                  </a:defRPr>
                </a:lvl1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Database</a:t>
                </a:r>
              </a:p>
            </p:txBody>
          </p:sp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1EE0C694-EFB8-3357-230C-F181DD737A1E}"/>
                  </a:ext>
                </a:extLst>
              </p:cNvPr>
              <p:cNvGrpSpPr/>
              <p:nvPr/>
            </p:nvGrpSpPr>
            <p:grpSpPr>
              <a:xfrm>
                <a:off x="3148856" y="5015439"/>
                <a:ext cx="311401" cy="336762"/>
                <a:chOff x="2037325" y="5048794"/>
                <a:chExt cx="330168" cy="296466"/>
              </a:xfrm>
            </p:grpSpPr>
            <p:grpSp>
              <p:nvGrpSpPr>
                <p:cNvPr id="101" name="그룹 100">
                  <a:extLst>
                    <a:ext uri="{FF2B5EF4-FFF2-40B4-BE49-F238E27FC236}">
                      <a16:creationId xmlns:a16="http://schemas.microsoft.com/office/drawing/2014/main" id="{DA7B6655-704A-C6F9-4CB2-7A157E112097}"/>
                    </a:ext>
                  </a:extLst>
                </p:cNvPr>
                <p:cNvGrpSpPr/>
                <p:nvPr/>
              </p:nvGrpSpPr>
              <p:grpSpPr>
                <a:xfrm>
                  <a:off x="2037325" y="5048794"/>
                  <a:ext cx="330168" cy="296466"/>
                  <a:chOff x="4557057" y="4862527"/>
                  <a:chExt cx="330168" cy="296466"/>
                </a:xfrm>
              </p:grpSpPr>
              <p:sp>
                <p:nvSpPr>
                  <p:cNvPr id="103" name="Freeform 54">
                    <a:extLst>
                      <a:ext uri="{FF2B5EF4-FFF2-40B4-BE49-F238E27FC236}">
                        <a16:creationId xmlns:a16="http://schemas.microsoft.com/office/drawing/2014/main" id="{EFD400B9-7AC5-80D1-98CD-36D27B080F5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557057" y="4862527"/>
                    <a:ext cx="251548" cy="250425"/>
                  </a:xfrm>
                  <a:custGeom>
                    <a:avLst/>
                    <a:gdLst>
                      <a:gd name="T0" fmla="*/ 124 w 224"/>
                      <a:gd name="T1" fmla="*/ 223 h 223"/>
                      <a:gd name="T2" fmla="*/ 0 w 224"/>
                      <a:gd name="T3" fmla="*/ 223 h 223"/>
                      <a:gd name="T4" fmla="*/ 0 w 224"/>
                      <a:gd name="T5" fmla="*/ 0 h 223"/>
                      <a:gd name="T6" fmla="*/ 224 w 224"/>
                      <a:gd name="T7" fmla="*/ 0 h 223"/>
                      <a:gd name="T8" fmla="*/ 224 w 224"/>
                      <a:gd name="T9" fmla="*/ 102 h 22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224" h="223">
                        <a:moveTo>
                          <a:pt x="124" y="223"/>
                        </a:moveTo>
                        <a:lnTo>
                          <a:pt x="0" y="223"/>
                        </a:lnTo>
                        <a:lnTo>
                          <a:pt x="0" y="0"/>
                        </a:lnTo>
                        <a:lnTo>
                          <a:pt x="224" y="0"/>
                        </a:lnTo>
                        <a:lnTo>
                          <a:pt x="224" y="102"/>
                        </a:lnTo>
                      </a:path>
                    </a:pathLst>
                  </a:custGeom>
                  <a:noFill/>
                  <a:ln w="12700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04" name="Freeform 55">
                    <a:extLst>
                      <a:ext uri="{FF2B5EF4-FFF2-40B4-BE49-F238E27FC236}">
                        <a16:creationId xmlns:a16="http://schemas.microsoft.com/office/drawing/2014/main" id="{A8DE57EC-61DD-C330-4FC4-ECC4825AEA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27756" y="5081508"/>
                    <a:ext cx="159464" cy="22460"/>
                  </a:xfrm>
                  <a:custGeom>
                    <a:avLst/>
                    <a:gdLst>
                      <a:gd name="T0" fmla="*/ 95 w 95"/>
                      <a:gd name="T1" fmla="*/ 0 h 13"/>
                      <a:gd name="T2" fmla="*/ 48 w 95"/>
                      <a:gd name="T3" fmla="*/ 13 h 13"/>
                      <a:gd name="T4" fmla="*/ 0 w 95"/>
                      <a:gd name="T5" fmla="*/ 0 h 13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</a:cxnLst>
                    <a:rect l="0" t="0" r="r" b="b"/>
                    <a:pathLst>
                      <a:path w="95" h="13">
                        <a:moveTo>
                          <a:pt x="95" y="0"/>
                        </a:moveTo>
                        <a:cubicBezTo>
                          <a:pt x="95" y="7"/>
                          <a:pt x="74" y="13"/>
                          <a:pt x="48" y="13"/>
                        </a:cubicBezTo>
                        <a:cubicBezTo>
                          <a:pt x="22" y="13"/>
                          <a:pt x="0" y="7"/>
                          <a:pt x="0" y="0"/>
                        </a:cubicBezTo>
                      </a:path>
                    </a:pathLst>
                  </a:custGeom>
                  <a:noFill/>
                  <a:ln w="12700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05" name="Freeform 56">
                    <a:extLst>
                      <a:ext uri="{FF2B5EF4-FFF2-40B4-BE49-F238E27FC236}">
                        <a16:creationId xmlns:a16="http://schemas.microsoft.com/office/drawing/2014/main" id="{81BC0291-D37D-3AE1-CC24-689AC23A35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4727752" y="5028727"/>
                    <a:ext cx="159464" cy="130266"/>
                  </a:xfrm>
                  <a:custGeom>
                    <a:avLst/>
                    <a:gdLst>
                      <a:gd name="T0" fmla="*/ 95 w 95"/>
                      <a:gd name="T1" fmla="*/ 0 h 78"/>
                      <a:gd name="T2" fmla="*/ 95 w 95"/>
                      <a:gd name="T3" fmla="*/ 65 h 78"/>
                      <a:gd name="T4" fmla="*/ 48 w 95"/>
                      <a:gd name="T5" fmla="*/ 78 h 78"/>
                      <a:gd name="T6" fmla="*/ 0 w 95"/>
                      <a:gd name="T7" fmla="*/ 65 h 78"/>
                      <a:gd name="T8" fmla="*/ 0 w 95"/>
                      <a:gd name="T9" fmla="*/ 0 h 78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</a:cxnLst>
                    <a:rect l="0" t="0" r="r" b="b"/>
                    <a:pathLst>
                      <a:path w="95" h="78">
                        <a:moveTo>
                          <a:pt x="95" y="0"/>
                        </a:moveTo>
                        <a:cubicBezTo>
                          <a:pt x="95" y="65"/>
                          <a:pt x="95" y="65"/>
                          <a:pt x="95" y="65"/>
                        </a:cubicBezTo>
                        <a:cubicBezTo>
                          <a:pt x="95" y="72"/>
                          <a:pt x="74" y="78"/>
                          <a:pt x="48" y="78"/>
                        </a:cubicBezTo>
                        <a:cubicBezTo>
                          <a:pt x="22" y="78"/>
                          <a:pt x="0" y="72"/>
                          <a:pt x="0" y="65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</a:path>
                    </a:pathLst>
                  </a:custGeom>
                  <a:noFill/>
                  <a:ln w="12700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106" name="Oval 57">
                    <a:extLst>
                      <a:ext uri="{FF2B5EF4-FFF2-40B4-BE49-F238E27FC236}">
                        <a16:creationId xmlns:a16="http://schemas.microsoft.com/office/drawing/2014/main" id="{6FB0AE7A-11F5-DDAF-E328-BDEF06659F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727761" y="5005144"/>
                    <a:ext cx="159464" cy="46043"/>
                  </a:xfrm>
                  <a:prstGeom prst="ellipse">
                    <a:avLst/>
                  </a:prstGeom>
                  <a:noFill/>
                  <a:ln w="12700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  <p:sp>
              <p:nvSpPr>
                <p:cNvPr id="102" name="Rectangle 58">
                  <a:extLst>
                    <a:ext uri="{FF2B5EF4-FFF2-40B4-BE49-F238E27FC236}">
                      <a16:creationId xmlns:a16="http://schemas.microsoft.com/office/drawing/2014/main" id="{C94C2E48-81E4-DDD8-8D5D-6B9F7C9968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071019" y="5073497"/>
                  <a:ext cx="185092" cy="132387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none" lIns="0" tIns="0" rIns="0" bIns="0" numCol="1" anchor="t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ko-KR" altLang="ko-KR" sz="700" b="1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rPr>
                    <a:t>DB</a:t>
                  </a:r>
                </a:p>
              </p:txBody>
            </p:sp>
          </p:grpSp>
        </p:grpSp>
        <p:grpSp>
          <p:nvGrpSpPr>
            <p:cNvPr id="63" name="그룹 62">
              <a:extLst>
                <a:ext uri="{FF2B5EF4-FFF2-40B4-BE49-F238E27FC236}">
                  <a16:creationId xmlns:a16="http://schemas.microsoft.com/office/drawing/2014/main" id="{0ED3FAE9-15A0-154E-AF94-807DA0DB0841}"/>
                </a:ext>
              </a:extLst>
            </p:cNvPr>
            <p:cNvGrpSpPr/>
            <p:nvPr/>
          </p:nvGrpSpPr>
          <p:grpSpPr>
            <a:xfrm>
              <a:off x="4059625" y="5257700"/>
              <a:ext cx="540000" cy="793201"/>
              <a:chOff x="4325923" y="4894164"/>
              <a:chExt cx="540000" cy="793201"/>
            </a:xfrm>
          </p:grpSpPr>
          <p:sp>
            <p:nvSpPr>
              <p:cNvPr id="89" name="타원 88">
                <a:extLst>
                  <a:ext uri="{FF2B5EF4-FFF2-40B4-BE49-F238E27FC236}">
                    <a16:creationId xmlns:a16="http://schemas.microsoft.com/office/drawing/2014/main" id="{7BA5CFAA-3483-CC9B-34D6-E20683D089A0}"/>
                  </a:ext>
                </a:extLst>
              </p:cNvPr>
              <p:cNvSpPr/>
              <p:nvPr/>
            </p:nvSpPr>
            <p:spPr>
              <a:xfrm>
                <a:off x="4325923" y="4894164"/>
                <a:ext cx="540000" cy="539640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9633BB25-C2F2-7A71-597A-272A4D0A4EC0}"/>
                  </a:ext>
                </a:extLst>
              </p:cNvPr>
              <p:cNvSpPr txBox="1"/>
              <p:nvPr/>
            </p:nvSpPr>
            <p:spPr>
              <a:xfrm>
                <a:off x="4329305" y="5501585"/>
                <a:ext cx="536151" cy="1857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noAutofit/>
              </a:bodyPr>
              <a:lstStyle>
                <a:defPPr>
                  <a:defRPr lang="ko-KR"/>
                </a:defPPr>
                <a:lvl1pPr algn="ctr">
                  <a:defRPr sz="1400">
                    <a:solidFill>
                      <a:schemeClr val="bg1">
                        <a:lumMod val="50000"/>
                      </a:schemeClr>
                    </a:solidFill>
                    <a:latin typeface="+mn-ea"/>
                  </a:defRPr>
                </a:lvl1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Plug-in</a:t>
                </a:r>
              </a:p>
            </p:txBody>
          </p:sp>
          <p:grpSp>
            <p:nvGrpSpPr>
              <p:cNvPr id="91" name="그룹 90">
                <a:extLst>
                  <a:ext uri="{FF2B5EF4-FFF2-40B4-BE49-F238E27FC236}">
                    <a16:creationId xmlns:a16="http://schemas.microsoft.com/office/drawing/2014/main" id="{F3F3EB17-19E4-A77C-4BDB-6980E211B990}"/>
                  </a:ext>
                </a:extLst>
              </p:cNvPr>
              <p:cNvGrpSpPr/>
              <p:nvPr/>
            </p:nvGrpSpPr>
            <p:grpSpPr>
              <a:xfrm>
                <a:off x="4418964" y="4991755"/>
                <a:ext cx="337915" cy="378103"/>
                <a:chOff x="3747818" y="3073194"/>
                <a:chExt cx="337915" cy="378103"/>
              </a:xfrm>
            </p:grpSpPr>
            <p:sp>
              <p:nvSpPr>
                <p:cNvPr id="92" name="순서도: 지연 91">
                  <a:extLst>
                    <a:ext uri="{FF2B5EF4-FFF2-40B4-BE49-F238E27FC236}">
                      <a16:creationId xmlns:a16="http://schemas.microsoft.com/office/drawing/2014/main" id="{30D96624-0AD5-426C-D9F8-18F349A84B9F}"/>
                    </a:ext>
                  </a:extLst>
                </p:cNvPr>
                <p:cNvSpPr/>
                <p:nvPr/>
              </p:nvSpPr>
              <p:spPr>
                <a:xfrm rot="5400000">
                  <a:off x="3799724" y="3130943"/>
                  <a:ext cx="234102" cy="262605"/>
                </a:xfrm>
                <a:prstGeom prst="flowChartDelay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93" name="직선 연결선 92">
                  <a:extLst>
                    <a:ext uri="{FF2B5EF4-FFF2-40B4-BE49-F238E27FC236}">
                      <a16:creationId xmlns:a16="http://schemas.microsoft.com/office/drawing/2014/main" id="{AB28A831-1BB4-20F1-0BA7-7EADCF5D806B}"/>
                    </a:ext>
                  </a:extLst>
                </p:cNvPr>
                <p:cNvCxnSpPr/>
                <p:nvPr/>
              </p:nvCxnSpPr>
              <p:spPr>
                <a:xfrm>
                  <a:off x="3847041" y="3073194"/>
                  <a:ext cx="943" cy="72000"/>
                </a:xfrm>
                <a:prstGeom prst="lin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  <p:cxnSp>
              <p:nvCxnSpPr>
                <p:cNvPr id="94" name="직선 연결선 93">
                  <a:extLst>
                    <a:ext uri="{FF2B5EF4-FFF2-40B4-BE49-F238E27FC236}">
                      <a16:creationId xmlns:a16="http://schemas.microsoft.com/office/drawing/2014/main" id="{C57F3251-521C-EE29-4423-F7A1BA9E01ED}"/>
                    </a:ext>
                  </a:extLst>
                </p:cNvPr>
                <p:cNvCxnSpPr/>
                <p:nvPr/>
              </p:nvCxnSpPr>
              <p:spPr>
                <a:xfrm>
                  <a:off x="3989364" y="3073194"/>
                  <a:ext cx="943" cy="72000"/>
                </a:xfrm>
                <a:prstGeom prst="lin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  <p:cxnSp>
              <p:nvCxnSpPr>
                <p:cNvPr id="95" name="직선 연결선 94">
                  <a:extLst>
                    <a:ext uri="{FF2B5EF4-FFF2-40B4-BE49-F238E27FC236}">
                      <a16:creationId xmlns:a16="http://schemas.microsoft.com/office/drawing/2014/main" id="{E62B7F64-E660-A98C-5020-AB13B3312D93}"/>
                    </a:ext>
                  </a:extLst>
                </p:cNvPr>
                <p:cNvCxnSpPr/>
                <p:nvPr/>
              </p:nvCxnSpPr>
              <p:spPr>
                <a:xfrm>
                  <a:off x="3915832" y="3379297"/>
                  <a:ext cx="943" cy="72000"/>
                </a:xfrm>
                <a:prstGeom prst="lin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  <p:cxnSp>
              <p:nvCxnSpPr>
                <p:cNvPr id="96" name="직선 연결선 95">
                  <a:extLst>
                    <a:ext uri="{FF2B5EF4-FFF2-40B4-BE49-F238E27FC236}">
                      <a16:creationId xmlns:a16="http://schemas.microsoft.com/office/drawing/2014/main" id="{0E6AAAEE-F916-618D-744B-06151970CC64}"/>
                    </a:ext>
                  </a:extLst>
                </p:cNvPr>
                <p:cNvCxnSpPr/>
                <p:nvPr/>
              </p:nvCxnSpPr>
              <p:spPr>
                <a:xfrm flipH="1">
                  <a:off x="3747818" y="3145194"/>
                  <a:ext cx="337915" cy="600"/>
                </a:xfrm>
                <a:prstGeom prst="line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cxnSp>
            <p:sp>
              <p:nvSpPr>
                <p:cNvPr id="97" name="순서도: 연결자 96">
                  <a:extLst>
                    <a:ext uri="{FF2B5EF4-FFF2-40B4-BE49-F238E27FC236}">
                      <a16:creationId xmlns:a16="http://schemas.microsoft.com/office/drawing/2014/main" id="{0EA66F62-E795-C365-21FE-1B1720C9173C}"/>
                    </a:ext>
                  </a:extLst>
                </p:cNvPr>
                <p:cNvSpPr/>
                <p:nvPr/>
              </p:nvSpPr>
              <p:spPr>
                <a:xfrm>
                  <a:off x="3885801" y="3241926"/>
                  <a:ext cx="60062" cy="66424"/>
                </a:xfrm>
                <a:prstGeom prst="flowChartConnector">
                  <a:avLst/>
                </a:prstGeom>
                <a:noFill/>
                <a:ln w="12700" cap="rnd">
                  <a:solidFill>
                    <a:schemeClr val="bg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</p:grpSp>
        </p:grpSp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A69A892A-5C5F-226C-91AA-E42F517C805C}"/>
                </a:ext>
              </a:extLst>
            </p:cNvPr>
            <p:cNvGrpSpPr/>
            <p:nvPr/>
          </p:nvGrpSpPr>
          <p:grpSpPr>
            <a:xfrm>
              <a:off x="4936290" y="5257700"/>
              <a:ext cx="544256" cy="793201"/>
              <a:chOff x="4988635" y="4894164"/>
              <a:chExt cx="544256" cy="793201"/>
            </a:xfrm>
          </p:grpSpPr>
          <p:sp>
            <p:nvSpPr>
              <p:cNvPr id="80" name="타원 79">
                <a:extLst>
                  <a:ext uri="{FF2B5EF4-FFF2-40B4-BE49-F238E27FC236}">
                    <a16:creationId xmlns:a16="http://schemas.microsoft.com/office/drawing/2014/main" id="{93EBFE2C-9122-5A4A-71CB-F8ECE507B129}"/>
                  </a:ext>
                </a:extLst>
              </p:cNvPr>
              <p:cNvSpPr/>
              <p:nvPr/>
            </p:nvSpPr>
            <p:spPr>
              <a:xfrm>
                <a:off x="4992891" y="4894164"/>
                <a:ext cx="540000" cy="539640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12E4AD4-B9C9-CD6C-57B6-BE9750F78280}"/>
                  </a:ext>
                </a:extLst>
              </p:cNvPr>
              <p:cNvSpPr txBox="1"/>
              <p:nvPr/>
            </p:nvSpPr>
            <p:spPr>
              <a:xfrm>
                <a:off x="4988635" y="5501585"/>
                <a:ext cx="536151" cy="1857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noAutofit/>
              </a:bodyPr>
              <a:lstStyle>
                <a:defPPr>
                  <a:defRPr lang="ko-KR"/>
                </a:defPPr>
                <a:lvl1pPr algn="ctr">
                  <a:defRPr sz="1400">
                    <a:solidFill>
                      <a:schemeClr val="bg1">
                        <a:lumMod val="50000"/>
                      </a:schemeClr>
                    </a:solidFill>
                    <a:latin typeface="+mn-ea"/>
                  </a:defRPr>
                </a:lvl1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Search</a:t>
                </a:r>
              </a:p>
            </p:txBody>
          </p:sp>
          <p:grpSp>
            <p:nvGrpSpPr>
              <p:cNvPr id="82" name="그룹 81">
                <a:extLst>
                  <a:ext uri="{FF2B5EF4-FFF2-40B4-BE49-F238E27FC236}">
                    <a16:creationId xmlns:a16="http://schemas.microsoft.com/office/drawing/2014/main" id="{B2193324-0E68-192D-FB6F-F41569983F4D}"/>
                  </a:ext>
                </a:extLst>
              </p:cNvPr>
              <p:cNvGrpSpPr/>
              <p:nvPr/>
            </p:nvGrpSpPr>
            <p:grpSpPr>
              <a:xfrm>
                <a:off x="5049166" y="5010932"/>
                <a:ext cx="433547" cy="283946"/>
                <a:chOff x="10630007" y="5261718"/>
                <a:chExt cx="495791" cy="319096"/>
              </a:xfrm>
            </p:grpSpPr>
            <p:sp>
              <p:nvSpPr>
                <p:cNvPr id="83" name="순서도: 연결자 82">
                  <a:extLst>
                    <a:ext uri="{FF2B5EF4-FFF2-40B4-BE49-F238E27FC236}">
                      <a16:creationId xmlns:a16="http://schemas.microsoft.com/office/drawing/2014/main" id="{3AB471D0-10A4-8CF1-C14A-67C5F27B417A}"/>
                    </a:ext>
                  </a:extLst>
                </p:cNvPr>
                <p:cNvSpPr/>
                <p:nvPr/>
              </p:nvSpPr>
              <p:spPr>
                <a:xfrm>
                  <a:off x="10809421" y="5334744"/>
                  <a:ext cx="130042" cy="134161"/>
                </a:xfrm>
                <a:prstGeom prst="flowChartConnector">
                  <a:avLst/>
                </a:prstGeom>
                <a:noFill/>
                <a:ln w="12700" cap="sq">
                  <a:solidFill>
                    <a:schemeClr val="bg1"/>
                  </a:solidFill>
                  <a:prstDash val="solid"/>
                  <a:round/>
                  <a:headEnd type="arrow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1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2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endParaRPr>
                </a:p>
              </p:txBody>
            </p:sp>
            <p:cxnSp>
              <p:nvCxnSpPr>
                <p:cNvPr id="84" name="직선 연결선 83">
                  <a:extLst>
                    <a:ext uri="{FF2B5EF4-FFF2-40B4-BE49-F238E27FC236}">
                      <a16:creationId xmlns:a16="http://schemas.microsoft.com/office/drawing/2014/main" id="{E1C195AB-5E5B-3A0F-F394-60DC14D37B5F}"/>
                    </a:ext>
                  </a:extLst>
                </p:cNvPr>
                <p:cNvCxnSpPr>
                  <a:stCxn id="83" idx="5"/>
                </p:cNvCxnSpPr>
                <p:nvPr/>
              </p:nvCxnSpPr>
              <p:spPr>
                <a:xfrm>
                  <a:off x="10920419" y="5449258"/>
                  <a:ext cx="52047" cy="53493"/>
                </a:xfrm>
                <a:prstGeom prst="line">
                  <a:avLst/>
                </a:prstGeom>
                <a:ln w="12700">
                  <a:solidFill>
                    <a:srgbClr val="FFFFFF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15C7C8E8-F0D9-2C64-AF04-519475119E5D}"/>
                    </a:ext>
                  </a:extLst>
                </p:cNvPr>
                <p:cNvGrpSpPr/>
                <p:nvPr/>
              </p:nvGrpSpPr>
              <p:grpSpPr>
                <a:xfrm>
                  <a:off x="10630007" y="5261718"/>
                  <a:ext cx="495791" cy="319096"/>
                  <a:chOff x="12500099" y="2447861"/>
                  <a:chExt cx="1017833" cy="655087"/>
                </a:xfrm>
              </p:grpSpPr>
              <p:sp>
                <p:nvSpPr>
                  <p:cNvPr id="86" name="Freeform 330">
                    <a:extLst>
                      <a:ext uri="{FF2B5EF4-FFF2-40B4-BE49-F238E27FC236}">
                        <a16:creationId xmlns:a16="http://schemas.microsoft.com/office/drawing/2014/main" id="{4828806F-09E6-4B17-9A0D-376F139C7F0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608770" y="2447861"/>
                    <a:ext cx="803553" cy="555599"/>
                  </a:xfrm>
                  <a:custGeom>
                    <a:avLst/>
                    <a:gdLst>
                      <a:gd name="T0" fmla="*/ 252 w 252"/>
                      <a:gd name="T1" fmla="*/ 172 h 172"/>
                      <a:gd name="T2" fmla="*/ 252 w 252"/>
                      <a:gd name="T3" fmla="*/ 9 h 172"/>
                      <a:gd name="T4" fmla="*/ 242 w 252"/>
                      <a:gd name="T5" fmla="*/ 0 h 172"/>
                      <a:gd name="T6" fmla="*/ 9 w 252"/>
                      <a:gd name="T7" fmla="*/ 0 h 172"/>
                      <a:gd name="T8" fmla="*/ 0 w 252"/>
                      <a:gd name="T9" fmla="*/ 9 h 172"/>
                      <a:gd name="T10" fmla="*/ 0 w 252"/>
                      <a:gd name="T11" fmla="*/ 172 h 172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</a:cxnLst>
                    <a:rect l="0" t="0" r="r" b="b"/>
                    <a:pathLst>
                      <a:path w="252" h="172">
                        <a:moveTo>
                          <a:pt x="252" y="172"/>
                        </a:moveTo>
                        <a:cubicBezTo>
                          <a:pt x="252" y="9"/>
                          <a:pt x="252" y="9"/>
                          <a:pt x="252" y="9"/>
                        </a:cubicBezTo>
                        <a:cubicBezTo>
                          <a:pt x="252" y="3"/>
                          <a:pt x="248" y="0"/>
                          <a:pt x="242" y="0"/>
                        </a:cubicBezTo>
                        <a:cubicBezTo>
                          <a:pt x="9" y="0"/>
                          <a:pt x="9" y="0"/>
                          <a:pt x="9" y="0"/>
                        </a:cubicBezTo>
                        <a:cubicBezTo>
                          <a:pt x="4" y="0"/>
                          <a:pt x="0" y="3"/>
                          <a:pt x="0" y="9"/>
                        </a:cubicBezTo>
                        <a:cubicBezTo>
                          <a:pt x="0" y="172"/>
                          <a:pt x="0" y="172"/>
                          <a:pt x="0" y="172"/>
                        </a:cubicBezTo>
                      </a:path>
                    </a:pathLst>
                  </a:custGeom>
                  <a:noFill/>
                  <a:ln w="9525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87" name="Freeform 331">
                    <a:extLst>
                      <a:ext uri="{FF2B5EF4-FFF2-40B4-BE49-F238E27FC236}">
                        <a16:creationId xmlns:a16="http://schemas.microsoft.com/office/drawing/2014/main" id="{E7C16AA1-BE3C-9E92-371D-F1B3E7A6797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500099" y="3006522"/>
                    <a:ext cx="1017833" cy="96426"/>
                  </a:xfrm>
                  <a:custGeom>
                    <a:avLst/>
                    <a:gdLst>
                      <a:gd name="T0" fmla="*/ 185 w 319"/>
                      <a:gd name="T1" fmla="*/ 0 h 30"/>
                      <a:gd name="T2" fmla="*/ 185 w 319"/>
                      <a:gd name="T3" fmla="*/ 10 h 30"/>
                      <a:gd name="T4" fmla="*/ 159 w 319"/>
                      <a:gd name="T5" fmla="*/ 10 h 30"/>
                      <a:gd name="T6" fmla="*/ 135 w 319"/>
                      <a:gd name="T7" fmla="*/ 10 h 30"/>
                      <a:gd name="T8" fmla="*/ 135 w 319"/>
                      <a:gd name="T9" fmla="*/ 0 h 30"/>
                      <a:gd name="T10" fmla="*/ 0 w 319"/>
                      <a:gd name="T11" fmla="*/ 0 h 30"/>
                      <a:gd name="T12" fmla="*/ 0 w 319"/>
                      <a:gd name="T13" fmla="*/ 2 h 30"/>
                      <a:gd name="T14" fmla="*/ 27 w 319"/>
                      <a:gd name="T15" fmla="*/ 30 h 30"/>
                      <a:gd name="T16" fmla="*/ 152 w 319"/>
                      <a:gd name="T17" fmla="*/ 30 h 30"/>
                      <a:gd name="T18" fmla="*/ 167 w 319"/>
                      <a:gd name="T19" fmla="*/ 30 h 30"/>
                      <a:gd name="T20" fmla="*/ 291 w 319"/>
                      <a:gd name="T21" fmla="*/ 30 h 30"/>
                      <a:gd name="T22" fmla="*/ 319 w 319"/>
                      <a:gd name="T23" fmla="*/ 2 h 30"/>
                      <a:gd name="T24" fmla="*/ 319 w 319"/>
                      <a:gd name="T25" fmla="*/ 0 h 30"/>
                      <a:gd name="T26" fmla="*/ 185 w 319"/>
                      <a:gd name="T27" fmla="*/ 0 h 3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  <a:cxn ang="0">
                        <a:pos x="T8" y="T9"/>
                      </a:cxn>
                      <a:cxn ang="0">
                        <a:pos x="T10" y="T11"/>
                      </a:cxn>
                      <a:cxn ang="0">
                        <a:pos x="T12" y="T13"/>
                      </a:cxn>
                      <a:cxn ang="0">
                        <a:pos x="T14" y="T15"/>
                      </a:cxn>
                      <a:cxn ang="0">
                        <a:pos x="T16" y="T17"/>
                      </a:cxn>
                      <a:cxn ang="0">
                        <a:pos x="T18" y="T19"/>
                      </a:cxn>
                      <a:cxn ang="0">
                        <a:pos x="T20" y="T21"/>
                      </a:cxn>
                      <a:cxn ang="0">
                        <a:pos x="T22" y="T23"/>
                      </a:cxn>
                      <a:cxn ang="0">
                        <a:pos x="T24" y="T25"/>
                      </a:cxn>
                      <a:cxn ang="0">
                        <a:pos x="T26" y="T27"/>
                      </a:cxn>
                    </a:cxnLst>
                    <a:rect l="0" t="0" r="r" b="b"/>
                    <a:pathLst>
                      <a:path w="319" h="30">
                        <a:moveTo>
                          <a:pt x="185" y="0"/>
                        </a:moveTo>
                        <a:cubicBezTo>
                          <a:pt x="185" y="10"/>
                          <a:pt x="185" y="10"/>
                          <a:pt x="185" y="10"/>
                        </a:cubicBezTo>
                        <a:cubicBezTo>
                          <a:pt x="159" y="10"/>
                          <a:pt x="159" y="10"/>
                          <a:pt x="159" y="10"/>
                        </a:cubicBezTo>
                        <a:cubicBezTo>
                          <a:pt x="135" y="10"/>
                          <a:pt x="135" y="10"/>
                          <a:pt x="135" y="10"/>
                        </a:cubicBezTo>
                        <a:cubicBezTo>
                          <a:pt x="135" y="0"/>
                          <a:pt x="135" y="0"/>
                          <a:pt x="135" y="0"/>
                        </a:cubicBezTo>
                        <a:cubicBezTo>
                          <a:pt x="0" y="0"/>
                          <a:pt x="0" y="0"/>
                          <a:pt x="0" y="0"/>
                        </a:cubicBezTo>
                        <a:cubicBezTo>
                          <a:pt x="0" y="2"/>
                          <a:pt x="0" y="2"/>
                          <a:pt x="0" y="2"/>
                        </a:cubicBezTo>
                        <a:cubicBezTo>
                          <a:pt x="0" y="18"/>
                          <a:pt x="12" y="30"/>
                          <a:pt x="27" y="30"/>
                        </a:cubicBezTo>
                        <a:cubicBezTo>
                          <a:pt x="152" y="30"/>
                          <a:pt x="152" y="30"/>
                          <a:pt x="152" y="30"/>
                        </a:cubicBezTo>
                        <a:cubicBezTo>
                          <a:pt x="167" y="30"/>
                          <a:pt x="167" y="30"/>
                          <a:pt x="167" y="30"/>
                        </a:cubicBezTo>
                        <a:cubicBezTo>
                          <a:pt x="291" y="30"/>
                          <a:pt x="291" y="30"/>
                          <a:pt x="291" y="30"/>
                        </a:cubicBezTo>
                        <a:cubicBezTo>
                          <a:pt x="307" y="30"/>
                          <a:pt x="319" y="18"/>
                          <a:pt x="319" y="2"/>
                        </a:cubicBezTo>
                        <a:cubicBezTo>
                          <a:pt x="319" y="0"/>
                          <a:pt x="319" y="0"/>
                          <a:pt x="319" y="0"/>
                        </a:cubicBezTo>
                        <a:lnTo>
                          <a:pt x="185" y="0"/>
                        </a:lnTo>
                        <a:close/>
                      </a:path>
                    </a:pathLst>
                  </a:custGeom>
                  <a:noFill/>
                  <a:ln w="9525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  <p:sp>
                <p:nvSpPr>
                  <p:cNvPr id="88" name="Freeform 332">
                    <a:extLst>
                      <a:ext uri="{FF2B5EF4-FFF2-40B4-BE49-F238E27FC236}">
                        <a16:creationId xmlns:a16="http://schemas.microsoft.com/office/drawing/2014/main" id="{0C71D3C9-D567-7C23-A790-369BEDA5EB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12676116" y="2516737"/>
                    <a:ext cx="665801" cy="489784"/>
                  </a:xfrm>
                  <a:custGeom>
                    <a:avLst/>
                    <a:gdLst>
                      <a:gd name="T0" fmla="*/ 0 w 435"/>
                      <a:gd name="T1" fmla="*/ 320 h 320"/>
                      <a:gd name="T2" fmla="*/ 0 w 435"/>
                      <a:gd name="T3" fmla="*/ 0 h 320"/>
                      <a:gd name="T4" fmla="*/ 435 w 435"/>
                      <a:gd name="T5" fmla="*/ 0 h 320"/>
                      <a:gd name="T6" fmla="*/ 435 w 435"/>
                      <a:gd name="T7" fmla="*/ 318 h 320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435" h="320">
                        <a:moveTo>
                          <a:pt x="0" y="320"/>
                        </a:moveTo>
                        <a:lnTo>
                          <a:pt x="0" y="0"/>
                        </a:lnTo>
                        <a:lnTo>
                          <a:pt x="435" y="0"/>
                        </a:lnTo>
                        <a:lnTo>
                          <a:pt x="435" y="318"/>
                        </a:lnTo>
                      </a:path>
                    </a:pathLst>
                  </a:custGeom>
                  <a:noFill/>
                  <a:ln w="9525" cap="rnd">
                    <a:solidFill>
                      <a:schemeClr val="bg1"/>
                    </a:solidFill>
                    <a:prstDash val="solid"/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auto" latinLnBrk="1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ko-KR" altLang="en-US" sz="1200" b="0" i="0" u="none" strike="noStrike" kern="1200" cap="none" spc="0" normalizeH="0" baseline="0" noProof="0" dirty="0">
                      <a:ln>
                        <a:solidFill>
                          <a:prstClr val="white">
                            <a:alpha val="0"/>
                          </a:prstClr>
                        </a:solidFill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맑은 고딕" panose="020B0503020000020004" pitchFamily="50" charset="-127"/>
                      <a:ea typeface="맑은 고딕" panose="020B0503020000020004" pitchFamily="50" charset="-127"/>
                      <a:cs typeface="+mn-cs"/>
                    </a:endParaRPr>
                  </a:p>
                </p:txBody>
              </p:sp>
            </p:grpSp>
          </p:grpSp>
        </p:grp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4C420F95-0A4E-C95A-02AD-0A4540414C38}"/>
                </a:ext>
              </a:extLst>
            </p:cNvPr>
            <p:cNvSpPr txBox="1"/>
            <p:nvPr/>
          </p:nvSpPr>
          <p:spPr>
            <a:xfrm>
              <a:off x="522367" y="5231671"/>
              <a:ext cx="822123" cy="320412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Autofit/>
            </a:bodyPr>
            <a:lstStyle>
              <a:defPPr>
                <a:defRPr lang="ko-KR"/>
              </a:defPPr>
              <a:lvl1pPr algn="ctr">
                <a:defRPr sz="1400">
                  <a:solidFill>
                    <a:schemeClr val="bg1">
                      <a:lumMod val="50000"/>
                    </a:schemeClr>
                  </a:solidFill>
                  <a:latin typeface="+mn-ea"/>
                </a:defRPr>
              </a:lvl1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Tools</a:t>
              </a:r>
            </a:p>
          </p:txBody>
        </p:sp>
        <p:cxnSp>
          <p:nvCxnSpPr>
            <p:cNvPr id="66" name="직선 화살표 연결선 65">
              <a:extLst>
                <a:ext uri="{FF2B5EF4-FFF2-40B4-BE49-F238E27FC236}">
                  <a16:creationId xmlns:a16="http://schemas.microsoft.com/office/drawing/2014/main" id="{5F780D1A-D8F7-797D-CAFF-B2E02D8AFC22}"/>
                </a:ext>
              </a:extLst>
            </p:cNvPr>
            <p:cNvCxnSpPr>
              <a:cxnSpLocks/>
            </p:cNvCxnSpPr>
            <p:nvPr/>
          </p:nvCxnSpPr>
          <p:spPr>
            <a:xfrm>
              <a:off x="4257504" y="4554167"/>
              <a:ext cx="0" cy="510010"/>
            </a:xfrm>
            <a:prstGeom prst="straightConnector1">
              <a:avLst/>
            </a:prstGeom>
            <a:ln>
              <a:solidFill>
                <a:srgbClr val="006DFF"/>
              </a:solidFill>
              <a:headEnd type="arrow" w="sm" len="sm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AB2A74DC-D335-934E-5235-B475773D2605}"/>
                </a:ext>
              </a:extLst>
            </p:cNvPr>
            <p:cNvSpPr txBox="1"/>
            <p:nvPr/>
          </p:nvSpPr>
          <p:spPr>
            <a:xfrm>
              <a:off x="624531" y="2092562"/>
              <a:ext cx="5201125" cy="54307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1" indent="0" algn="ctr" defTabSz="1038739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질문을 이해하여 사용자 대신</a:t>
              </a:r>
              <a:endParaRPr kumimoji="0" lang="en-US" altLang="ko-KR" sz="1200" b="0" i="0" u="none" strike="noStrike" kern="1200" cap="none" spc="0" normalizeH="0" baseline="0" noProof="0" dirty="0">
                <a:ln>
                  <a:solidFill>
                    <a:sysClr val="window" lastClr="FFFFFF">
                      <a:alpha val="0"/>
                    </a:sys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0" marR="0" lvl="1" indent="0" algn="ctr" defTabSz="1038739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srgbClr val="006D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의사결정 및 작업을 자율적으로 수행하는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solidFill>
                      <a:sysClr val="window" lastClr="FFFFFF">
                        <a:alpha val="0"/>
                      </a:sysClr>
                    </a:solidFill>
                  </a:ln>
                  <a:solidFill>
                    <a:srgbClr val="006DFF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Agent</a:t>
              </a:r>
            </a:p>
          </p:txBody>
        </p:sp>
        <p:sp>
          <p:nvSpPr>
            <p:cNvPr id="68" name="Rectangle 12">
              <a:extLst>
                <a:ext uri="{FF2B5EF4-FFF2-40B4-BE49-F238E27FC236}">
                  <a16:creationId xmlns:a16="http://schemas.microsoft.com/office/drawing/2014/main" id="{AEDCE928-A9D0-B8D2-57B5-85DA65BFB3EF}"/>
                </a:ext>
              </a:extLst>
            </p:cNvPr>
            <p:cNvSpPr/>
            <p:nvPr/>
          </p:nvSpPr>
          <p:spPr>
            <a:xfrm>
              <a:off x="4128297" y="4688903"/>
              <a:ext cx="1229221" cy="240539"/>
            </a:xfrm>
            <a:prstGeom prst="rect">
              <a:avLst/>
            </a:prstGeom>
            <a:noFill/>
          </p:spPr>
          <p:txBody>
            <a:bodyPr wrap="none" lIns="0" tIns="0" rIns="0" bIns="0" anchor="ctr" anchorCtr="0">
              <a:no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Tool Calling</a:t>
              </a:r>
            </a:p>
          </p:txBody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2E9713BB-1BF0-3B87-C3A0-B12DFE76E957}"/>
                </a:ext>
              </a:extLst>
            </p:cNvPr>
            <p:cNvGrpSpPr/>
            <p:nvPr/>
          </p:nvGrpSpPr>
          <p:grpSpPr>
            <a:xfrm>
              <a:off x="2872129" y="5257700"/>
              <a:ext cx="768852" cy="793201"/>
              <a:chOff x="2928355" y="4894164"/>
              <a:chExt cx="768852" cy="793201"/>
            </a:xfrm>
          </p:grpSpPr>
          <p:sp>
            <p:nvSpPr>
              <p:cNvPr id="78" name="타원 77">
                <a:extLst>
                  <a:ext uri="{FF2B5EF4-FFF2-40B4-BE49-F238E27FC236}">
                    <a16:creationId xmlns:a16="http://schemas.microsoft.com/office/drawing/2014/main" id="{FC47E08A-B588-08D5-BF92-228BED7BC4F2}"/>
                  </a:ext>
                </a:extLst>
              </p:cNvPr>
              <p:cNvSpPr/>
              <p:nvPr/>
            </p:nvSpPr>
            <p:spPr>
              <a:xfrm>
                <a:off x="3040954" y="4894164"/>
                <a:ext cx="540000" cy="539640"/>
              </a:xfrm>
              <a:prstGeom prst="ellipse">
                <a:avLst/>
              </a:prstGeom>
              <a:solidFill>
                <a:schemeClr val="tx1"/>
              </a:solidFill>
              <a:ln w="63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20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endParaRPr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5AC641BD-BE70-CA15-B9C7-03FFB34CC334}"/>
                  </a:ext>
                </a:extLst>
              </p:cNvPr>
              <p:cNvSpPr txBox="1"/>
              <p:nvPr/>
            </p:nvSpPr>
            <p:spPr>
              <a:xfrm>
                <a:off x="2928355" y="5501585"/>
                <a:ext cx="768852" cy="18578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 anchorCtr="0">
                <a:noAutofit/>
              </a:bodyPr>
              <a:lstStyle>
                <a:defPPr>
                  <a:defRPr lang="ko-KR"/>
                </a:defPPr>
                <a:lvl1pPr algn="ctr">
                  <a:defRPr sz="1400">
                    <a:solidFill>
                      <a:schemeClr val="bg1">
                        <a:lumMod val="50000"/>
                      </a:schemeClr>
                    </a:solidFill>
                    <a:latin typeface="+mn-ea"/>
                  </a:defRPr>
                </a:lvl1pPr>
              </a:lstStyle>
              <a:p>
                <a:pPr marL="0" marR="0" lvl="0" indent="0" algn="ctr" defTabSz="914400" rtl="0" eaLnBrk="1" fontAlgn="auto" latinLnBrk="1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ko-KR" sz="900" b="0" i="0" u="none" strike="noStrike" kern="1200" cap="none" spc="-30" normalizeH="0" baseline="0" noProof="0" dirty="0">
                    <a:ln>
                      <a:solidFill>
                        <a:prstClr val="white">
                          <a:alpha val="0"/>
                        </a:prstClr>
                      </a:solidFill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맑은 고딕" panose="020B0503020000020004" pitchFamily="50" charset="-127"/>
                    <a:ea typeface="맑은 고딕" panose="020B0503020000020004" pitchFamily="50" charset="-127"/>
                    <a:cs typeface="+mn-cs"/>
                  </a:rPr>
                  <a:t>Knowledge</a:t>
                </a:r>
              </a:p>
            </p:txBody>
          </p:sp>
        </p:grpSp>
        <p:sp>
          <p:nvSpPr>
            <p:cNvPr id="70" name="한쪽 모서리가 잘린 사각형 240">
              <a:extLst>
                <a:ext uri="{FF2B5EF4-FFF2-40B4-BE49-F238E27FC236}">
                  <a16:creationId xmlns:a16="http://schemas.microsoft.com/office/drawing/2014/main" id="{38D54A10-3463-7B56-DF21-69FE99983A00}"/>
                </a:ext>
              </a:extLst>
            </p:cNvPr>
            <p:cNvSpPr/>
            <p:nvPr/>
          </p:nvSpPr>
          <p:spPr>
            <a:xfrm>
              <a:off x="3139677" y="5385734"/>
              <a:ext cx="237503" cy="306228"/>
            </a:xfrm>
            <a:prstGeom prst="snip1Rect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71" name="직선 연결선 70">
              <a:extLst>
                <a:ext uri="{FF2B5EF4-FFF2-40B4-BE49-F238E27FC236}">
                  <a16:creationId xmlns:a16="http://schemas.microsoft.com/office/drawing/2014/main" id="{5FE4EBFC-775F-DC44-B73A-7E0A025B85F0}"/>
                </a:ext>
              </a:extLst>
            </p:cNvPr>
            <p:cNvCxnSpPr/>
            <p:nvPr/>
          </p:nvCxnSpPr>
          <p:spPr>
            <a:xfrm>
              <a:off x="3183774" y="5464943"/>
              <a:ext cx="145257" cy="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72" name="직선 연결선 71">
              <a:extLst>
                <a:ext uri="{FF2B5EF4-FFF2-40B4-BE49-F238E27FC236}">
                  <a16:creationId xmlns:a16="http://schemas.microsoft.com/office/drawing/2014/main" id="{71D4BD08-EB36-4CF7-5D7C-A6DC8FF4DD97}"/>
                </a:ext>
              </a:extLst>
            </p:cNvPr>
            <p:cNvCxnSpPr/>
            <p:nvPr/>
          </p:nvCxnSpPr>
          <p:spPr>
            <a:xfrm>
              <a:off x="3183774" y="5523609"/>
              <a:ext cx="145257" cy="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73" name="직선 연결선 72">
              <a:extLst>
                <a:ext uri="{FF2B5EF4-FFF2-40B4-BE49-F238E27FC236}">
                  <a16:creationId xmlns:a16="http://schemas.microsoft.com/office/drawing/2014/main" id="{DDE72A10-8D4C-9A9D-199C-E118FDF9F9B9}"/>
                </a:ext>
              </a:extLst>
            </p:cNvPr>
            <p:cNvCxnSpPr/>
            <p:nvPr/>
          </p:nvCxnSpPr>
          <p:spPr>
            <a:xfrm>
              <a:off x="3183774" y="5580942"/>
              <a:ext cx="145257" cy="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cxnSp>
          <p:nvCxnSpPr>
            <p:cNvPr id="74" name="직선 연결선 73">
              <a:extLst>
                <a:ext uri="{FF2B5EF4-FFF2-40B4-BE49-F238E27FC236}">
                  <a16:creationId xmlns:a16="http://schemas.microsoft.com/office/drawing/2014/main" id="{122A4772-46B5-8752-6663-D94E9EA81CB0}"/>
                </a:ext>
              </a:extLst>
            </p:cNvPr>
            <p:cNvCxnSpPr/>
            <p:nvPr/>
          </p:nvCxnSpPr>
          <p:spPr>
            <a:xfrm>
              <a:off x="3183774" y="5638264"/>
              <a:ext cx="145257" cy="0"/>
            </a:xfrm>
            <a:prstGeom prst="line">
              <a:avLst/>
            </a:prstGeom>
            <a:noFill/>
            <a:ln w="12700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cxnSp>
        <p:sp>
          <p:nvSpPr>
            <p:cNvPr id="75" name="Rectangle 39">
              <a:extLst>
                <a:ext uri="{FF2B5EF4-FFF2-40B4-BE49-F238E27FC236}">
                  <a16:creationId xmlns:a16="http://schemas.microsoft.com/office/drawing/2014/main" id="{E26F027D-D0A1-9B71-2C31-823EE767D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85" y="1258263"/>
              <a:ext cx="5770303" cy="601299"/>
            </a:xfrm>
            <a:prstGeom prst="round2SameRect">
              <a:avLst/>
            </a:prstGeom>
            <a:solidFill>
              <a:srgbClr val="006DFF"/>
            </a:solidFill>
            <a:ln w="12700">
              <a:solidFill>
                <a:srgbClr val="006DFF"/>
              </a:solidFill>
            </a:ln>
            <a:effectLst/>
          </p:spPr>
          <p:txBody>
            <a:bodyPr wrap="square" lIns="0" tIns="0" rIns="0" bIns="0" anchor="ctr">
              <a:noAutofit/>
              <a:scene3d>
                <a:camera prst="orthographicFront"/>
                <a:lightRig rig="threePt" dir="t"/>
              </a:scene3d>
              <a:sp3d>
                <a:bevelT w="0" h="0" prst="relaxedInset"/>
                <a:contourClr>
                  <a:schemeClr val="bg1"/>
                </a:contourClr>
              </a:sp3d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1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Agent </a:t>
              </a:r>
              <a:r>
                <a:rPr kumimoji="0" lang="ko-KR" altLang="en-US" sz="1200" b="0" i="0" u="none" strike="noStrike" kern="1200" cap="none" spc="-31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개념</a:t>
              </a:r>
            </a:p>
          </p:txBody>
        </p:sp>
        <p:sp>
          <p:nvSpPr>
            <p:cNvPr id="76" name="Rectangle 39">
              <a:extLst>
                <a:ext uri="{FF2B5EF4-FFF2-40B4-BE49-F238E27FC236}">
                  <a16:creationId xmlns:a16="http://schemas.microsoft.com/office/drawing/2014/main" id="{A94E3EAB-B8E6-2E7D-1669-A06BECECDA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69361" y="1258263"/>
              <a:ext cx="5770303" cy="601299"/>
            </a:xfrm>
            <a:prstGeom prst="round2SameRect">
              <a:avLst/>
            </a:prstGeom>
            <a:solidFill>
              <a:srgbClr val="006DFF"/>
            </a:solidFill>
            <a:ln w="12700">
              <a:solidFill>
                <a:srgbClr val="006DFF"/>
              </a:solidFill>
            </a:ln>
            <a:effectLst/>
          </p:spPr>
          <p:txBody>
            <a:bodyPr wrap="square" lIns="0" tIns="0" rIns="0" bIns="0" anchor="ctr">
              <a:noAutofit/>
              <a:scene3d>
                <a:camera prst="orthographicFront"/>
                <a:lightRig rig="threePt" dir="t"/>
              </a:scene3d>
              <a:sp3d>
                <a:bevelT w="0" h="0" prst="relaxedInset"/>
                <a:contourClr>
                  <a:schemeClr val="bg1"/>
                </a:contourClr>
              </a:sp3d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-31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Multi-Agent </a:t>
              </a:r>
              <a:r>
                <a:rPr kumimoji="0" lang="ko-KR" altLang="en-US" sz="1200" b="0" i="0" u="none" strike="noStrike" kern="1200" cap="none" spc="-31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개념</a:t>
              </a:r>
            </a:p>
          </p:txBody>
        </p:sp>
        <p:cxnSp>
          <p:nvCxnSpPr>
            <p:cNvPr id="77" name="꺾인 연결선 54">
              <a:extLst>
                <a:ext uri="{FF2B5EF4-FFF2-40B4-BE49-F238E27FC236}">
                  <a16:creationId xmlns:a16="http://schemas.microsoft.com/office/drawing/2014/main" id="{7C7E533A-E4BC-7BFD-857D-6A1D53F441DC}"/>
                </a:ext>
              </a:extLst>
            </p:cNvPr>
            <p:cNvCxnSpPr/>
            <p:nvPr/>
          </p:nvCxnSpPr>
          <p:spPr>
            <a:xfrm flipH="1" flipV="1">
              <a:off x="2086260" y="3697504"/>
              <a:ext cx="1800515" cy="528510"/>
            </a:xfrm>
            <a:prstGeom prst="bentConnector3">
              <a:avLst>
                <a:gd name="adj1" fmla="val 100533"/>
              </a:avLst>
            </a:prstGeom>
            <a:noFill/>
            <a:ln w="9525" cap="sq">
              <a:solidFill>
                <a:srgbClr val="006DFF"/>
              </a:solidFill>
              <a:prstDash val="solid"/>
              <a:round/>
              <a:headEnd type="arrow" w="sm" len="sm"/>
              <a:tailEnd type="none" w="sm" len="sm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</p:spTree>
    <p:extLst>
      <p:ext uri="{BB962C8B-B14F-4D97-AF65-F5344CB8AC3E}">
        <p14:creationId xmlns:p14="http://schemas.microsoft.com/office/powerpoint/2010/main" val="4098443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E8AF57-39C3-6616-72CC-7CB7E60C9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Agent / </a:t>
            </a:r>
            <a:r>
              <a:rPr lang="ko-KR" altLang="en-US" dirty="0"/>
              <a:t>지능 이란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C533DF-829B-541F-02D1-710840422D6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5576" y="699542"/>
            <a:ext cx="7993138" cy="466090"/>
          </a:xfrm>
        </p:spPr>
        <p:txBody>
          <a:bodyPr/>
          <a:lstStyle/>
          <a:p>
            <a:r>
              <a:rPr lang="en-US" altLang="ko-KR" dirty="0"/>
              <a:t>An AI is a computer system that performs tasks that usually require human intelligence</a:t>
            </a:r>
          </a:p>
          <a:p>
            <a:endParaRPr lang="ko-KR" altLang="en-US" dirty="0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80A1D4B8-5F72-5745-A331-3E951265AEB4}"/>
              </a:ext>
            </a:extLst>
          </p:cNvPr>
          <p:cNvGrpSpPr/>
          <p:nvPr/>
        </p:nvGrpSpPr>
        <p:grpSpPr>
          <a:xfrm>
            <a:off x="287524" y="1165632"/>
            <a:ext cx="8676964" cy="3386338"/>
            <a:chOff x="364648" y="1717461"/>
            <a:chExt cx="11924040" cy="4248376"/>
          </a:xfrm>
        </p:grpSpPr>
        <p:sp>
          <p:nvSpPr>
            <p:cNvPr id="5" name="타원 4">
              <a:extLst>
                <a:ext uri="{FF2B5EF4-FFF2-40B4-BE49-F238E27FC236}">
                  <a16:creationId xmlns:a16="http://schemas.microsoft.com/office/drawing/2014/main" id="{934251A2-29EF-4B39-15CB-826D34A5C734}"/>
                </a:ext>
              </a:extLst>
            </p:cNvPr>
            <p:cNvSpPr/>
            <p:nvPr/>
          </p:nvSpPr>
          <p:spPr>
            <a:xfrm>
              <a:off x="1180624" y="2768303"/>
              <a:ext cx="864000" cy="86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rIns="3600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LLM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57F88E7-E584-3D59-A2B5-700DC240B74D}"/>
                </a:ext>
              </a:extLst>
            </p:cNvPr>
            <p:cNvSpPr txBox="1"/>
            <p:nvPr/>
          </p:nvSpPr>
          <p:spPr>
            <a:xfrm>
              <a:off x="364648" y="4938826"/>
              <a:ext cx="2341657" cy="428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Predictive Analytics</a:t>
              </a:r>
              <a:endPara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타원 6">
              <a:extLst>
                <a:ext uri="{FF2B5EF4-FFF2-40B4-BE49-F238E27FC236}">
                  <a16:creationId xmlns:a16="http://schemas.microsoft.com/office/drawing/2014/main" id="{195516C8-5D4F-2F2F-28B3-E72F7FB57FBD}"/>
                </a:ext>
              </a:extLst>
            </p:cNvPr>
            <p:cNvSpPr/>
            <p:nvPr/>
          </p:nvSpPr>
          <p:spPr>
            <a:xfrm>
              <a:off x="2872704" y="1717461"/>
              <a:ext cx="864000" cy="86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Vision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2B2C06B-C650-6B86-C63C-E37EA0BA281D}"/>
                </a:ext>
              </a:extLst>
            </p:cNvPr>
            <p:cNvSpPr txBox="1"/>
            <p:nvPr/>
          </p:nvSpPr>
          <p:spPr>
            <a:xfrm>
              <a:off x="4557997" y="4938826"/>
              <a:ext cx="1667096" cy="42875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Optimization</a:t>
              </a:r>
              <a:endPara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429A2C3B-4F5F-EBAE-534E-9A6367553606}"/>
                </a:ext>
              </a:extLst>
            </p:cNvPr>
            <p:cNvSpPr/>
            <p:nvPr/>
          </p:nvSpPr>
          <p:spPr>
            <a:xfrm>
              <a:off x="1159892" y="4030167"/>
              <a:ext cx="864000" cy="86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ML</a:t>
              </a:r>
              <a:endParaRPr kumimoji="0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68BAE4D6-9664-61DD-48D2-597230A3682A}"/>
                </a:ext>
              </a:extLst>
            </p:cNvPr>
            <p:cNvSpPr/>
            <p:nvPr/>
          </p:nvSpPr>
          <p:spPr>
            <a:xfrm>
              <a:off x="2872704" y="5101837"/>
              <a:ext cx="864000" cy="86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Expert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system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1" name="타원 10">
              <a:extLst>
                <a:ext uri="{FF2B5EF4-FFF2-40B4-BE49-F238E27FC236}">
                  <a16:creationId xmlns:a16="http://schemas.microsoft.com/office/drawing/2014/main" id="{F7521173-45DC-67D0-D21B-21223F07D413}"/>
                </a:ext>
              </a:extLst>
            </p:cNvPr>
            <p:cNvSpPr/>
            <p:nvPr/>
          </p:nvSpPr>
          <p:spPr>
            <a:xfrm>
              <a:off x="4573450" y="4021621"/>
              <a:ext cx="864000" cy="86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Opti</a:t>
              </a: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.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0B09A57D-FFC1-697A-E4FE-B89EBF018990}"/>
                </a:ext>
              </a:extLst>
            </p:cNvPr>
            <p:cNvSpPr/>
            <p:nvPr/>
          </p:nvSpPr>
          <p:spPr>
            <a:xfrm>
              <a:off x="4573450" y="2768303"/>
              <a:ext cx="864000" cy="864000"/>
            </a:xfrm>
            <a:prstGeom prst="ellips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tx1">
                  <a:lumMod val="85000"/>
                  <a:lumOff val="1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Speech</a:t>
              </a:r>
              <a:endParaRPr kumimoji="0" lang="ko-KR" altLang="en-US" sz="105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166DCD86-55F4-667D-B5C1-65E965E077CE}"/>
                </a:ext>
              </a:extLst>
            </p:cNvPr>
            <p:cNvCxnSpPr>
              <a:stCxn id="5" idx="6"/>
            </p:cNvCxnSpPr>
            <p:nvPr/>
          </p:nvCxnSpPr>
          <p:spPr>
            <a:xfrm>
              <a:off x="2044624" y="3200303"/>
              <a:ext cx="828080" cy="37918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32B19C6C-2EF0-8756-6B72-5B19BBDFB196}"/>
                </a:ext>
              </a:extLst>
            </p:cNvPr>
            <p:cNvCxnSpPr>
              <a:endCxn id="11" idx="2"/>
            </p:cNvCxnSpPr>
            <p:nvPr/>
          </p:nvCxnSpPr>
          <p:spPr>
            <a:xfrm>
              <a:off x="3756800" y="4097759"/>
              <a:ext cx="816650" cy="355862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1098F81E-7E4D-994A-9A40-3F93A93D5DD0}"/>
                </a:ext>
              </a:extLst>
            </p:cNvPr>
            <p:cNvCxnSpPr>
              <a:stCxn id="12" idx="2"/>
            </p:cNvCxnSpPr>
            <p:nvPr/>
          </p:nvCxnSpPr>
          <p:spPr>
            <a:xfrm flipH="1">
              <a:off x="3773603" y="3200303"/>
              <a:ext cx="799847" cy="37918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9861AA32-686C-1697-FAD6-5552508AAFE3}"/>
                </a:ext>
              </a:extLst>
            </p:cNvPr>
            <p:cNvCxnSpPr>
              <a:endCxn id="9" idx="6"/>
            </p:cNvCxnSpPr>
            <p:nvPr/>
          </p:nvCxnSpPr>
          <p:spPr>
            <a:xfrm flipH="1">
              <a:off x="2023892" y="4081658"/>
              <a:ext cx="794813" cy="380509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2D3750D-E697-D8EF-0D92-BD3D78E0C22B}"/>
                </a:ext>
              </a:extLst>
            </p:cNvPr>
            <p:cNvCxnSpPr>
              <a:stCxn id="7" idx="4"/>
              <a:endCxn id="10" idx="0"/>
            </p:cNvCxnSpPr>
            <p:nvPr/>
          </p:nvCxnSpPr>
          <p:spPr>
            <a:xfrm>
              <a:off x="3304704" y="2581461"/>
              <a:ext cx="0" cy="2520376"/>
            </a:xfrm>
            <a:prstGeom prst="line">
              <a:avLst/>
            </a:prstGeom>
            <a:ln>
              <a:solidFill>
                <a:schemeClr val="tx1">
                  <a:lumMod val="75000"/>
                  <a:lumOff val="2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614B7805-EF2F-D9F9-8695-60D325B87D8A}"/>
                </a:ext>
              </a:extLst>
            </p:cNvPr>
            <p:cNvSpPr/>
            <p:nvPr/>
          </p:nvSpPr>
          <p:spPr>
            <a:xfrm>
              <a:off x="2764351" y="3280479"/>
              <a:ext cx="1080000" cy="1080000"/>
            </a:xfrm>
            <a:prstGeom prst="ellipse">
              <a:avLst/>
            </a:prstGeom>
            <a:solidFill>
              <a:schemeClr val="tx1">
                <a:lumMod val="75000"/>
                <a:lumOff val="25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지식</a:t>
              </a: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지능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257C8A0-51BD-BC65-E138-E0D14D9F7B08}"/>
                </a:ext>
              </a:extLst>
            </p:cNvPr>
            <p:cNvSpPr txBox="1"/>
            <p:nvPr/>
          </p:nvSpPr>
          <p:spPr>
            <a:xfrm>
              <a:off x="6648272" y="1717461"/>
              <a:ext cx="5640416" cy="372776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지식지능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</a:t>
              </a: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비즈니스에 활용되어온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ML, DL, Optimization 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등 모든 컴퓨터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/Machine</a:t>
              </a:r>
              <a:r>
                <a:rPr kumimoji="0" lang="ko-KR" alt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활용 </a:t>
              </a:r>
              <a:r>
                <a:rPr kumimoji="0" lang="en-US" altLang="ko-KR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task</a:t>
              </a: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(</a:t>
              </a:r>
              <a:r>
                <a:rPr kumimoji="0" lang="ko-KR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활용 예</a:t>
              </a:r>
              <a: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)</a:t>
              </a:r>
              <a:br>
                <a:rPr kumimoji="0" lang="en-US" altLang="ko-KR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- </a:t>
              </a:r>
              <a:r>
                <a:rPr kumimoji="0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생성형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AI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를 활용한 사내 시스템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정책 안내 서비스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- </a:t>
              </a:r>
              <a:r>
                <a:rPr kumimoji="0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딥러닝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기반 이미지 데이터 분류 모델 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품질 검수 등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- </a:t>
              </a:r>
              <a:r>
                <a:rPr kumimoji="0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머신러닝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기반 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Time-series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예측 모델 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sell out/in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예측 등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- </a:t>
              </a:r>
              <a:r>
                <a:rPr kumimoji="0" lang="ko-KR" alt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센서데이터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기반 설비 예지 보전 모델 등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- SNS </a:t>
              </a:r>
              <a:r>
                <a:rPr kumimoji="0" lang="ko-KR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데이터 기반 제품 고객 반응 판별 모델 등</a:t>
              </a:r>
              <a:endPara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3361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FB0C2-3A4C-0239-0E68-FB67DEFD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Multi-Agent </a:t>
            </a:r>
            <a:r>
              <a:rPr lang="ko-KR" altLang="en-US" dirty="0"/>
              <a:t>발전방향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2F3FEAF-BF92-FDBD-85A5-5AADBD61982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379E886-7A5F-5F22-D431-FC20EAF38834}"/>
              </a:ext>
            </a:extLst>
          </p:cNvPr>
          <p:cNvSpPr>
            <a:spLocks noGrp="1"/>
          </p:cNvSpPr>
          <p:nvPr>
            <p:ph idx="12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CBB65898-E37D-C0D7-A1D0-EDC693EAA228}"/>
              </a:ext>
            </a:extLst>
          </p:cNvPr>
          <p:cNvGrpSpPr/>
          <p:nvPr/>
        </p:nvGrpSpPr>
        <p:grpSpPr>
          <a:xfrm>
            <a:off x="359532" y="695675"/>
            <a:ext cx="8426125" cy="4233534"/>
            <a:chOff x="264510" y="1445097"/>
            <a:chExt cx="11662979" cy="4955704"/>
          </a:xfrm>
        </p:grpSpPr>
        <p:sp>
          <p:nvSpPr>
            <p:cNvPr id="5" name="모서리가 둥근 직사각형 125">
              <a:extLst>
                <a:ext uri="{FF2B5EF4-FFF2-40B4-BE49-F238E27FC236}">
                  <a16:creationId xmlns:a16="http://schemas.microsoft.com/office/drawing/2014/main" id="{F010DAEC-AE08-EABF-B964-9FD84DF0CA8F}"/>
                </a:ext>
              </a:extLst>
            </p:cNvPr>
            <p:cNvSpPr/>
            <p:nvPr/>
          </p:nvSpPr>
          <p:spPr>
            <a:xfrm>
              <a:off x="288859" y="1488477"/>
              <a:ext cx="5745955" cy="4912324"/>
            </a:xfrm>
            <a:prstGeom prst="roundRect">
              <a:avLst>
                <a:gd name="adj" fmla="val 377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모서리가 둥근 직사각형 125">
              <a:extLst>
                <a:ext uri="{FF2B5EF4-FFF2-40B4-BE49-F238E27FC236}">
                  <a16:creationId xmlns:a16="http://schemas.microsoft.com/office/drawing/2014/main" id="{B901D327-D22C-6CAD-EC87-E109FBED5A4D}"/>
                </a:ext>
              </a:extLst>
            </p:cNvPr>
            <p:cNvSpPr/>
            <p:nvPr/>
          </p:nvSpPr>
          <p:spPr>
            <a:xfrm>
              <a:off x="6157186" y="1488477"/>
              <a:ext cx="5745955" cy="4912324"/>
            </a:xfrm>
            <a:prstGeom prst="roundRect">
              <a:avLst>
                <a:gd name="adj" fmla="val 3777"/>
              </a:avLst>
            </a:prstGeom>
            <a:solidFill>
              <a:schemeClr val="bg1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079F30A-C7DD-20E2-808B-1CA42C95EC98}"/>
                </a:ext>
              </a:extLst>
            </p:cNvPr>
            <p:cNvSpPr txBox="1"/>
            <p:nvPr/>
          </p:nvSpPr>
          <p:spPr>
            <a:xfrm>
              <a:off x="6352676" y="2176199"/>
              <a:ext cx="5523676" cy="10658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- Agent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의 답변 성능 평가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,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높은 성능의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Agent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는 아카이브 저장</a:t>
              </a:r>
              <a:endParaRPr kumimoji="0" lang="en-US" altLang="ko-KR" sz="105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- Meta Agent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는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아카이브에 구성된 높은 성능의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Agent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를 </a:t>
              </a:r>
              <a:b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활용하여 신규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Agent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구성</a:t>
              </a:r>
              <a:endParaRPr kumimoji="0" lang="en-US" altLang="ko-KR" sz="105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-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높은 성능의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Agent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들을 이용해서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Use case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에 적합한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Multi Agent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구성</a:t>
              </a:r>
              <a:endParaRPr kumimoji="0" lang="en-US" altLang="ko-KR" sz="105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402ED70-15FD-C65F-6F00-7B5A425CCD42}"/>
                </a:ext>
              </a:extLst>
            </p:cNvPr>
            <p:cNvSpPr txBox="1"/>
            <p:nvPr/>
          </p:nvSpPr>
          <p:spPr>
            <a:xfrm>
              <a:off x="443866" y="2168786"/>
              <a:ext cx="5482956" cy="62748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-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다양한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In/Output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을 지원하는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Multi Agent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확보</a:t>
              </a:r>
              <a:endParaRPr kumimoji="0" lang="en-US" altLang="ko-KR" sz="105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- Multi Modal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을 지원하는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Agent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확보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및 해당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Agent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를</a:t>
              </a:r>
              <a:b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</a:b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 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구성원으로 하는 </a:t>
              </a:r>
              <a:r>
                <a:rPr kumimoji="0" lang="en-US" altLang="ko-KR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Team </a:t>
              </a:r>
              <a:r>
                <a:rPr kumimoji="0" lang="ko-KR" altLang="en-US" sz="1050" b="0" i="0" u="none" strike="noStrike" kern="1200" cap="none" spc="0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Arial" panose="020B0604020202020204" pitchFamily="34" charset="0"/>
                </a:rPr>
                <a:t>생성</a:t>
              </a:r>
              <a:endParaRPr kumimoji="0" lang="en-US" altLang="ko-KR" sz="1050" b="0" i="0" u="none" strike="noStrike" kern="1200" cap="none" spc="0" normalizeH="0" baseline="0" noProof="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Arial" panose="020B0604020202020204" pitchFamily="34" charset="0"/>
              </a:endParaRPr>
            </a:p>
          </p:txBody>
        </p:sp>
        <p:sp>
          <p:nvSpPr>
            <p:cNvPr id="9" name="Rectangle 39">
              <a:extLst>
                <a:ext uri="{FF2B5EF4-FFF2-40B4-BE49-F238E27FC236}">
                  <a16:creationId xmlns:a16="http://schemas.microsoft.com/office/drawing/2014/main" id="{A992D06F-E243-772E-7C76-163730E82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4510" y="1445097"/>
              <a:ext cx="5770303" cy="601299"/>
            </a:xfrm>
            <a:prstGeom prst="round2SameRect">
              <a:avLst/>
            </a:prstGeom>
            <a:solidFill>
              <a:srgbClr val="006DFF"/>
            </a:solidFill>
            <a:ln w="12700">
              <a:solidFill>
                <a:srgbClr val="006DFF"/>
              </a:solidFill>
            </a:ln>
            <a:effectLst/>
          </p:spPr>
          <p:txBody>
            <a:bodyPr wrap="square" lIns="0" tIns="0" rIns="0" bIns="0" anchor="ctr">
              <a:noAutofit/>
              <a:scene3d>
                <a:camera prst="orthographicFront"/>
                <a:lightRig rig="threePt" dir="t"/>
              </a:scene3d>
              <a:sp3d>
                <a:bevelT w="0" h="0" prst="relaxedInset"/>
                <a:contourClr>
                  <a:schemeClr val="bg1"/>
                </a:contourClr>
              </a:sp3d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-31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Multi Modal Agent </a:t>
              </a:r>
              <a:r>
                <a:rPr kumimoji="0" lang="ko-KR" altLang="en-US" sz="1400" b="0" i="0" u="none" strike="noStrike" kern="1200" cap="none" spc="-31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지원</a:t>
              </a:r>
            </a:p>
          </p:txBody>
        </p:sp>
        <p:sp>
          <p:nvSpPr>
            <p:cNvPr id="10" name="Rectangle 39">
              <a:extLst>
                <a:ext uri="{FF2B5EF4-FFF2-40B4-BE49-F238E27FC236}">
                  <a16:creationId xmlns:a16="http://schemas.microsoft.com/office/drawing/2014/main" id="{84B3DDDF-3851-8EC6-8B5F-BA76C16461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7186" y="1445097"/>
              <a:ext cx="5770303" cy="601299"/>
            </a:xfrm>
            <a:prstGeom prst="round2SameRect">
              <a:avLst/>
            </a:prstGeom>
            <a:solidFill>
              <a:srgbClr val="006DFF"/>
            </a:solidFill>
            <a:ln w="12700">
              <a:solidFill>
                <a:srgbClr val="006DFF"/>
              </a:solidFill>
            </a:ln>
            <a:effectLst/>
          </p:spPr>
          <p:txBody>
            <a:bodyPr wrap="square" lIns="0" tIns="0" rIns="0" bIns="0" anchor="ctr">
              <a:noAutofit/>
              <a:scene3d>
                <a:camera prst="orthographicFront"/>
                <a:lightRig rig="threePt" dir="t"/>
              </a:scene3d>
              <a:sp3d>
                <a:bevelT w="0" h="0" prst="relaxedInset"/>
                <a:contourClr>
                  <a:schemeClr val="bg1"/>
                </a:contourClr>
              </a:sp3d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-31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Agent </a:t>
              </a:r>
              <a:r>
                <a:rPr kumimoji="0" lang="ko-KR" altLang="en-US" sz="1400" b="0" i="0" u="none" strike="noStrike" kern="1200" cap="none" spc="-31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성능 평가 및 </a:t>
              </a:r>
              <a:r>
                <a:rPr kumimoji="0" lang="en-US" altLang="ko-KR" sz="1400" b="0" i="0" u="none" strike="noStrike" kern="1200" cap="none" spc="-31" normalizeH="0" baseline="0" noProof="0" dirty="0">
                  <a:ln>
                    <a:solidFill>
                      <a:prstClr val="white">
                        <a:alpha val="0"/>
                      </a:prst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Meta Agent Search</a:t>
              </a:r>
            </a:p>
          </p:txBody>
        </p:sp>
        <p:pic>
          <p:nvPicPr>
            <p:cNvPr id="11" name="Picture 2" descr="https://miro.medium.com/v2/resize:fit:700/1*3BOA4YzwA_isEO99oFC5Zg.png">
              <a:extLst>
                <a:ext uri="{FF2B5EF4-FFF2-40B4-BE49-F238E27FC236}">
                  <a16:creationId xmlns:a16="http://schemas.microsoft.com/office/drawing/2014/main" id="{7089D4EC-01ED-9A53-9318-22719F822A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7618" y="3524724"/>
              <a:ext cx="4125090" cy="23159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F9F17A80-696C-E6B8-83AB-132E8F15E5D5}"/>
                </a:ext>
              </a:extLst>
            </p:cNvPr>
            <p:cNvSpPr/>
            <p:nvPr/>
          </p:nvSpPr>
          <p:spPr>
            <a:xfrm>
              <a:off x="6352675" y="5926660"/>
              <a:ext cx="5379323" cy="3242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https://medium.com/@techsachin/meta-agent-search-automated-system-design-creation-for-llm-based-agentic-systems-a5e2de9f3f46</a:t>
              </a:r>
            </a:p>
          </p:txBody>
        </p:sp>
        <p:pic>
          <p:nvPicPr>
            <p:cNvPr id="13" name="Picture 4" descr="https://d2908q01vomqb2.cloudfront.net/f1f836cb4ea6efb2a0b1b99f41ad8b103eff4b59/2023/09/08/image005.jpg">
              <a:extLst>
                <a:ext uri="{FF2B5EF4-FFF2-40B4-BE49-F238E27FC236}">
                  <a16:creationId xmlns:a16="http://schemas.microsoft.com/office/drawing/2014/main" id="{183C006E-388F-3032-07EB-A65B3AEF7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1554" y="3291014"/>
              <a:ext cx="4592205" cy="25852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542D70F2-CA14-227E-A624-94A1F9CB1975}"/>
                </a:ext>
              </a:extLst>
            </p:cNvPr>
            <p:cNvSpPr/>
            <p:nvPr/>
          </p:nvSpPr>
          <p:spPr>
            <a:xfrm>
              <a:off x="471440" y="5949201"/>
              <a:ext cx="5482956" cy="3242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6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https://aws.amazon.com/ko/blogs/machine-learning/generative-ai-and-multi-modal-agents-in-aws-the-key-to-unlocking-new-value-in-financial-markets/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707555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F8C8D3-EF64-F7C5-91BB-60E10AE72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Autogen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53F9B5-2EC3-FC81-8529-6C4C22945862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755576" y="699542"/>
            <a:ext cx="7993138" cy="223716"/>
          </a:xfrm>
        </p:spPr>
        <p:txBody>
          <a:bodyPr/>
          <a:lstStyle/>
          <a:p>
            <a:r>
              <a:rPr lang="en-US" altLang="ko-KR" dirty="0" err="1"/>
              <a:t>AutoGen</a:t>
            </a:r>
            <a:r>
              <a:rPr lang="en-US" altLang="ko-KR" dirty="0"/>
              <a:t>: Enabling Next-Gen LLM Applications via Multi-Agent Conversation </a:t>
            </a:r>
          </a:p>
        </p:txBody>
      </p:sp>
      <p:grpSp>
        <p:nvGrpSpPr>
          <p:cNvPr id="9" name="그룹 8">
            <a:extLst>
              <a:ext uri="{FF2B5EF4-FFF2-40B4-BE49-F238E27FC236}">
                <a16:creationId xmlns:a16="http://schemas.microsoft.com/office/drawing/2014/main" id="{2F913C92-361E-0DB7-3A1D-0F2212683A5D}"/>
              </a:ext>
            </a:extLst>
          </p:cNvPr>
          <p:cNvGrpSpPr/>
          <p:nvPr/>
        </p:nvGrpSpPr>
        <p:grpSpPr>
          <a:xfrm>
            <a:off x="251520" y="1131510"/>
            <a:ext cx="8712968" cy="3640170"/>
            <a:chOff x="287016" y="1268436"/>
            <a:chExt cx="12654915" cy="523948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1587E7F-A962-6F0A-6196-0B74CCF6C79A}"/>
                </a:ext>
              </a:extLst>
            </p:cNvPr>
            <p:cNvSpPr txBox="1"/>
            <p:nvPr/>
          </p:nvSpPr>
          <p:spPr>
            <a:xfrm>
              <a:off x="6816080" y="1447616"/>
              <a:ext cx="6125851" cy="106319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AutoGen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- ‘23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년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10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월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오픈소스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library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와 논문 발표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, Microsoft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E2B050B-269A-951B-9F07-29EC5CD90517}"/>
                </a:ext>
              </a:extLst>
            </p:cNvPr>
            <p:cNvSpPr txBox="1"/>
            <p:nvPr/>
          </p:nvSpPr>
          <p:spPr>
            <a:xfrm>
              <a:off x="6960095" y="2636912"/>
              <a:ext cx="5668439" cy="28351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Multi-Agent 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기반 </a:t>
              </a:r>
              <a:r>
                <a:rPr kumimoji="0" lang="en-US" altLang="ko-KR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Bot </a:t>
              </a:r>
              <a:r>
                <a:rPr kumimoji="0" lang="ko-KR" altLang="en-US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대화로 문제해결</a:t>
              </a:r>
              <a:endPara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-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수학문제 해결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- Q&amp;A Task</a:t>
              </a: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- </a:t>
              </a: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ALFWorld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- </a:t>
              </a:r>
              <a:r>
                <a:rPr kumimoji="0" lang="en-US" altLang="ko-KR" sz="12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OptiGuide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 </a:t>
              </a: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b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</a:b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분야에서 </a:t>
              </a:r>
              <a:r>
                <a:rPr kumimoji="0" lang="en-US" altLang="ko-KR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GPT4(w/ plugin, Code interpreter) 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보다 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높은 성능결과 발표</a:t>
              </a:r>
              <a:endParaRPr kumimoji="0" lang="en-US" altLang="ko-KR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ABDD183-9C56-F85C-FD91-73BD6310E3D6}"/>
                </a:ext>
              </a:extLst>
            </p:cNvPr>
            <p:cNvSpPr txBox="1"/>
            <p:nvPr/>
          </p:nvSpPr>
          <p:spPr>
            <a:xfrm>
              <a:off x="6965481" y="5013176"/>
              <a:ext cx="5663054" cy="6201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074738" marR="0" lvl="0" indent="-1074738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※ </a:t>
              </a:r>
              <a:r>
                <a:rPr kumimoji="0" lang="en-US" altLang="ko-KR" sz="1100" b="0" i="0" u="none" strike="noStrike" kern="1200" cap="none" spc="0" normalizeH="0" baseline="0" noProof="0" dirty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ALFWorld</a:t>
              </a:r>
              <a:r>
                <a:rPr kumimoji="0" lang="en-US" altLang="ko-KR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: a synthetic language-based interactive decision-making task (Benchmark)</a:t>
              </a:r>
              <a:endPara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endParaRP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981CA4F5-87F7-E96A-0ACF-3F68ACCD949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7016" y="1268436"/>
              <a:ext cx="6411220" cy="523948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809334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2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840802" y="2044936"/>
            <a:ext cx="3465500" cy="928909"/>
          </a:xfrm>
          <a:prstGeom prst="rect">
            <a:avLst/>
          </a:prstGeom>
          <a:noFill/>
        </p:spPr>
        <p:txBody>
          <a:bodyPr wrap="none" rtlCol="0" anchor="t" anchorCtr="0">
            <a:spAutoFit/>
          </a:bodyPr>
          <a:lstStyle/>
          <a:p>
            <a:pPr algn="ctr" defTabSz="684552">
              <a:lnSpc>
                <a:spcPct val="110000"/>
              </a:lnSpc>
              <a:spcAft>
                <a:spcPts val="1125"/>
              </a:spcAft>
              <a:defRPr/>
            </a:pPr>
            <a:r>
              <a:rPr lang="en-US" altLang="ko-KR" sz="5400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prstClr val="white"/>
                </a:solidFill>
                <a:effectLst>
                  <a:reflection blurRad="6350" stA="17000" endPos="28000" dist="6350" dir="5400000" sy="-100000" algn="bl" rotWithShape="0"/>
                </a:effectLst>
                <a:latin typeface="나눔스퀘어 ExtraBold" panose="020B0600000101010101" pitchFamily="50" charset="-127"/>
                <a:ea typeface="나눔스퀘어 ExtraBold" panose="020B0600000101010101" pitchFamily="50" charset="-12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162147062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12148</TotalTime>
  <Words>1783</Words>
  <Application>Microsoft Office PowerPoint</Application>
  <PresentationFormat>화면 슬라이드 쇼(16:9)</PresentationFormat>
  <Paragraphs>351</Paragraphs>
  <Slides>24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24</vt:i4>
      </vt:variant>
    </vt:vector>
  </HeadingPairs>
  <TitlesOfParts>
    <vt:vector size="40" baseType="lpstr">
      <vt:lpstr>Arial Unicode MS</vt:lpstr>
      <vt:lpstr>KoPub돋움체 Bold</vt:lpstr>
      <vt:lpstr>SamsungOneKorean 400</vt:lpstr>
      <vt:lpstr>SamsungOneKorean 700</vt:lpstr>
      <vt:lpstr>나눔스퀘어</vt:lpstr>
      <vt:lpstr>나눔스퀘어 Bold</vt:lpstr>
      <vt:lpstr>나눔스퀘어 ExtraBold</vt:lpstr>
      <vt:lpstr>맑은 고딕</vt:lpstr>
      <vt:lpstr>Arial</vt:lpstr>
      <vt:lpstr>Bauhaus 93</vt:lpstr>
      <vt:lpstr>Calibri</vt:lpstr>
      <vt:lpstr>Segoe UI</vt:lpstr>
      <vt:lpstr>Times New Roman</vt:lpstr>
      <vt:lpstr>Wingdings</vt:lpstr>
      <vt:lpstr>4_Office 테마</vt:lpstr>
      <vt:lpstr>5_Office 테마</vt:lpstr>
      <vt:lpstr>PowerPoint 프레젠테이션</vt:lpstr>
      <vt:lpstr>실습환경 docker 설치</vt:lpstr>
      <vt:lpstr>Setup a Python Environment for something</vt:lpstr>
      <vt:lpstr>실습환경 vllm</vt:lpstr>
      <vt:lpstr>실습환경 vllm</vt:lpstr>
      <vt:lpstr>PowerPoint 프레젠테이션</vt:lpstr>
      <vt:lpstr>Tuning</vt:lpstr>
      <vt:lpstr>Fine Tuning</vt:lpstr>
      <vt:lpstr>다양한 PEFT 기법</vt:lpstr>
      <vt:lpstr>Prompt-Tuning</vt:lpstr>
      <vt:lpstr>reparameterization</vt:lpstr>
      <vt:lpstr>LoRA (Low-Rank Adaptation) </vt:lpstr>
      <vt:lpstr>PEFT 효과 및 장점</vt:lpstr>
      <vt:lpstr>PEFT 사용케이스 </vt:lpstr>
      <vt:lpstr>Inference Serving 이슈</vt:lpstr>
      <vt:lpstr>실습환경 vllm</vt:lpstr>
      <vt:lpstr>LoRA (Low-Rank Adaptation) </vt:lpstr>
      <vt:lpstr>PowerPoint 프레젠테이션</vt:lpstr>
      <vt:lpstr>기업에서의 Multi-Agent</vt:lpstr>
      <vt:lpstr>Agent vs Multi-Agent</vt:lpstr>
      <vt:lpstr>Agent / 지능 이란</vt:lpstr>
      <vt:lpstr>Multi-Agent 발전방향</vt:lpstr>
      <vt:lpstr>Autogen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SDS</dc:creator>
  <cp:lastModifiedBy>freenak@gmail.com</cp:lastModifiedBy>
  <cp:revision>179</cp:revision>
  <cp:lastPrinted>2018-01-15T00:07:17Z</cp:lastPrinted>
  <dcterms:created xsi:type="dcterms:W3CDTF">2018-01-14T23:22:16Z</dcterms:created>
  <dcterms:modified xsi:type="dcterms:W3CDTF">2025-04-19T03:06:05Z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FLCMData">
    <vt:lpwstr>879BAE1E853B17513E3AD7133549D60CDC7F447EFEFF353D36030F5A626F43A91F78586C5C79A84BD584368DDBDE1520CB0AE12E5D4FFDA9FB39A3993042811F</vt:lpwstr>
  </property>
  <property fmtid="{5C58129F-E5B8-477A-9B38-B3E54BFA04C8}" pid="2">
    <vt:lpwstr>41F6058CE601D4D469E30BAD0688911E97A987A8E6412C0976FD1E9BC939D1FA</vt:lpwstr>
  </property>
</Properties>
</file>